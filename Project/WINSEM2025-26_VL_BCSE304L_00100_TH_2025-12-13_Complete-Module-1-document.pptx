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6"/>
  </p:notesMasterIdLst>
  <p:sldIdLst>
    <p:sldId id="256" r:id="rId2"/>
    <p:sldId id="311" r:id="rId3"/>
    <p:sldId id="274" r:id="rId4"/>
    <p:sldId id="272" r:id="rId5"/>
    <p:sldId id="273" r:id="rId6"/>
    <p:sldId id="275" r:id="rId7"/>
    <p:sldId id="278" r:id="rId8"/>
    <p:sldId id="279" r:id="rId9"/>
    <p:sldId id="312" r:id="rId10"/>
    <p:sldId id="313" r:id="rId11"/>
    <p:sldId id="314" r:id="rId12"/>
    <p:sldId id="315" r:id="rId13"/>
    <p:sldId id="316" r:id="rId14"/>
    <p:sldId id="309" r:id="rId15"/>
    <p:sldId id="310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17" r:id="rId29"/>
    <p:sldId id="447" r:id="rId30"/>
    <p:sldId id="318" r:id="rId31"/>
    <p:sldId id="319" r:id="rId32"/>
    <p:sldId id="320" r:id="rId33"/>
    <p:sldId id="321" r:id="rId34"/>
    <p:sldId id="322" r:id="rId35"/>
    <p:sldId id="349" r:id="rId36"/>
    <p:sldId id="350" r:id="rId37"/>
    <p:sldId id="351" r:id="rId38"/>
    <p:sldId id="352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67" r:id="rId47"/>
    <p:sldId id="380" r:id="rId48"/>
    <p:sldId id="381" r:id="rId49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340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78" r:id="rId65"/>
    <p:sldId id="379" r:id="rId66"/>
    <p:sldId id="348" r:id="rId67"/>
    <p:sldId id="368" r:id="rId68"/>
    <p:sldId id="369" r:id="rId69"/>
    <p:sldId id="370" r:id="rId70"/>
    <p:sldId id="446" r:id="rId71"/>
    <p:sldId id="257" r:id="rId72"/>
    <p:sldId id="258" r:id="rId73"/>
    <p:sldId id="259" r:id="rId74"/>
    <p:sldId id="260" r:id="rId75"/>
    <p:sldId id="261" r:id="rId76"/>
    <p:sldId id="448" r:id="rId77"/>
    <p:sldId id="449" r:id="rId78"/>
    <p:sldId id="450" r:id="rId79"/>
    <p:sldId id="264" r:id="rId80"/>
    <p:sldId id="265" r:id="rId81"/>
    <p:sldId id="288" r:id="rId82"/>
    <p:sldId id="289" r:id="rId83"/>
    <p:sldId id="284" r:id="rId84"/>
    <p:sldId id="285" r:id="rId85"/>
    <p:sldId id="286" r:id="rId86"/>
    <p:sldId id="287" r:id="rId87"/>
    <p:sldId id="290" r:id="rId88"/>
    <p:sldId id="291" r:id="rId89"/>
    <p:sldId id="292" r:id="rId90"/>
    <p:sldId id="293" r:id="rId91"/>
    <p:sldId id="295" r:id="rId92"/>
    <p:sldId id="296" r:id="rId93"/>
    <p:sldId id="294" r:id="rId94"/>
    <p:sldId id="440" r:id="rId95"/>
    <p:sldId id="441" r:id="rId96"/>
    <p:sldId id="442" r:id="rId97"/>
    <p:sldId id="443" r:id="rId98"/>
    <p:sldId id="262" r:id="rId99"/>
    <p:sldId id="280" r:id="rId100"/>
    <p:sldId id="281" r:id="rId101"/>
    <p:sldId id="283" r:id="rId102"/>
    <p:sldId id="282" r:id="rId103"/>
    <p:sldId id="266" r:id="rId104"/>
    <p:sldId id="387" r:id="rId105"/>
    <p:sldId id="388" r:id="rId106"/>
    <p:sldId id="389" r:id="rId107"/>
    <p:sldId id="390" r:id="rId108"/>
    <p:sldId id="391" r:id="rId109"/>
    <p:sldId id="392" r:id="rId110"/>
    <p:sldId id="393" r:id="rId111"/>
    <p:sldId id="444" r:id="rId112"/>
    <p:sldId id="396" r:id="rId113"/>
    <p:sldId id="399" r:id="rId114"/>
    <p:sldId id="400" r:id="rId115"/>
    <p:sldId id="401" r:id="rId116"/>
    <p:sldId id="402" r:id="rId117"/>
    <p:sldId id="403" r:id="rId118"/>
    <p:sldId id="404" r:id="rId119"/>
    <p:sldId id="405" r:id="rId120"/>
    <p:sldId id="406" r:id="rId121"/>
    <p:sldId id="407" r:id="rId122"/>
    <p:sldId id="408" r:id="rId123"/>
    <p:sldId id="410" r:id="rId124"/>
    <p:sldId id="411" r:id="rId125"/>
    <p:sldId id="412" r:id="rId126"/>
    <p:sldId id="414" r:id="rId127"/>
    <p:sldId id="445" r:id="rId128"/>
    <p:sldId id="416" r:id="rId129"/>
    <p:sldId id="417" r:id="rId130"/>
    <p:sldId id="418" r:id="rId131"/>
    <p:sldId id="419" r:id="rId132"/>
    <p:sldId id="420" r:id="rId133"/>
    <p:sldId id="421" r:id="rId134"/>
    <p:sldId id="422" r:id="rId135"/>
    <p:sldId id="423" r:id="rId136"/>
    <p:sldId id="424" r:id="rId137"/>
    <p:sldId id="425" r:id="rId138"/>
    <p:sldId id="426" r:id="rId139"/>
    <p:sldId id="428" r:id="rId140"/>
    <p:sldId id="429" r:id="rId141"/>
    <p:sldId id="430" r:id="rId142"/>
    <p:sldId id="431" r:id="rId143"/>
    <p:sldId id="432" r:id="rId144"/>
    <p:sldId id="433" r:id="rId145"/>
    <p:sldId id="434" r:id="rId146"/>
    <p:sldId id="435" r:id="rId147"/>
    <p:sldId id="436" r:id="rId148"/>
    <p:sldId id="437" r:id="rId149"/>
    <p:sldId id="438" r:id="rId150"/>
    <p:sldId id="439" r:id="rId151"/>
    <p:sldId id="267" r:id="rId152"/>
    <p:sldId id="268" r:id="rId153"/>
    <p:sldId id="269" r:id="rId154"/>
    <p:sldId id="270" r:id="rId1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7269CE-5425-483C-A0E1-5B829B41BE1F}" v="16" dt="2025-12-11T05:04:47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ja bhattacharya" userId="724ec4db8bc51beb" providerId="LiveId" clId="{10159404-DE1B-4E92-BD9B-8AE638DDD844}"/>
    <pc:docChg chg="undo custSel addSld delSld modSld">
      <pc:chgData name="adrija bhattacharya" userId="724ec4db8bc51beb" providerId="LiveId" clId="{10159404-DE1B-4E92-BD9B-8AE638DDD844}" dt="2025-12-12T00:26:48.976" v="236" actId="14100"/>
      <pc:docMkLst>
        <pc:docMk/>
      </pc:docMkLst>
      <pc:sldChg chg="modSp mod">
        <pc:chgData name="adrija bhattacharya" userId="724ec4db8bc51beb" providerId="LiveId" clId="{10159404-DE1B-4E92-BD9B-8AE638DDD844}" dt="2025-12-11T05:11:14.410" v="193" actId="207"/>
        <pc:sldMkLst>
          <pc:docMk/>
          <pc:sldMk cId="0" sldId="257"/>
        </pc:sldMkLst>
        <pc:spChg chg="mod">
          <ac:chgData name="adrija bhattacharya" userId="724ec4db8bc51beb" providerId="LiveId" clId="{10159404-DE1B-4E92-BD9B-8AE638DDD844}" dt="2025-12-11T05:11:14.410" v="193" actId="207"/>
          <ac:spMkLst>
            <pc:docMk/>
            <pc:sldMk cId="0" sldId="257"/>
            <ac:spMk id="14339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18.703" v="194" actId="207"/>
        <pc:sldMkLst>
          <pc:docMk/>
          <pc:sldMk cId="0" sldId="258"/>
        </pc:sldMkLst>
        <pc:spChg chg="mod">
          <ac:chgData name="adrija bhattacharya" userId="724ec4db8bc51beb" providerId="LiveId" clId="{10159404-DE1B-4E92-BD9B-8AE638DDD844}" dt="2025-12-11T05:11:18.703" v="194" actId="207"/>
          <ac:spMkLst>
            <pc:docMk/>
            <pc:sldMk cId="0" sldId="258"/>
            <ac:spMk id="15363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22.152" v="195" actId="207"/>
        <pc:sldMkLst>
          <pc:docMk/>
          <pc:sldMk cId="0" sldId="259"/>
        </pc:sldMkLst>
        <pc:spChg chg="mod">
          <ac:chgData name="adrija bhattacharya" userId="724ec4db8bc51beb" providerId="LiveId" clId="{10159404-DE1B-4E92-BD9B-8AE638DDD844}" dt="2025-12-11T05:11:22.152" v="195" actId="207"/>
          <ac:spMkLst>
            <pc:docMk/>
            <pc:sldMk cId="0" sldId="259"/>
            <ac:spMk id="16387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25.198" v="196" actId="207"/>
        <pc:sldMkLst>
          <pc:docMk/>
          <pc:sldMk cId="0" sldId="260"/>
        </pc:sldMkLst>
        <pc:spChg chg="mod">
          <ac:chgData name="adrija bhattacharya" userId="724ec4db8bc51beb" providerId="LiveId" clId="{10159404-DE1B-4E92-BD9B-8AE638DDD844}" dt="2025-12-11T05:11:25.198" v="196" actId="207"/>
          <ac:spMkLst>
            <pc:docMk/>
            <pc:sldMk cId="0" sldId="260"/>
            <ac:spMk id="17411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28.340" v="197" actId="207"/>
        <pc:sldMkLst>
          <pc:docMk/>
          <pc:sldMk cId="0" sldId="261"/>
        </pc:sldMkLst>
        <pc:spChg chg="mod">
          <ac:chgData name="adrija bhattacharya" userId="724ec4db8bc51beb" providerId="LiveId" clId="{10159404-DE1B-4E92-BD9B-8AE638DDD844}" dt="2025-12-11T05:11:28.340" v="197" actId="207"/>
          <ac:spMkLst>
            <pc:docMk/>
            <pc:sldMk cId="0" sldId="261"/>
            <ac:spMk id="18435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54.556" v="220" actId="113"/>
        <pc:sldMkLst>
          <pc:docMk/>
          <pc:sldMk cId="0" sldId="262"/>
        </pc:sldMkLst>
        <pc:spChg chg="mod">
          <ac:chgData name="adrija bhattacharya" userId="724ec4db8bc51beb" providerId="LiveId" clId="{10159404-DE1B-4E92-BD9B-8AE638DDD844}" dt="2025-12-11T05:12:54.556" v="220" actId="113"/>
          <ac:spMkLst>
            <pc:docMk/>
            <pc:sldMk cId="0" sldId="262"/>
            <ac:spMk id="19459" creationId="{00000000-0000-0000-0000-000000000000}"/>
          </ac:spMkLst>
        </pc:spChg>
      </pc:sldChg>
      <pc:sldChg chg="addSp modSp add mod">
        <pc:chgData name="adrija bhattacharya" userId="724ec4db8bc51beb" providerId="LiveId" clId="{10159404-DE1B-4E92-BD9B-8AE638DDD844}" dt="2025-12-11T05:10:00.243" v="180" actId="1076"/>
        <pc:sldMkLst>
          <pc:docMk/>
          <pc:sldMk cId="2408755336" sldId="264"/>
        </pc:sldMkLst>
        <pc:spChg chg="mod">
          <ac:chgData name="adrija bhattacharya" userId="724ec4db8bc51beb" providerId="LiveId" clId="{10159404-DE1B-4E92-BD9B-8AE638DDD844}" dt="2025-12-11T05:09:42.610" v="174" actId="21"/>
          <ac:spMkLst>
            <pc:docMk/>
            <pc:sldMk cId="2408755336" sldId="264"/>
            <ac:spMk id="3" creationId="{5F7A485A-BFD8-DDB1-E889-86DB8B1E2A1B}"/>
          </ac:spMkLst>
        </pc:spChg>
        <pc:spChg chg="add mod">
          <ac:chgData name="adrija bhattacharya" userId="724ec4db8bc51beb" providerId="LiveId" clId="{10159404-DE1B-4E92-BD9B-8AE638DDD844}" dt="2025-12-11T05:10:00.243" v="180" actId="1076"/>
          <ac:spMkLst>
            <pc:docMk/>
            <pc:sldMk cId="2408755336" sldId="264"/>
            <ac:spMk id="4" creationId="{5724F1CA-7919-6A7E-2DB8-9BF8D4B96CE4}"/>
          </ac:spMkLst>
        </pc:spChg>
      </pc:sldChg>
      <pc:sldChg chg="addSp modSp add mod">
        <pc:chgData name="adrija bhattacharya" userId="724ec4db8bc51beb" providerId="LiveId" clId="{10159404-DE1B-4E92-BD9B-8AE638DDD844}" dt="2025-12-11T05:10:33.999" v="189" actId="14100"/>
        <pc:sldMkLst>
          <pc:docMk/>
          <pc:sldMk cId="2762243160" sldId="265"/>
        </pc:sldMkLst>
        <pc:spChg chg="mod">
          <ac:chgData name="adrija bhattacharya" userId="724ec4db8bc51beb" providerId="LiveId" clId="{10159404-DE1B-4E92-BD9B-8AE638DDD844}" dt="2025-12-11T05:10:28.327" v="187" actId="1076"/>
          <ac:spMkLst>
            <pc:docMk/>
            <pc:sldMk cId="2762243160" sldId="265"/>
            <ac:spMk id="3" creationId="{650D2AC9-E246-3DCB-8B28-2EE10A319162}"/>
          </ac:spMkLst>
        </pc:spChg>
        <pc:spChg chg="add mod">
          <ac:chgData name="adrija bhattacharya" userId="724ec4db8bc51beb" providerId="LiveId" clId="{10159404-DE1B-4E92-BD9B-8AE638DDD844}" dt="2025-12-11T05:10:33.999" v="189" actId="14100"/>
          <ac:spMkLst>
            <pc:docMk/>
            <pc:sldMk cId="2762243160" sldId="265"/>
            <ac:spMk id="4" creationId="{9D9867C6-3B0D-DD2C-30D9-DBCD3A91078D}"/>
          </ac:spMkLst>
        </pc:spChg>
      </pc:sldChg>
      <pc:sldChg chg="modSp mod">
        <pc:chgData name="adrija bhattacharya" userId="724ec4db8bc51beb" providerId="LiveId" clId="{10159404-DE1B-4E92-BD9B-8AE638DDD844}" dt="2025-12-11T05:13:17.501" v="225" actId="207"/>
        <pc:sldMkLst>
          <pc:docMk/>
          <pc:sldMk cId="0" sldId="266"/>
        </pc:sldMkLst>
        <pc:spChg chg="mod">
          <ac:chgData name="adrija bhattacharya" userId="724ec4db8bc51beb" providerId="LiveId" clId="{10159404-DE1B-4E92-BD9B-8AE638DDD844}" dt="2025-12-11T05:13:17.501" v="225" actId="207"/>
          <ac:spMkLst>
            <pc:docMk/>
            <pc:sldMk cId="0" sldId="266"/>
            <ac:spMk id="23555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4:15.416" v="231" actId="207"/>
        <pc:sldMkLst>
          <pc:docMk/>
          <pc:sldMk cId="0" sldId="268"/>
        </pc:sldMkLst>
        <pc:spChg chg="mod">
          <ac:chgData name="adrija bhattacharya" userId="724ec4db8bc51beb" providerId="LiveId" clId="{10159404-DE1B-4E92-BD9B-8AE638DDD844}" dt="2025-12-11T05:14:15.416" v="231" actId="207"/>
          <ac:spMkLst>
            <pc:docMk/>
            <pc:sldMk cId="0" sldId="268"/>
            <ac:spMk id="25603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4:18.712" v="232" actId="207"/>
        <pc:sldMkLst>
          <pc:docMk/>
          <pc:sldMk cId="0" sldId="269"/>
        </pc:sldMkLst>
        <pc:spChg chg="mod">
          <ac:chgData name="adrija bhattacharya" userId="724ec4db8bc51beb" providerId="LiveId" clId="{10159404-DE1B-4E92-BD9B-8AE638DDD844}" dt="2025-12-11T05:14:18.712" v="232" actId="207"/>
          <ac:spMkLst>
            <pc:docMk/>
            <pc:sldMk cId="0" sldId="269"/>
            <ac:spMk id="26627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4:21.697" v="233" actId="207"/>
        <pc:sldMkLst>
          <pc:docMk/>
          <pc:sldMk cId="0" sldId="270"/>
        </pc:sldMkLst>
        <pc:spChg chg="mod">
          <ac:chgData name="adrija bhattacharya" userId="724ec4db8bc51beb" providerId="LiveId" clId="{10159404-DE1B-4E92-BD9B-8AE638DDD844}" dt="2025-12-11T05:14:21.697" v="233" actId="207"/>
          <ac:spMkLst>
            <pc:docMk/>
            <pc:sldMk cId="0" sldId="270"/>
            <ac:spMk id="27651" creationId="{00000000-0000-0000-0000-000000000000}"/>
          </ac:spMkLst>
        </pc:spChg>
      </pc:sldChg>
      <pc:sldChg chg="del">
        <pc:chgData name="adrija bhattacharya" userId="724ec4db8bc51beb" providerId="LiveId" clId="{10159404-DE1B-4E92-BD9B-8AE638DDD844}" dt="2025-12-11T05:10:49.013" v="190" actId="47"/>
        <pc:sldMkLst>
          <pc:docMk/>
          <pc:sldMk cId="0" sldId="271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564010087" sldId="272"/>
        </pc:sldMkLst>
      </pc:sldChg>
      <pc:sldChg chg="modSp add mod">
        <pc:chgData name="adrija bhattacharya" userId="724ec4db8bc51beb" providerId="LiveId" clId="{10159404-DE1B-4E92-BD9B-8AE638DDD844}" dt="2025-12-09T03:21:31.678" v="45" actId="14100"/>
        <pc:sldMkLst>
          <pc:docMk/>
          <pc:sldMk cId="2777366842" sldId="273"/>
        </pc:sldMkLst>
        <pc:spChg chg="mod">
          <ac:chgData name="adrija bhattacharya" userId="724ec4db8bc51beb" providerId="LiveId" clId="{10159404-DE1B-4E92-BD9B-8AE638DDD844}" dt="2025-12-09T03:21:31.678" v="45" actId="14100"/>
          <ac:spMkLst>
            <pc:docMk/>
            <pc:sldMk cId="2777366842" sldId="273"/>
            <ac:spMk id="91140" creationId="{00000000-0000-0000-0000-000000000000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766208235" sldId="274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437249104" sldId="275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765178401" sldId="27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119571734" sldId="279"/>
        </pc:sldMkLst>
      </pc:sldChg>
      <pc:sldChg chg="modSp mod">
        <pc:chgData name="adrija bhattacharya" userId="724ec4db8bc51beb" providerId="LiveId" clId="{10159404-DE1B-4E92-BD9B-8AE638DDD844}" dt="2025-12-11T05:12:59.081" v="221" actId="207"/>
        <pc:sldMkLst>
          <pc:docMk/>
          <pc:sldMk cId="444153588" sldId="280"/>
        </pc:sldMkLst>
        <pc:spChg chg="mod">
          <ac:chgData name="adrija bhattacharya" userId="724ec4db8bc51beb" providerId="LiveId" clId="{10159404-DE1B-4E92-BD9B-8AE638DDD844}" dt="2025-12-11T05:12:59.081" v="221" actId="207"/>
          <ac:spMkLst>
            <pc:docMk/>
            <pc:sldMk cId="444153588" sldId="280"/>
            <ac:spMk id="37890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02.036" v="222" actId="207"/>
        <pc:sldMkLst>
          <pc:docMk/>
          <pc:sldMk cId="1136502347" sldId="281"/>
        </pc:sldMkLst>
        <pc:spChg chg="mod">
          <ac:chgData name="adrija bhattacharya" userId="724ec4db8bc51beb" providerId="LiveId" clId="{10159404-DE1B-4E92-BD9B-8AE638DDD844}" dt="2025-12-11T05:13:02.036" v="222" actId="207"/>
          <ac:spMkLst>
            <pc:docMk/>
            <pc:sldMk cId="1136502347" sldId="281"/>
            <ac:spMk id="38914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13.900" v="224" actId="207"/>
        <pc:sldMkLst>
          <pc:docMk/>
          <pc:sldMk cId="1660114690" sldId="282"/>
        </pc:sldMkLst>
        <pc:spChg chg="mod">
          <ac:chgData name="adrija bhattacharya" userId="724ec4db8bc51beb" providerId="LiveId" clId="{10159404-DE1B-4E92-BD9B-8AE638DDD844}" dt="2025-12-11T05:13:13.900" v="224" actId="207"/>
          <ac:spMkLst>
            <pc:docMk/>
            <pc:sldMk cId="1660114690" sldId="282"/>
            <ac:spMk id="39938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10.272" v="223" actId="207"/>
        <pc:sldMkLst>
          <pc:docMk/>
          <pc:sldMk cId="0" sldId="283"/>
        </pc:sldMkLst>
        <pc:spChg chg="mod">
          <ac:chgData name="adrija bhattacharya" userId="724ec4db8bc51beb" providerId="LiveId" clId="{10159404-DE1B-4E92-BD9B-8AE638DDD844}" dt="2025-12-11T05:13:10.272" v="223" actId="207"/>
          <ac:spMkLst>
            <pc:docMk/>
            <pc:sldMk cId="0" sldId="283"/>
            <ac:spMk id="22531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59.841" v="204" actId="207"/>
        <pc:sldMkLst>
          <pc:docMk/>
          <pc:sldMk cId="4001169270" sldId="284"/>
        </pc:sldMkLst>
        <pc:spChg chg="mod">
          <ac:chgData name="adrija bhattacharya" userId="724ec4db8bc51beb" providerId="LiveId" clId="{10159404-DE1B-4E92-BD9B-8AE638DDD844}" dt="2025-12-11T05:11:59.841" v="204" actId="207"/>
          <ac:spMkLst>
            <pc:docMk/>
            <pc:sldMk cId="4001169270" sldId="284"/>
            <ac:spMk id="33794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02.960" v="205" actId="207"/>
        <pc:sldMkLst>
          <pc:docMk/>
          <pc:sldMk cId="1396240461" sldId="285"/>
        </pc:sldMkLst>
        <pc:spChg chg="mod">
          <ac:chgData name="adrija bhattacharya" userId="724ec4db8bc51beb" providerId="LiveId" clId="{10159404-DE1B-4E92-BD9B-8AE638DDD844}" dt="2025-12-11T05:12:02.960" v="205" actId="207"/>
          <ac:spMkLst>
            <pc:docMk/>
            <pc:sldMk cId="1396240461" sldId="285"/>
            <ac:spMk id="34818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07.553" v="206" actId="207"/>
        <pc:sldMkLst>
          <pc:docMk/>
          <pc:sldMk cId="2829893845" sldId="286"/>
        </pc:sldMkLst>
        <pc:spChg chg="mod">
          <ac:chgData name="adrija bhattacharya" userId="724ec4db8bc51beb" providerId="LiveId" clId="{10159404-DE1B-4E92-BD9B-8AE638DDD844}" dt="2025-12-11T05:12:07.553" v="206" actId="207"/>
          <ac:spMkLst>
            <pc:docMk/>
            <pc:sldMk cId="2829893845" sldId="286"/>
            <ac:spMk id="3584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11.040" v="207" actId="207"/>
        <pc:sldMkLst>
          <pc:docMk/>
          <pc:sldMk cId="1137465249" sldId="287"/>
        </pc:sldMkLst>
        <pc:spChg chg="mod">
          <ac:chgData name="adrija bhattacharya" userId="724ec4db8bc51beb" providerId="LiveId" clId="{10159404-DE1B-4E92-BD9B-8AE638DDD844}" dt="2025-12-11T05:12:11.040" v="207" actId="207"/>
          <ac:spMkLst>
            <pc:docMk/>
            <pc:sldMk cId="1137465249" sldId="287"/>
            <ac:spMk id="36866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53.980" v="202" actId="207"/>
        <pc:sldMkLst>
          <pc:docMk/>
          <pc:sldMk cId="1410773867" sldId="288"/>
        </pc:sldMkLst>
        <pc:spChg chg="mod">
          <ac:chgData name="adrija bhattacharya" userId="724ec4db8bc51beb" providerId="LiveId" clId="{10159404-DE1B-4E92-BD9B-8AE638DDD844}" dt="2025-12-11T05:11:53.980" v="202" actId="207"/>
          <ac:spMkLst>
            <pc:docMk/>
            <pc:sldMk cId="1410773867" sldId="288"/>
            <ac:spMk id="3072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1:56.676" v="203" actId="207"/>
        <pc:sldMkLst>
          <pc:docMk/>
          <pc:sldMk cId="2485391512" sldId="289"/>
        </pc:sldMkLst>
        <pc:spChg chg="mod">
          <ac:chgData name="adrija bhattacharya" userId="724ec4db8bc51beb" providerId="LiveId" clId="{10159404-DE1B-4E92-BD9B-8AE638DDD844}" dt="2025-12-11T05:11:56.676" v="203" actId="207"/>
          <ac:spMkLst>
            <pc:docMk/>
            <pc:sldMk cId="2485391512" sldId="289"/>
            <ac:spMk id="31746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14.592" v="208" actId="207"/>
        <pc:sldMkLst>
          <pc:docMk/>
          <pc:sldMk cId="0" sldId="290"/>
        </pc:sldMkLst>
        <pc:spChg chg="mod">
          <ac:chgData name="adrija bhattacharya" userId="724ec4db8bc51beb" providerId="LiveId" clId="{10159404-DE1B-4E92-BD9B-8AE638DDD844}" dt="2025-12-11T05:12:14.592" v="208" actId="207"/>
          <ac:spMkLst>
            <pc:docMk/>
            <pc:sldMk cId="0" sldId="290"/>
            <ac:spMk id="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18.832" v="209" actId="207"/>
        <pc:sldMkLst>
          <pc:docMk/>
          <pc:sldMk cId="0" sldId="293"/>
        </pc:sldMkLst>
        <pc:spChg chg="mod">
          <ac:chgData name="adrija bhattacharya" userId="724ec4db8bc51beb" providerId="LiveId" clId="{10159404-DE1B-4E92-BD9B-8AE638DDD844}" dt="2025-12-11T05:12:18.832" v="209" actId="207"/>
          <ac:spMkLst>
            <pc:docMk/>
            <pc:sldMk cId="0" sldId="293"/>
            <ac:spMk id="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28.681" v="212" actId="207"/>
        <pc:sldMkLst>
          <pc:docMk/>
          <pc:sldMk cId="0" sldId="294"/>
        </pc:sldMkLst>
        <pc:spChg chg="mod">
          <ac:chgData name="adrija bhattacharya" userId="724ec4db8bc51beb" providerId="LiveId" clId="{10159404-DE1B-4E92-BD9B-8AE638DDD844}" dt="2025-12-11T05:12:28.681" v="212" actId="207"/>
          <ac:spMkLst>
            <pc:docMk/>
            <pc:sldMk cId="0" sldId="294"/>
            <ac:spMk id="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21.697" v="210" actId="207"/>
        <pc:sldMkLst>
          <pc:docMk/>
          <pc:sldMk cId="0" sldId="295"/>
        </pc:sldMkLst>
        <pc:spChg chg="mod">
          <ac:chgData name="adrija bhattacharya" userId="724ec4db8bc51beb" providerId="LiveId" clId="{10159404-DE1B-4E92-BD9B-8AE638DDD844}" dt="2025-12-11T05:12:21.697" v="210" actId="207"/>
          <ac:spMkLst>
            <pc:docMk/>
            <pc:sldMk cId="0" sldId="295"/>
            <ac:spMk id="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24.489" v="211" actId="207"/>
        <pc:sldMkLst>
          <pc:docMk/>
          <pc:sldMk cId="0" sldId="296"/>
        </pc:sldMkLst>
        <pc:spChg chg="mod">
          <ac:chgData name="adrija bhattacharya" userId="724ec4db8bc51beb" providerId="LiveId" clId="{10159404-DE1B-4E92-BD9B-8AE638DDD844}" dt="2025-12-11T05:12:24.489" v="211" actId="207"/>
          <ac:spMkLst>
            <pc:docMk/>
            <pc:sldMk cId="0" sldId="296"/>
            <ac:spMk id="2" creationId="{00000000-0000-0000-0000-000000000000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50490330" sldId="297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47959070" sldId="29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496215932" sldId="299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508113077" sldId="300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838198595" sldId="301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473221830" sldId="302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81299544" sldId="303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901002544" sldId="304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260171787" sldId="305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126173626" sldId="306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558603956" sldId="307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454552525" sldId="30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94324082" sldId="309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595544720" sldId="310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564756010" sldId="311"/>
        </pc:sldMkLst>
      </pc:sldChg>
      <pc:sldChg chg="add mod modShow">
        <pc:chgData name="adrija bhattacharya" userId="724ec4db8bc51beb" providerId="LiveId" clId="{10159404-DE1B-4E92-BD9B-8AE638DDD844}" dt="2025-12-09T03:22:49.742" v="46" actId="729"/>
        <pc:sldMkLst>
          <pc:docMk/>
          <pc:sldMk cId="1258637889" sldId="312"/>
        </pc:sldMkLst>
      </pc:sldChg>
      <pc:sldChg chg="add mod modShow">
        <pc:chgData name="adrija bhattacharya" userId="724ec4db8bc51beb" providerId="LiveId" clId="{10159404-DE1B-4E92-BD9B-8AE638DDD844}" dt="2025-12-09T03:22:49.742" v="46" actId="729"/>
        <pc:sldMkLst>
          <pc:docMk/>
          <pc:sldMk cId="4033187257" sldId="313"/>
        </pc:sldMkLst>
      </pc:sldChg>
      <pc:sldChg chg="add mod modShow">
        <pc:chgData name="adrija bhattacharya" userId="724ec4db8bc51beb" providerId="LiveId" clId="{10159404-DE1B-4E92-BD9B-8AE638DDD844}" dt="2025-12-09T03:22:49.742" v="46" actId="729"/>
        <pc:sldMkLst>
          <pc:docMk/>
          <pc:sldMk cId="612555389" sldId="314"/>
        </pc:sldMkLst>
      </pc:sldChg>
      <pc:sldChg chg="add mod modShow">
        <pc:chgData name="adrija bhattacharya" userId="724ec4db8bc51beb" providerId="LiveId" clId="{10159404-DE1B-4E92-BD9B-8AE638DDD844}" dt="2025-12-09T03:22:49.742" v="46" actId="729"/>
        <pc:sldMkLst>
          <pc:docMk/>
          <pc:sldMk cId="494081966" sldId="315"/>
        </pc:sldMkLst>
      </pc:sldChg>
      <pc:sldChg chg="add mod modShow">
        <pc:chgData name="adrija bhattacharya" userId="724ec4db8bc51beb" providerId="LiveId" clId="{10159404-DE1B-4E92-BD9B-8AE638DDD844}" dt="2025-12-09T03:22:49.742" v="46" actId="729"/>
        <pc:sldMkLst>
          <pc:docMk/>
          <pc:sldMk cId="2319716798" sldId="316"/>
        </pc:sldMkLst>
      </pc:sldChg>
      <pc:sldChg chg="addSp delSp modSp add mod addAnim delAnim">
        <pc:chgData name="adrija bhattacharya" userId="724ec4db8bc51beb" providerId="LiveId" clId="{10159404-DE1B-4E92-BD9B-8AE638DDD844}" dt="2025-12-09T03:28:27.404" v="126" actId="1076"/>
        <pc:sldMkLst>
          <pc:docMk/>
          <pc:sldMk cId="3292540877" sldId="317"/>
        </pc:sldMkLst>
        <pc:grpChg chg="mod">
          <ac:chgData name="adrija bhattacharya" userId="724ec4db8bc51beb" providerId="LiveId" clId="{10159404-DE1B-4E92-BD9B-8AE638DDD844}" dt="2025-12-09T03:28:27.404" v="126" actId="1076"/>
          <ac:grpSpMkLst>
            <pc:docMk/>
            <pc:sldMk cId="3292540877" sldId="317"/>
            <ac:grpSpMk id="6" creationId="{00000000-0000-0000-0000-000000000000}"/>
          </ac:grpSpMkLst>
        </pc:gr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541385711" sldId="31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171789414" sldId="319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458560313" sldId="320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4238065129" sldId="321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596782034" sldId="322"/>
        </pc:sldMkLst>
      </pc:sldChg>
      <pc:sldChg chg="modSp add mod">
        <pc:chgData name="adrija bhattacharya" userId="724ec4db8bc51beb" providerId="LiveId" clId="{10159404-DE1B-4E92-BD9B-8AE638DDD844}" dt="2025-12-09T03:06:34.961" v="2" actId="27636"/>
        <pc:sldMkLst>
          <pc:docMk/>
          <pc:sldMk cId="3257859799" sldId="332"/>
        </pc:sldMkLst>
        <pc:spChg chg="mod">
          <ac:chgData name="adrija bhattacharya" userId="724ec4db8bc51beb" providerId="LiveId" clId="{10159404-DE1B-4E92-BD9B-8AE638DDD844}" dt="2025-12-09T03:06:34.961" v="2" actId="27636"/>
          <ac:spMkLst>
            <pc:docMk/>
            <pc:sldMk cId="3257859799" sldId="332"/>
            <ac:spMk id="3" creationId="{00000000-0000-0000-0000-000000000000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430098406" sldId="333"/>
        </pc:sldMkLst>
      </pc:sldChg>
      <pc:sldChg chg="modSp add mod">
        <pc:chgData name="adrija bhattacharya" userId="724ec4db8bc51beb" providerId="LiveId" clId="{10159404-DE1B-4E92-BD9B-8AE638DDD844}" dt="2025-12-09T03:06:34.976" v="3" actId="27636"/>
        <pc:sldMkLst>
          <pc:docMk/>
          <pc:sldMk cId="1087962665" sldId="334"/>
        </pc:sldMkLst>
        <pc:spChg chg="mod">
          <ac:chgData name="adrija bhattacharya" userId="724ec4db8bc51beb" providerId="LiveId" clId="{10159404-DE1B-4E92-BD9B-8AE638DDD844}" dt="2025-12-09T03:06:34.976" v="3" actId="27636"/>
          <ac:spMkLst>
            <pc:docMk/>
            <pc:sldMk cId="1087962665" sldId="334"/>
            <ac:spMk id="3" creationId="{8B99DB09-FAF7-4D5A-B7CF-35C22AEDDBF4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163168001" sldId="335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4140663089" sldId="336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114058723" sldId="337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323493629" sldId="33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898766925" sldId="340"/>
        </pc:sldMkLst>
      </pc:sldChg>
      <pc:sldChg chg="modSp add mod">
        <pc:chgData name="adrija bhattacharya" userId="724ec4db8bc51beb" providerId="LiveId" clId="{10159404-DE1B-4E92-BD9B-8AE638DDD844}" dt="2025-12-09T03:06:35.206" v="4" actId="27636"/>
        <pc:sldMkLst>
          <pc:docMk/>
          <pc:sldMk cId="1433452304" sldId="341"/>
        </pc:sldMkLst>
        <pc:spChg chg="mod">
          <ac:chgData name="adrija bhattacharya" userId="724ec4db8bc51beb" providerId="LiveId" clId="{10159404-DE1B-4E92-BD9B-8AE638DDD844}" dt="2025-12-09T03:06:35.206" v="4" actId="27636"/>
          <ac:spMkLst>
            <pc:docMk/>
            <pc:sldMk cId="1433452304" sldId="341"/>
            <ac:spMk id="3" creationId="{9DAFB719-0738-4AE2-AABF-860213B595C8}"/>
          </ac:spMkLst>
        </pc:spChg>
      </pc:sldChg>
      <pc:sldChg chg="modSp add mod">
        <pc:chgData name="adrija bhattacharya" userId="724ec4db8bc51beb" providerId="LiveId" clId="{10159404-DE1B-4E92-BD9B-8AE638DDD844}" dt="2025-12-09T03:06:35.264" v="5" actId="27636"/>
        <pc:sldMkLst>
          <pc:docMk/>
          <pc:sldMk cId="1024306255" sldId="342"/>
        </pc:sldMkLst>
        <pc:spChg chg="mod">
          <ac:chgData name="adrija bhattacharya" userId="724ec4db8bc51beb" providerId="LiveId" clId="{10159404-DE1B-4E92-BD9B-8AE638DDD844}" dt="2025-12-09T03:06:35.264" v="5" actId="27636"/>
          <ac:spMkLst>
            <pc:docMk/>
            <pc:sldMk cId="1024306255" sldId="342"/>
            <ac:spMk id="3" creationId="{9DAFB719-0738-4AE2-AABF-860213B595C8}"/>
          </ac:spMkLst>
        </pc:spChg>
      </pc:sldChg>
      <pc:sldChg chg="modSp add mod">
        <pc:chgData name="adrija bhattacharya" userId="724ec4db8bc51beb" providerId="LiveId" clId="{10159404-DE1B-4E92-BD9B-8AE638DDD844}" dt="2025-12-09T03:06:35.374" v="6" actId="27636"/>
        <pc:sldMkLst>
          <pc:docMk/>
          <pc:sldMk cId="2926938285" sldId="343"/>
        </pc:sldMkLst>
        <pc:spChg chg="mod">
          <ac:chgData name="adrija bhattacharya" userId="724ec4db8bc51beb" providerId="LiveId" clId="{10159404-DE1B-4E92-BD9B-8AE638DDD844}" dt="2025-12-09T03:06:35.374" v="6" actId="27636"/>
          <ac:spMkLst>
            <pc:docMk/>
            <pc:sldMk cId="2926938285" sldId="343"/>
            <ac:spMk id="3" creationId="{9DAFB719-0738-4AE2-AABF-860213B595C8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12741297" sldId="344"/>
        </pc:sldMkLst>
      </pc:sldChg>
      <pc:sldChg chg="modSp add mod">
        <pc:chgData name="adrija bhattacharya" userId="724ec4db8bc51beb" providerId="LiveId" clId="{10159404-DE1B-4E92-BD9B-8AE638DDD844}" dt="2025-12-09T03:06:35.473" v="7" actId="27636"/>
        <pc:sldMkLst>
          <pc:docMk/>
          <pc:sldMk cId="2863853692" sldId="345"/>
        </pc:sldMkLst>
        <pc:spChg chg="mod">
          <ac:chgData name="adrija bhattacharya" userId="724ec4db8bc51beb" providerId="LiveId" clId="{10159404-DE1B-4E92-BD9B-8AE638DDD844}" dt="2025-12-09T03:06:35.473" v="7" actId="27636"/>
          <ac:spMkLst>
            <pc:docMk/>
            <pc:sldMk cId="2863853692" sldId="345"/>
            <ac:spMk id="3" creationId="{00000000-0000-0000-0000-000000000000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020240446" sldId="346"/>
        </pc:sldMkLst>
      </pc:sldChg>
      <pc:sldChg chg="modSp add mod">
        <pc:chgData name="adrija bhattacharya" userId="724ec4db8bc51beb" providerId="LiveId" clId="{10159404-DE1B-4E92-BD9B-8AE638DDD844}" dt="2025-12-09T03:06:35.532" v="8" actId="27636"/>
        <pc:sldMkLst>
          <pc:docMk/>
          <pc:sldMk cId="176223289" sldId="347"/>
        </pc:sldMkLst>
        <pc:spChg chg="mod">
          <ac:chgData name="adrija bhattacharya" userId="724ec4db8bc51beb" providerId="LiveId" clId="{10159404-DE1B-4E92-BD9B-8AE638DDD844}" dt="2025-12-09T03:06:35.532" v="8" actId="27636"/>
          <ac:spMkLst>
            <pc:docMk/>
            <pc:sldMk cId="176223289" sldId="347"/>
            <ac:spMk id="3" creationId="{00000000-0000-0000-0000-000000000000}"/>
          </ac:spMkLst>
        </pc:spChg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626740417" sldId="34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752507759" sldId="349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432439592" sldId="350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494737909" sldId="351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986951421" sldId="352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000341876" sldId="367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637561239" sldId="36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1509380374" sldId="369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913528952" sldId="370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924845541" sldId="371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756042731" sldId="372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785315742" sldId="373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363095565" sldId="374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349762389" sldId="375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902879672" sldId="376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921756165" sldId="377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4256367328" sldId="378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517604243" sldId="379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3694320719" sldId="380"/>
        </pc:sldMkLst>
      </pc:sldChg>
      <pc:sldChg chg="add">
        <pc:chgData name="adrija bhattacharya" userId="724ec4db8bc51beb" providerId="LiveId" clId="{10159404-DE1B-4E92-BD9B-8AE638DDD844}" dt="2025-12-09T03:06:34.808" v="1"/>
        <pc:sldMkLst>
          <pc:docMk/>
          <pc:sldMk cId="2081063127" sldId="381"/>
        </pc:sldMkLst>
      </pc:sldChg>
      <pc:sldChg chg="modSp mod">
        <pc:chgData name="adrija bhattacharya" userId="724ec4db8bc51beb" providerId="LiveId" clId="{10159404-DE1B-4E92-BD9B-8AE638DDD844}" dt="2025-12-11T05:13:34.513" v="226" actId="207"/>
        <pc:sldMkLst>
          <pc:docMk/>
          <pc:sldMk cId="0" sldId="428"/>
        </pc:sldMkLst>
        <pc:spChg chg="mod">
          <ac:chgData name="adrija bhattacharya" userId="724ec4db8bc51beb" providerId="LiveId" clId="{10159404-DE1B-4E92-BD9B-8AE638DDD844}" dt="2025-12-11T05:13:34.513" v="226" actId="207"/>
          <ac:spMkLst>
            <pc:docMk/>
            <pc:sldMk cId="0" sldId="428"/>
            <ac:spMk id="83970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38.917" v="227" actId="207"/>
        <pc:sldMkLst>
          <pc:docMk/>
          <pc:sldMk cId="0" sldId="429"/>
        </pc:sldMkLst>
        <pc:spChg chg="mod">
          <ac:chgData name="adrija bhattacharya" userId="724ec4db8bc51beb" providerId="LiveId" clId="{10159404-DE1B-4E92-BD9B-8AE638DDD844}" dt="2025-12-11T05:13:38.917" v="227" actId="207"/>
          <ac:spMkLst>
            <pc:docMk/>
            <pc:sldMk cId="0" sldId="429"/>
            <ac:spMk id="84994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42.667" v="228" actId="207"/>
        <pc:sldMkLst>
          <pc:docMk/>
          <pc:sldMk cId="0" sldId="430"/>
        </pc:sldMkLst>
        <pc:spChg chg="mod">
          <ac:chgData name="adrija bhattacharya" userId="724ec4db8bc51beb" providerId="LiveId" clId="{10159404-DE1B-4E92-BD9B-8AE638DDD844}" dt="2025-12-11T05:13:42.667" v="228" actId="207"/>
          <ac:spMkLst>
            <pc:docMk/>
            <pc:sldMk cId="0" sldId="430"/>
            <ac:spMk id="86018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47.024" v="229" actId="207"/>
        <pc:sldMkLst>
          <pc:docMk/>
          <pc:sldMk cId="0" sldId="431"/>
        </pc:sldMkLst>
        <pc:spChg chg="mod">
          <ac:chgData name="adrija bhattacharya" userId="724ec4db8bc51beb" providerId="LiveId" clId="{10159404-DE1B-4E92-BD9B-8AE638DDD844}" dt="2025-12-11T05:13:47.024" v="229" actId="207"/>
          <ac:spMkLst>
            <pc:docMk/>
            <pc:sldMk cId="0" sldId="431"/>
            <ac:spMk id="87042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3:57.136" v="230" actId="207"/>
        <pc:sldMkLst>
          <pc:docMk/>
          <pc:sldMk cId="0" sldId="432"/>
        </pc:sldMkLst>
        <pc:spChg chg="mod">
          <ac:chgData name="adrija bhattacharya" userId="724ec4db8bc51beb" providerId="LiveId" clId="{10159404-DE1B-4E92-BD9B-8AE638DDD844}" dt="2025-12-11T05:13:57.136" v="230" actId="207"/>
          <ac:spMkLst>
            <pc:docMk/>
            <pc:sldMk cId="0" sldId="432"/>
            <ac:spMk id="88066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31.988" v="213" actId="207"/>
        <pc:sldMkLst>
          <pc:docMk/>
          <pc:sldMk cId="0" sldId="440"/>
        </pc:sldMkLst>
        <pc:spChg chg="mod">
          <ac:chgData name="adrija bhattacharya" userId="724ec4db8bc51beb" providerId="LiveId" clId="{10159404-DE1B-4E92-BD9B-8AE638DDD844}" dt="2025-12-11T05:12:31.988" v="213" actId="207"/>
          <ac:spMkLst>
            <pc:docMk/>
            <pc:sldMk cId="0" sldId="440"/>
            <ac:spMk id="27650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35.146" v="214" actId="207"/>
        <pc:sldMkLst>
          <pc:docMk/>
          <pc:sldMk cId="0" sldId="441"/>
        </pc:sldMkLst>
        <pc:spChg chg="mod">
          <ac:chgData name="adrija bhattacharya" userId="724ec4db8bc51beb" providerId="LiveId" clId="{10159404-DE1B-4E92-BD9B-8AE638DDD844}" dt="2025-12-11T05:12:35.146" v="214" actId="207"/>
          <ac:spMkLst>
            <pc:docMk/>
            <pc:sldMk cId="0" sldId="441"/>
            <ac:spMk id="29698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39.360" v="215" actId="207"/>
        <pc:sldMkLst>
          <pc:docMk/>
          <pc:sldMk cId="0" sldId="442"/>
        </pc:sldMkLst>
        <pc:spChg chg="mod">
          <ac:chgData name="adrija bhattacharya" userId="724ec4db8bc51beb" providerId="LiveId" clId="{10159404-DE1B-4E92-BD9B-8AE638DDD844}" dt="2025-12-11T05:12:39.360" v="215" actId="207"/>
          <ac:spMkLst>
            <pc:docMk/>
            <pc:sldMk cId="0" sldId="442"/>
            <ac:spMk id="31746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1T05:12:45.720" v="217" actId="207"/>
        <pc:sldMkLst>
          <pc:docMk/>
          <pc:sldMk cId="0" sldId="443"/>
        </pc:sldMkLst>
        <pc:spChg chg="mod">
          <ac:chgData name="adrija bhattacharya" userId="724ec4db8bc51beb" providerId="LiveId" clId="{10159404-DE1B-4E92-BD9B-8AE638DDD844}" dt="2025-12-11T05:12:45.720" v="217" actId="207"/>
          <ac:spMkLst>
            <pc:docMk/>
            <pc:sldMk cId="0" sldId="443"/>
            <ac:spMk id="33794" creationId="{00000000-0000-0000-0000-000000000000}"/>
          </ac:spMkLst>
        </pc:spChg>
      </pc:sldChg>
      <pc:sldChg chg="modSp mod">
        <pc:chgData name="adrija bhattacharya" userId="724ec4db8bc51beb" providerId="LiveId" clId="{10159404-DE1B-4E92-BD9B-8AE638DDD844}" dt="2025-12-12T00:26:48.976" v="236" actId="14100"/>
        <pc:sldMkLst>
          <pc:docMk/>
          <pc:sldMk cId="0" sldId="445"/>
        </pc:sldMkLst>
        <pc:spChg chg="mod">
          <ac:chgData name="adrija bhattacharya" userId="724ec4db8bc51beb" providerId="LiveId" clId="{10159404-DE1B-4E92-BD9B-8AE638DDD844}" dt="2025-12-12T00:26:48.976" v="236" actId="14100"/>
          <ac:spMkLst>
            <pc:docMk/>
            <pc:sldMk cId="0" sldId="445"/>
            <ac:spMk id="65552" creationId="{00000000-0000-0000-0000-000000000000}"/>
          </ac:spMkLst>
        </pc:spChg>
        <pc:spChg chg="mod">
          <ac:chgData name="adrija bhattacharya" userId="724ec4db8bc51beb" providerId="LiveId" clId="{10159404-DE1B-4E92-BD9B-8AE638DDD844}" dt="2025-12-12T00:26:29.924" v="234" actId="14100"/>
          <ac:spMkLst>
            <pc:docMk/>
            <pc:sldMk cId="0" sldId="445"/>
            <ac:spMk id="65567" creationId="{00000000-0000-0000-0000-000000000000}"/>
          </ac:spMkLst>
        </pc:spChg>
        <pc:spChg chg="mod">
          <ac:chgData name="adrija bhattacharya" userId="724ec4db8bc51beb" providerId="LiveId" clId="{10159404-DE1B-4E92-BD9B-8AE638DDD844}" dt="2025-12-12T00:26:33.393" v="235" actId="14100"/>
          <ac:spMkLst>
            <pc:docMk/>
            <pc:sldMk cId="0" sldId="445"/>
            <ac:spMk id="65568" creationId="{00000000-0000-0000-0000-000000000000}"/>
          </ac:spMkLst>
        </pc:spChg>
        <pc:cxnChg chg="mod">
          <ac:chgData name="adrija bhattacharya" userId="724ec4db8bc51beb" providerId="LiveId" clId="{10159404-DE1B-4E92-BD9B-8AE638DDD844}" dt="2025-12-12T00:26:48.976" v="236" actId="14100"/>
          <ac:cxnSpMkLst>
            <pc:docMk/>
            <pc:sldMk cId="0" sldId="445"/>
            <ac:cxnSpMk id="56" creationId="{00000000-0000-0000-0000-000000000000}"/>
          </ac:cxnSpMkLst>
        </pc:cxnChg>
      </pc:sldChg>
      <pc:sldChg chg="addSp delSp modSp new mod modClrScheme chgLayout">
        <pc:chgData name="adrija bhattacharya" userId="724ec4db8bc51beb" providerId="LiveId" clId="{10159404-DE1B-4E92-BD9B-8AE638DDD844}" dt="2025-12-09T03:07:44.492" v="44" actId="1036"/>
        <pc:sldMkLst>
          <pc:docMk/>
          <pc:sldMk cId="203479977" sldId="446"/>
        </pc:sldMkLst>
        <pc:spChg chg="mod ord">
          <ac:chgData name="adrija bhattacharya" userId="724ec4db8bc51beb" providerId="LiveId" clId="{10159404-DE1B-4E92-BD9B-8AE638DDD844}" dt="2025-12-09T03:07:01.453" v="10" actId="700"/>
          <ac:spMkLst>
            <pc:docMk/>
            <pc:sldMk cId="203479977" sldId="446"/>
            <ac:spMk id="4" creationId="{03E34F03-FF1A-C977-DE6E-AA44B1BB0DD4}"/>
          </ac:spMkLst>
        </pc:spChg>
        <pc:spChg chg="add mod ord">
          <ac:chgData name="adrija bhattacharya" userId="724ec4db8bc51beb" providerId="LiveId" clId="{10159404-DE1B-4E92-BD9B-8AE638DDD844}" dt="2025-12-09T03:07:44.492" v="44" actId="1036"/>
          <ac:spMkLst>
            <pc:docMk/>
            <pc:sldMk cId="203479977" sldId="446"/>
            <ac:spMk id="5" creationId="{57AB6AB5-61D6-EA90-F7CB-8F5AC9A46504}"/>
          </ac:spMkLst>
        </pc:spChg>
      </pc:sldChg>
      <pc:sldChg chg="addSp modSp new mod modAnim">
        <pc:chgData name="adrija bhattacharya" userId="724ec4db8bc51beb" providerId="LiveId" clId="{10159404-DE1B-4E92-BD9B-8AE638DDD844}" dt="2025-12-09T03:27:58.288" v="122" actId="14100"/>
        <pc:sldMkLst>
          <pc:docMk/>
          <pc:sldMk cId="1090252737" sldId="447"/>
        </pc:sldMkLst>
        <pc:spChg chg="mod">
          <ac:chgData name="adrija bhattacharya" userId="724ec4db8bc51beb" providerId="LiveId" clId="{10159404-DE1B-4E92-BD9B-8AE638DDD844}" dt="2025-12-09T03:27:58.288" v="122" actId="14100"/>
          <ac:spMkLst>
            <pc:docMk/>
            <pc:sldMk cId="1090252737" sldId="447"/>
            <ac:spMk id="5" creationId="{F3865ADF-7074-B56B-E54E-55E02D3E862D}"/>
          </ac:spMkLst>
        </pc:spChg>
        <pc:spChg chg="mod">
          <ac:chgData name="adrija bhattacharya" userId="724ec4db8bc51beb" providerId="LiveId" clId="{10159404-DE1B-4E92-BD9B-8AE638DDD844}" dt="2025-12-09T03:27:44.187" v="120" actId="14100"/>
          <ac:spMkLst>
            <pc:docMk/>
            <pc:sldMk cId="1090252737" sldId="447"/>
            <ac:spMk id="7" creationId="{68AD57B7-957F-6F99-AF90-0833150CFDF6}"/>
          </ac:spMkLst>
        </pc:spChg>
        <pc:spChg chg="mod">
          <ac:chgData name="adrija bhattacharya" userId="724ec4db8bc51beb" providerId="LiveId" clId="{10159404-DE1B-4E92-BD9B-8AE638DDD844}" dt="2025-12-09T03:27:39.796" v="119" actId="1076"/>
          <ac:spMkLst>
            <pc:docMk/>
            <pc:sldMk cId="1090252737" sldId="447"/>
            <ac:spMk id="8" creationId="{100DB5D6-BEA0-3500-5BDE-5C2EDEA7716F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31" creationId="{38078F05-1831-F5F6-E505-45312240B48A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37" creationId="{27453C8D-FF41-8CEB-2A51-5D3F591BA55B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50" creationId="{BDEC7AA3-D587-23FE-A860-3847F4D5580A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52" creationId="{D8DC7175-F623-4A0A-BF54-D88BC2C144F2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64" creationId="{4CA2689C-2553-1575-4203-EDAB41E2E66E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81" creationId="{780A787D-F073-43C8-1DA8-9E06C382FF82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88" creationId="{3F426962-C060-D430-E191-6E3A07BBD136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114" creationId="{A981887D-4F2C-E566-00D2-CDFEBD52E83E}"/>
          </ac:spMkLst>
        </pc:spChg>
        <pc:spChg chg="mod">
          <ac:chgData name="adrija bhattacharya" userId="724ec4db8bc51beb" providerId="LiveId" clId="{10159404-DE1B-4E92-BD9B-8AE638DDD844}" dt="2025-12-09T03:26:25.389" v="62" actId="14100"/>
          <ac:spMkLst>
            <pc:docMk/>
            <pc:sldMk cId="1090252737" sldId="447"/>
            <ac:spMk id="118" creationId="{E3BA82E1-0214-7FCE-3A5F-4DFEDE0DC085}"/>
          </ac:spMkLst>
        </pc:spChg>
        <pc:spChg chg="mod">
          <ac:chgData name="adrija bhattacharya" userId="724ec4db8bc51beb" providerId="LiveId" clId="{10159404-DE1B-4E92-BD9B-8AE638DDD844}" dt="2025-12-09T03:27:20.359" v="79"/>
          <ac:spMkLst>
            <pc:docMk/>
            <pc:sldMk cId="1090252737" sldId="447"/>
            <ac:spMk id="12327" creationId="{00000000-0000-0000-0000-000000000000}"/>
          </ac:spMkLst>
        </pc:spChg>
        <pc:spChg chg="mod">
          <ac:chgData name="adrija bhattacharya" userId="724ec4db8bc51beb" providerId="LiveId" clId="{10159404-DE1B-4E92-BD9B-8AE638DDD844}" dt="2025-12-09T03:27:20.359" v="79"/>
          <ac:spMkLst>
            <pc:docMk/>
            <pc:sldMk cId="1090252737" sldId="447"/>
            <ac:spMk id="12328" creationId="{00000000-0000-0000-0000-000000000000}"/>
          </ac:spMkLst>
        </pc:spChg>
        <pc:grpChg chg="mod">
          <ac:chgData name="adrija bhattacharya" userId="724ec4db8bc51beb" providerId="LiveId" clId="{10159404-DE1B-4E92-BD9B-8AE638DDD844}" dt="2025-12-09T03:27:33.894" v="118" actId="1036"/>
          <ac:grpSpMkLst>
            <pc:docMk/>
            <pc:sldMk cId="1090252737" sldId="447"/>
            <ac:grpSpMk id="4" creationId="{490F0B3D-D3D5-D4D7-2FA4-B59C72B17345}"/>
          </ac:grpSpMkLst>
        </pc:grpChg>
        <pc:grpChg chg="mod">
          <ac:chgData name="adrija bhattacharya" userId="724ec4db8bc51beb" providerId="LiveId" clId="{10159404-DE1B-4E92-BD9B-8AE638DDD844}" dt="2025-12-09T03:26:46.131" v="69" actId="14100"/>
          <ac:grpSpMkLst>
            <pc:docMk/>
            <pc:sldMk cId="1090252737" sldId="447"/>
            <ac:grpSpMk id="9" creationId="{B6C468DE-ED2D-ED48-FF9F-D99B73C1289E}"/>
          </ac:grpSpMkLst>
        </pc:grpChg>
        <pc:grpChg chg="add mod">
          <ac:chgData name="adrija bhattacharya" userId="724ec4db8bc51beb" providerId="LiveId" clId="{10159404-DE1B-4E92-BD9B-8AE638DDD844}" dt="2025-12-09T03:27:23.068" v="111" actId="1035"/>
          <ac:grpSpMkLst>
            <pc:docMk/>
            <pc:sldMk cId="1090252737" sldId="447"/>
            <ac:grpSpMk id="123" creationId="{00000000-0000-0000-0000-000000000000}"/>
          </ac:grpSpMkLst>
        </pc:grpChg>
        <pc:graphicFrameChg chg="mod">
          <ac:chgData name="adrija bhattacharya" userId="724ec4db8bc51beb" providerId="LiveId" clId="{10159404-DE1B-4E92-BD9B-8AE638DDD844}" dt="2025-12-09T03:27:05.971" v="77" actId="1035"/>
          <ac:graphicFrameMkLst>
            <pc:docMk/>
            <pc:sldMk cId="1090252737" sldId="447"/>
            <ac:graphicFrameMk id="3" creationId="{4A52F31A-6792-DDA7-68BE-CDFA43FC05DA}"/>
          </ac:graphicFrameMkLst>
        </pc:graphicFrameChg>
      </pc:sldChg>
      <pc:sldChg chg="addSp modSp add mod">
        <pc:chgData name="adrija bhattacharya" userId="724ec4db8bc51beb" providerId="LiveId" clId="{10159404-DE1B-4E92-BD9B-8AE638DDD844}" dt="2025-12-11T05:06:03.479" v="163" actId="20577"/>
        <pc:sldMkLst>
          <pc:docMk/>
          <pc:sldMk cId="513057435" sldId="448"/>
        </pc:sldMkLst>
        <pc:spChg chg="mod">
          <ac:chgData name="adrija bhattacharya" userId="724ec4db8bc51beb" providerId="LiveId" clId="{10159404-DE1B-4E92-BD9B-8AE638DDD844}" dt="2025-12-11T05:06:03.479" v="163" actId="20577"/>
          <ac:spMkLst>
            <pc:docMk/>
            <pc:sldMk cId="513057435" sldId="448"/>
            <ac:spMk id="3" creationId="{36A01EA0-C00C-EF59-89C8-6C6D18C1D840}"/>
          </ac:spMkLst>
        </pc:spChg>
        <pc:spChg chg="add mod">
          <ac:chgData name="adrija bhattacharya" userId="724ec4db8bc51beb" providerId="LiveId" clId="{10159404-DE1B-4E92-BD9B-8AE638DDD844}" dt="2025-12-11T05:05:43.497" v="141" actId="207"/>
          <ac:spMkLst>
            <pc:docMk/>
            <pc:sldMk cId="513057435" sldId="448"/>
            <ac:spMk id="4" creationId="{875AAE69-7759-20A1-381F-45781A1ADA59}"/>
          </ac:spMkLst>
        </pc:spChg>
      </pc:sldChg>
      <pc:sldChg chg="addSp modSp add mod">
        <pc:chgData name="adrija bhattacharya" userId="724ec4db8bc51beb" providerId="LiveId" clId="{10159404-DE1B-4E92-BD9B-8AE638DDD844}" dt="2025-12-11T05:11:48.440" v="201" actId="108"/>
        <pc:sldMkLst>
          <pc:docMk/>
          <pc:sldMk cId="1561961244" sldId="449"/>
        </pc:sldMkLst>
        <pc:spChg chg="mod">
          <ac:chgData name="adrija bhattacharya" userId="724ec4db8bc51beb" providerId="LiveId" clId="{10159404-DE1B-4E92-BD9B-8AE638DDD844}" dt="2025-12-11T05:11:38.536" v="198" actId="21"/>
          <ac:spMkLst>
            <pc:docMk/>
            <pc:sldMk cId="1561961244" sldId="449"/>
            <ac:spMk id="3" creationId="{7791EDE4-9859-D56E-792E-DF384AE1EBBA}"/>
          </ac:spMkLst>
        </pc:spChg>
        <pc:spChg chg="add mod">
          <ac:chgData name="adrija bhattacharya" userId="724ec4db8bc51beb" providerId="LiveId" clId="{10159404-DE1B-4E92-BD9B-8AE638DDD844}" dt="2025-12-11T05:11:48.440" v="201" actId="108"/>
          <ac:spMkLst>
            <pc:docMk/>
            <pc:sldMk cId="1561961244" sldId="449"/>
            <ac:spMk id="4" creationId="{6CB636F2-6159-C063-2DCB-F8EA4509FA99}"/>
          </ac:spMkLst>
        </pc:spChg>
      </pc:sldChg>
      <pc:sldChg chg="addSp modSp add mod">
        <pc:chgData name="adrija bhattacharya" userId="724ec4db8bc51beb" providerId="LiveId" clId="{10159404-DE1B-4E92-BD9B-8AE638DDD844}" dt="2025-12-11T05:06:39.299" v="172" actId="1076"/>
        <pc:sldMkLst>
          <pc:docMk/>
          <pc:sldMk cId="2789822192" sldId="450"/>
        </pc:sldMkLst>
        <pc:spChg chg="mod">
          <ac:chgData name="adrija bhattacharya" userId="724ec4db8bc51beb" providerId="LiveId" clId="{10159404-DE1B-4E92-BD9B-8AE638DDD844}" dt="2025-12-11T05:06:39.299" v="172" actId="1076"/>
          <ac:spMkLst>
            <pc:docMk/>
            <pc:sldMk cId="2789822192" sldId="450"/>
            <ac:spMk id="3" creationId="{C17C6A82-FA4A-5BE9-5C62-477362ACEBCF}"/>
          </ac:spMkLst>
        </pc:spChg>
        <pc:spChg chg="add mod">
          <ac:chgData name="adrija bhattacharya" userId="724ec4db8bc51beb" providerId="LiveId" clId="{10159404-DE1B-4E92-BD9B-8AE638DDD844}" dt="2025-12-11T05:06:36.516" v="171" actId="14100"/>
          <ac:spMkLst>
            <pc:docMk/>
            <pc:sldMk cId="2789822192" sldId="450"/>
            <ac:spMk id="4" creationId="{9C60E487-E730-417C-D5A6-28022A022B9E}"/>
          </ac:spMkLst>
        </pc:spChg>
      </pc:sldChg>
      <pc:sldChg chg="modSp add del mod">
        <pc:chgData name="adrija bhattacharya" userId="724ec4db8bc51beb" providerId="LiveId" clId="{10159404-DE1B-4E92-BD9B-8AE638DDD844}" dt="2025-12-11T05:06:52.921" v="173" actId="2696"/>
        <pc:sldMkLst>
          <pc:docMk/>
          <pc:sldMk cId="3193315245" sldId="451"/>
        </pc:sldMkLst>
        <pc:spChg chg="mod">
          <ac:chgData name="adrija bhattacharya" userId="724ec4db8bc51beb" providerId="LiveId" clId="{10159404-DE1B-4E92-BD9B-8AE638DDD844}" dt="2025-12-11T05:04:47.630" v="129" actId="27636"/>
          <ac:spMkLst>
            <pc:docMk/>
            <pc:sldMk cId="3193315245" sldId="451"/>
            <ac:spMk id="3" creationId="{2E103DEE-2EDF-E43C-74D4-A1E429FC43CC}"/>
          </ac:spMkLst>
        </pc:spChg>
      </pc:sldChg>
      <pc:sldChg chg="add del">
        <pc:chgData name="adrija bhattacharya" userId="724ec4db8bc51beb" providerId="LiveId" clId="{10159404-DE1B-4E92-BD9B-8AE638DDD844}" dt="2025-12-11T05:06:52.921" v="173" actId="2696"/>
        <pc:sldMkLst>
          <pc:docMk/>
          <pc:sldMk cId="4236954543" sldId="452"/>
        </pc:sldMkLst>
      </pc:sldChg>
      <pc:sldChg chg="add del">
        <pc:chgData name="adrija bhattacharya" userId="724ec4db8bc51beb" providerId="LiveId" clId="{10159404-DE1B-4E92-BD9B-8AE638DDD844}" dt="2025-12-11T05:06:52.921" v="173" actId="2696"/>
        <pc:sldMkLst>
          <pc:docMk/>
          <pc:sldMk cId="3500489047" sldId="4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B7224-C70F-4BA0-A34D-C3F7283EE85D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F86B3-69C5-4EA5-B4F5-E10174B730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4E6923-9902-4FED-B9E6-CE7E5A9F0C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24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1AD799-3DEA-4012-9D39-6B540F45BD5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63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98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081402-F1D0-4A86-9411-CAA8694BCA7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24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5B61A8-E4F9-4D51-91C5-34D3306B159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74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09B06B-3791-4792-B6E6-3EFFAEBB580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25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5243CA-D149-4E54-AE08-ABB8A6EAD56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83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1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9ADB90-76C7-4E57-8A11-1B888B162E8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0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8E73C7-C3CA-40E9-9713-93AFE1100295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F2B8C9-835C-4D5B-BE3F-AEFE62880253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866DA1-77F5-49AF-A640-EB4D0C78084E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1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A1C065-7E0E-4F95-A852-D58E1F626372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40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1F625B-76AC-47D7-BF9C-D67FC3FFD6C7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40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Arial" pitchFamily="34" charset="0"/>
              <a:cs typeface="Browallia New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DF12EA-2A26-4BE0-ACA5-C2C3C1F322B4}" type="slidenum">
              <a:rPr lang="en-US" altLang="en-US">
                <a:solidFill>
                  <a:srgbClr val="000000"/>
                </a:solidFill>
                <a:latin typeface="Calibri" pitchFamily="34" charset="0"/>
              </a:rPr>
              <a:pPr/>
              <a:t>94</a:t>
            </a:fld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Arial" pitchFamily="34" charset="0"/>
              <a:cs typeface="Browallia New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C34D4B7-E7A4-4483-B7B0-99076DA858FD}" type="slidenum">
              <a:rPr lang="en-US" altLang="en-US">
                <a:solidFill>
                  <a:srgbClr val="000000"/>
                </a:solidFill>
                <a:latin typeface="Calibri" pitchFamily="34" charset="0"/>
              </a:rPr>
              <a:pPr/>
              <a:t>95</a:t>
            </a:fld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Arial" pitchFamily="34" charset="0"/>
              <a:cs typeface="Browallia New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205E61D-AB2A-4C97-B436-F80A8929AF5C}" type="slidenum">
              <a:rPr lang="en-US" altLang="en-US">
                <a:solidFill>
                  <a:srgbClr val="000000"/>
                </a:solidFill>
                <a:latin typeface="Calibri" pitchFamily="34" charset="0"/>
              </a:rPr>
              <a:pPr/>
              <a:t>96</a:t>
            </a:fld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Arial" pitchFamily="34" charset="0"/>
              <a:cs typeface="Browallia New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4D09826-2D15-46FF-9FC5-CD8BDAE134F0}" type="slidenum">
              <a:rPr lang="en-US" altLang="en-US">
                <a:solidFill>
                  <a:srgbClr val="000000"/>
                </a:solidFill>
                <a:latin typeface="Calibri" pitchFamily="34" charset="0"/>
              </a:rPr>
              <a:pPr/>
              <a:t>97</a:t>
            </a:fld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784695-003A-4117-BD72-3C081A00938E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8E6FBD-1018-4157-9DA8-593A415BCF21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AB3DFF-3677-4D4F-B77B-1C75916079D8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>
              <a:latin typeface="Arial" pitchFamily="34" charset="0"/>
              <a:cs typeface="Browallia New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02F45B6-7E59-45B3-962B-05953AAFC848}" type="slidenum">
              <a:rPr lang="en-US" altLang="en-US"/>
              <a:pPr/>
              <a:t>135</a:t>
            </a:fld>
            <a:endParaRPr lang="th-TH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57CA41-C40C-4723-8079-934ED2440584}" type="slidenum">
              <a:rPr lang="en-US" smtClean="0"/>
              <a:pPr/>
              <a:t>151</a:t>
            </a:fld>
            <a:endParaRPr lang="en-US"/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52B58-30DE-4486-B3D2-0F9875703BAE}" type="slidenum">
              <a:rPr lang="en-US" smtClean="0"/>
              <a:pPr/>
              <a:t>152</a:t>
            </a:fld>
            <a:endParaRPr lang="en-US"/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4AB0E4-8E8E-4033-BD2C-C78016CCF1A5}" type="slidenum">
              <a:rPr lang="en-US" smtClean="0"/>
              <a:pPr/>
              <a:t>153</a:t>
            </a:fld>
            <a:endParaRPr lang="en-US"/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41913-9C83-40AE-8E0F-3E675A0D39B6}" type="slidenum">
              <a:rPr lang="en-US" smtClean="0"/>
              <a:pPr/>
              <a:t>154</a:t>
            </a:fld>
            <a:endParaRPr lang="en-US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DB5C-6554-44EA-8591-52D7B9AA1524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D279-6259-48E7-B107-C2020888BE10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89A22-CF1C-4008-B536-F8951B324888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DDE9-55BC-4645-BAC1-41B51E19B410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24FE-4F60-49B8-8727-40117B678093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78251-3D30-45EE-84D1-68DFE1049F18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B25EE-C510-49EB-BD94-CAC19648FE66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D4BD-72F8-4E65-8500-06A43C62A363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E354-8DAF-4248-9985-EAFD1D4621C3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04BB-EA07-437C-8473-E5A4022CED16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AE08-36BF-41B5-84B9-BEBC8D2AA0F3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17480-8831-4B21-A907-9946355069AE}" type="datetime1">
              <a:rPr lang="en-US" smtClean="0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1DC69-A087-48A1-BEFA-42CE064C54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260350"/>
            <a:ext cx="8353425" cy="6588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95288" y="1268413"/>
            <a:ext cx="8353425" cy="5113337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8438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1ACA2-F044-4A9D-8D76-80D8B7016064}" type="datetime1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C2DA4-9A42-4281-A200-2A7A20238C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4.wmf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5.bin"/><Relationship Id="rId3" Type="http://schemas.openxmlformats.org/officeDocument/2006/relationships/image" Target="../media/image5.wmf"/><Relationship Id="rId21" Type="http://schemas.openxmlformats.org/officeDocument/2006/relationships/image" Target="../media/image13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1.wmf"/><Relationship Id="rId25" Type="http://schemas.openxmlformats.org/officeDocument/2006/relationships/image" Target="../media/image15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29" Type="http://schemas.openxmlformats.org/officeDocument/2006/relationships/image" Target="../media/image1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4.bin"/><Relationship Id="rId5" Type="http://schemas.openxmlformats.org/officeDocument/2006/relationships/image" Target="../media/image6.wmf"/><Relationship Id="rId15" Type="http://schemas.openxmlformats.org/officeDocument/2006/relationships/image" Target="../media/image10.wmf"/><Relationship Id="rId23" Type="http://schemas.openxmlformats.org/officeDocument/2006/relationships/image" Target="../media/image14.wmf"/><Relationship Id="rId28" Type="http://schemas.openxmlformats.org/officeDocument/2006/relationships/oleObject" Target="../embeddings/oleObject16.bin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6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4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1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0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3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6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9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6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64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7" Type="http://schemas.openxmlformats.org/officeDocument/2006/relationships/image" Target="../media/image85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68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89.wmf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74.bin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76.bin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98.wmf"/><Relationship Id="rId18" Type="http://schemas.openxmlformats.org/officeDocument/2006/relationships/oleObject" Target="../embeddings/oleObject86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99.w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5" Type="http://schemas.openxmlformats.org/officeDocument/2006/relationships/oleObject" Target="../embeddings/oleObject84.bin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100.w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96.wmf"/><Relationship Id="rId14" Type="http://schemas.openxmlformats.org/officeDocument/2006/relationships/oleObject" Target="../embeddings/oleObject83.bin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88.bin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emf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90.bin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oleObject" Target="../embeddings/oleObject91.bin"/><Relationship Id="rId7" Type="http://schemas.openxmlformats.org/officeDocument/2006/relationships/image" Target="../media/image112.wmf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1.wmf"/><Relationship Id="rId9" Type="http://schemas.openxmlformats.org/officeDocument/2006/relationships/image" Target="../media/image113.wmf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97.bin"/><Relationship Id="rId4" Type="http://schemas.openxmlformats.org/officeDocument/2006/relationships/oleObject" Target="../embeddings/oleObject96.bin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99.bin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101.bin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BCSE304L</a:t>
            </a:r>
          </a:p>
          <a:p>
            <a:r>
              <a:rPr lang="en-US" dirty="0"/>
              <a:t>Dr. Adrija Bhattacharya</a:t>
            </a:r>
          </a:p>
          <a:p>
            <a:r>
              <a:rPr lang="en-US" dirty="0"/>
              <a:t>VIT, Vellore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52400" y="990600"/>
            <a:ext cx="8915400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ja-JP" altLang="en-US" sz="2300"/>
              <a:t> </a:t>
            </a:r>
            <a:r>
              <a:rPr lang="en-US" altLang="ja-JP" sz="2300" dirty="0"/>
              <a:t>A</a:t>
            </a:r>
            <a:r>
              <a:rPr lang="en-US" altLang="ja-JP" sz="2300" dirty="0">
                <a:solidFill>
                  <a:srgbClr val="CC0000"/>
                </a:solidFill>
              </a:rPr>
              <a:t> theorem </a:t>
            </a:r>
            <a:r>
              <a:rPr lang="en-US" altLang="ja-JP" sz="2300" dirty="0"/>
              <a:t>is a statement that can be shown to be true.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300" dirty="0"/>
              <a:t> A </a:t>
            </a:r>
            <a:r>
              <a:rPr lang="en-US" altLang="ja-JP" sz="2300" dirty="0">
                <a:solidFill>
                  <a:srgbClr val="CC0000"/>
                </a:solidFill>
              </a:rPr>
              <a:t>proof</a:t>
            </a:r>
            <a:r>
              <a:rPr lang="en-US" altLang="ja-JP" sz="2300" dirty="0"/>
              <a:t> is to demonstrate that a theorem is true with a sequence of statements that form an argument.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300" dirty="0"/>
              <a:t> An </a:t>
            </a:r>
            <a:r>
              <a:rPr lang="en-US" altLang="ja-JP" sz="2300" dirty="0">
                <a:solidFill>
                  <a:srgbClr val="CC0000"/>
                </a:solidFill>
              </a:rPr>
              <a:t>axiom</a:t>
            </a:r>
            <a:r>
              <a:rPr lang="en-US" altLang="ja-JP" sz="2300" dirty="0"/>
              <a:t> or postulate is the underlying assumption about mathematical structures, the hypothesis of the theorem to be proved, and previously proved theorems.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300" dirty="0"/>
              <a:t> The </a:t>
            </a:r>
            <a:r>
              <a:rPr lang="en-US" altLang="ja-JP" sz="2300" dirty="0">
                <a:solidFill>
                  <a:srgbClr val="CC0000"/>
                </a:solidFill>
              </a:rPr>
              <a:t>rules</a:t>
            </a:r>
            <a:r>
              <a:rPr lang="en-US" altLang="ja-JP" sz="2300" dirty="0"/>
              <a:t> </a:t>
            </a:r>
            <a:r>
              <a:rPr lang="en-US" altLang="ja-JP" sz="2300" dirty="0">
                <a:solidFill>
                  <a:srgbClr val="CC0000"/>
                </a:solidFill>
              </a:rPr>
              <a:t>of inference</a:t>
            </a:r>
            <a:r>
              <a:rPr lang="en-US" altLang="ja-JP" sz="2300" dirty="0"/>
              <a:t> are the means used to draw conclusion from other assertions which tie together the steps of a proof.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300" dirty="0"/>
              <a:t> A </a:t>
            </a:r>
            <a:r>
              <a:rPr lang="en-US" altLang="ja-JP" sz="2300" dirty="0">
                <a:solidFill>
                  <a:srgbClr val="CC0000"/>
                </a:solidFill>
              </a:rPr>
              <a:t>lemma </a:t>
            </a:r>
            <a:r>
              <a:rPr lang="en-US" altLang="ja-JP" sz="2300" dirty="0"/>
              <a:t>is a simple theorem used in the proof of other theorems.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300" dirty="0"/>
              <a:t> A </a:t>
            </a:r>
            <a:r>
              <a:rPr lang="en-US" altLang="ja-JP" sz="2300" dirty="0">
                <a:solidFill>
                  <a:srgbClr val="CC0000"/>
                </a:solidFill>
              </a:rPr>
              <a:t>corollary</a:t>
            </a:r>
            <a:r>
              <a:rPr lang="en-US" altLang="ja-JP" sz="2300" dirty="0"/>
              <a:t> is a proposition that can be established directly from a theorem that has been proved.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300" dirty="0"/>
              <a:t> A </a:t>
            </a:r>
            <a:r>
              <a:rPr lang="en-US" altLang="ja-JP" sz="2300" dirty="0">
                <a:solidFill>
                  <a:srgbClr val="CC0000"/>
                </a:solidFill>
              </a:rPr>
              <a:t>conjecture</a:t>
            </a:r>
            <a:r>
              <a:rPr lang="en-US" altLang="ja-JP" sz="2300" dirty="0"/>
              <a:t> is a statement whose truth is unknown. When its proof is found, it becomes a theorem.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228600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3600" dirty="0">
                <a:solidFill>
                  <a:srgbClr val="FF0000"/>
                </a:solidFill>
              </a:rPr>
              <a:t>Methods of proof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5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FF0000"/>
                </a:solidFill>
              </a:rPr>
              <a:t>On Theorems, Lemmas and Corollaries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2325687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We typically refer to: </a:t>
            </a:r>
          </a:p>
          <a:p>
            <a:r>
              <a:rPr lang="en-US" sz="2000" dirty="0"/>
              <a:t>A major result as a “</a:t>
            </a:r>
            <a:r>
              <a:rPr lang="en-US" sz="2000" b="1" dirty="0">
                <a:solidFill>
                  <a:srgbClr val="FF0000"/>
                </a:solidFill>
              </a:rPr>
              <a:t>theorem</a:t>
            </a:r>
            <a:r>
              <a:rPr lang="en-US" sz="2000" dirty="0"/>
              <a:t>”</a:t>
            </a:r>
          </a:p>
          <a:p>
            <a:r>
              <a:rPr lang="en-US" sz="2000" dirty="0"/>
              <a:t>An intermediate result that we show to prove a larger result as a “</a:t>
            </a:r>
            <a:r>
              <a:rPr lang="en-US" sz="2000" b="1" dirty="0">
                <a:solidFill>
                  <a:srgbClr val="FF0000"/>
                </a:solidFill>
              </a:rPr>
              <a:t>lemma</a:t>
            </a:r>
            <a:r>
              <a:rPr lang="en-US" sz="2000" dirty="0"/>
              <a:t>”</a:t>
            </a:r>
          </a:p>
          <a:p>
            <a:r>
              <a:rPr lang="en-US" sz="2000" dirty="0"/>
              <a:t>A result that follows from an already proven result as a “</a:t>
            </a:r>
            <a:r>
              <a:rPr lang="en-US" sz="2000" b="1" dirty="0">
                <a:solidFill>
                  <a:srgbClr val="FF0000"/>
                </a:solidFill>
              </a:rPr>
              <a:t>corollary</a:t>
            </a:r>
            <a:r>
              <a:rPr lang="en-US" sz="2000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DAD73C-F6BB-482C-BA0B-7DFCC81CCDD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1" y="4267200"/>
            <a:ext cx="5181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example:</a:t>
            </a:r>
          </a:p>
          <a:p>
            <a:r>
              <a:rPr lang="en-US" sz="2000" b="1" u="sng" dirty="0"/>
              <a:t>Theorem:</a:t>
            </a:r>
            <a:r>
              <a:rPr lang="en-US" sz="2000" dirty="0"/>
              <a:t> </a:t>
            </a:r>
            <a:r>
              <a:rPr lang="en-US" sz="2000" i="1" dirty="0"/>
              <a:t>The height of an n-node binary tree is at least floor(</a:t>
            </a:r>
            <a:r>
              <a:rPr lang="en-US" sz="2000" i="1" dirty="0" err="1"/>
              <a:t>lg</a:t>
            </a:r>
            <a:r>
              <a:rPr lang="en-US" sz="2000" i="1" dirty="0"/>
              <a:t> n)</a:t>
            </a:r>
          </a:p>
          <a:p>
            <a:r>
              <a:rPr lang="en-US" sz="2000" b="1" u="sng" dirty="0"/>
              <a:t>Lemma:</a:t>
            </a:r>
            <a:r>
              <a:rPr lang="en-US" sz="2000" dirty="0"/>
              <a:t> </a:t>
            </a:r>
            <a:r>
              <a:rPr lang="en-US" sz="2000" i="1" dirty="0"/>
              <a:t>Level </a:t>
            </a:r>
            <a:r>
              <a:rPr lang="en-US" sz="2000" i="1" dirty="0" err="1"/>
              <a:t>i</a:t>
            </a:r>
            <a:r>
              <a:rPr lang="en-US" sz="2000" i="1" dirty="0"/>
              <a:t> of a perfect binary tree has 2</a:t>
            </a:r>
            <a:r>
              <a:rPr lang="en-US" sz="2000" i="1" baseline="30000" dirty="0"/>
              <a:t>i</a:t>
            </a:r>
            <a:r>
              <a:rPr lang="en-US" sz="2000" i="1" dirty="0"/>
              <a:t> nodes.</a:t>
            </a:r>
            <a:r>
              <a:rPr lang="en-US" sz="2000" dirty="0"/>
              <a:t> </a:t>
            </a:r>
          </a:p>
          <a:p>
            <a:r>
              <a:rPr lang="en-US" sz="2000" b="1" u="sng" dirty="0"/>
              <a:t>Corollary:</a:t>
            </a:r>
            <a:r>
              <a:rPr lang="en-US" sz="2000" dirty="0"/>
              <a:t> </a:t>
            </a:r>
            <a:r>
              <a:rPr lang="en-US" sz="2000" i="1" dirty="0"/>
              <a:t>A perfect binary tree of height h has 2</a:t>
            </a:r>
            <a:r>
              <a:rPr lang="en-US" sz="2000" i="1" baseline="30000" dirty="0"/>
              <a:t>h+1</a:t>
            </a:r>
            <a:r>
              <a:rPr lang="en-US" sz="2000" i="1" dirty="0"/>
              <a:t>-1 nodes.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781800" y="42672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6400800" y="48006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7239000" y="48006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9436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6294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71628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79248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cxnSp>
        <p:nvCxnSpPr>
          <p:cNvPr id="15" name="Straight Connector 14"/>
          <p:cNvCxnSpPr>
            <a:stCxn id="6" idx="4"/>
            <a:endCxn id="7" idx="0"/>
          </p:cNvCxnSpPr>
          <p:nvPr/>
        </p:nvCxnSpPr>
        <p:spPr bwMode="auto">
          <a:xfrm flipH="1">
            <a:off x="6591300" y="4572000"/>
            <a:ext cx="3810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7" idx="4"/>
            <a:endCxn id="10" idx="0"/>
          </p:cNvCxnSpPr>
          <p:nvPr/>
        </p:nvCxnSpPr>
        <p:spPr bwMode="auto">
          <a:xfrm flipH="1">
            <a:off x="6134100" y="5105400"/>
            <a:ext cx="4572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6" idx="4"/>
            <a:endCxn id="8" idx="0"/>
          </p:cNvCxnSpPr>
          <p:nvPr/>
        </p:nvCxnSpPr>
        <p:spPr bwMode="auto">
          <a:xfrm>
            <a:off x="6972300" y="4572000"/>
            <a:ext cx="4572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7" idx="4"/>
            <a:endCxn id="11" idx="0"/>
          </p:cNvCxnSpPr>
          <p:nvPr/>
        </p:nvCxnSpPr>
        <p:spPr bwMode="auto">
          <a:xfrm>
            <a:off x="6591300" y="5105400"/>
            <a:ext cx="2286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8" idx="4"/>
            <a:endCxn id="12" idx="0"/>
          </p:cNvCxnSpPr>
          <p:nvPr/>
        </p:nvCxnSpPr>
        <p:spPr bwMode="auto">
          <a:xfrm flipH="1">
            <a:off x="7353300" y="5105400"/>
            <a:ext cx="762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stCxn id="8" idx="4"/>
            <a:endCxn id="13" idx="0"/>
          </p:cNvCxnSpPr>
          <p:nvPr/>
        </p:nvCxnSpPr>
        <p:spPr bwMode="auto">
          <a:xfrm>
            <a:off x="7429500" y="5105400"/>
            <a:ext cx="6858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228600" y="4114800"/>
            <a:ext cx="868680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6620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2698C2-4AD3-4A53-9B0E-F7978B60FBA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Deductive Proofs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 i="1">
                <a:solidFill>
                  <a:srgbClr val="C00000"/>
                </a:solidFill>
              </a:rPr>
              <a:t>From the given statement(s) to a conclusion statement (what we want to prove)</a:t>
            </a:r>
          </a:p>
          <a:p>
            <a:pPr eaLnBrk="1" hangingPunct="1"/>
            <a:r>
              <a:rPr lang="en-US" sz="2800"/>
              <a:t>Logical progression by direct implications</a:t>
            </a:r>
          </a:p>
          <a:p>
            <a:pPr eaLnBrk="1" hangingPunct="1">
              <a:buFont typeface="Wingdings" pitchFamily="28" charset="2"/>
              <a:buNone/>
            </a:pPr>
            <a:endParaRPr lang="en-US" sz="2800"/>
          </a:p>
          <a:p>
            <a:pPr eaLnBrk="1" hangingPunct="1">
              <a:buFont typeface="Wingdings" pitchFamily="28" charset="2"/>
              <a:buNone/>
            </a:pPr>
            <a:r>
              <a:rPr lang="en-US" sz="2800"/>
              <a:t>Example for parsing a statement:</a:t>
            </a:r>
          </a:p>
          <a:p>
            <a:pPr eaLnBrk="1" hangingPunct="1"/>
            <a:r>
              <a:rPr lang="en-US" sz="2800"/>
              <a:t>“If y≥4,    then 2</a:t>
            </a:r>
            <a:r>
              <a:rPr lang="en-US" sz="2800" baseline="30000"/>
              <a:t>y</a:t>
            </a:r>
            <a:r>
              <a:rPr lang="en-US" sz="2800"/>
              <a:t>≥y</a:t>
            </a:r>
            <a:r>
              <a:rPr lang="en-US" sz="2800" baseline="30000"/>
              <a:t>2</a:t>
            </a:r>
            <a:r>
              <a:rPr lang="en-US" sz="2800"/>
              <a:t>.”</a:t>
            </a:r>
          </a:p>
          <a:p>
            <a:pPr eaLnBrk="1" hangingPunct="1"/>
            <a:endParaRPr lang="en-US" sz="2800"/>
          </a:p>
          <a:p>
            <a:pPr eaLnBrk="1" hangingPunct="1">
              <a:buFont typeface="Wingdings" pitchFamily="28" charset="2"/>
              <a:buNone/>
            </a:pPr>
            <a:endParaRPr lang="en-US" sz="2800"/>
          </a:p>
          <a:p>
            <a:pPr eaLnBrk="1" hangingPunct="1">
              <a:buFont typeface="Wingdings" pitchFamily="28" charset="2"/>
              <a:buNone/>
            </a:pPr>
            <a:r>
              <a:rPr lang="en-US" sz="2200"/>
              <a:t>(there are other ways of writing this).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1828800" y="5095875"/>
            <a:ext cx="922338" cy="461963"/>
          </a:xfrm>
          <a:prstGeom prst="rect">
            <a:avLst/>
          </a:prstGeom>
          <a:solidFill>
            <a:srgbClr val="CCFFCC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given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386138" y="5105400"/>
            <a:ext cx="1633537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conclusion</a:t>
            </a:r>
          </a:p>
        </p:txBody>
      </p:sp>
      <p:cxnSp>
        <p:nvCxnSpPr>
          <p:cNvPr id="29703" name="Straight Connector 7"/>
          <p:cNvCxnSpPr>
            <a:cxnSpLocks noChangeShapeType="1"/>
          </p:cNvCxnSpPr>
          <p:nvPr/>
        </p:nvCxnSpPr>
        <p:spPr bwMode="auto">
          <a:xfrm>
            <a:off x="3048000" y="4495800"/>
            <a:ext cx="0" cy="14478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56401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F23A56-62A3-4AC0-B6CC-A0963234C35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Example: Deductive proof 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dirty="0">
                <a:solidFill>
                  <a:srgbClr val="7030A0"/>
                </a:solidFill>
              </a:rPr>
              <a:t>Let </a:t>
            </a:r>
            <a:r>
              <a:rPr lang="en-US" sz="2000" b="1" i="1" u="sng" dirty="0">
                <a:solidFill>
                  <a:srgbClr val="7030A0"/>
                </a:solidFill>
              </a:rPr>
              <a:t>Claim 1:</a:t>
            </a:r>
            <a:r>
              <a:rPr lang="en-US" sz="2000" b="1" i="1" dirty="0">
                <a:solidFill>
                  <a:srgbClr val="7030A0"/>
                </a:solidFill>
              </a:rPr>
              <a:t> If y≥4, then 2</a:t>
            </a:r>
            <a:r>
              <a:rPr lang="en-US" sz="2000" b="1" i="1" baseline="30000" dirty="0">
                <a:solidFill>
                  <a:srgbClr val="7030A0"/>
                </a:solidFill>
              </a:rPr>
              <a:t>y</a:t>
            </a:r>
            <a:r>
              <a:rPr lang="en-US" sz="2000" b="1" i="1" dirty="0">
                <a:solidFill>
                  <a:srgbClr val="7030A0"/>
                </a:solidFill>
              </a:rPr>
              <a:t>≥y</a:t>
            </a:r>
            <a:r>
              <a:rPr lang="en-US" sz="2000" b="1" i="1" baseline="30000" dirty="0">
                <a:solidFill>
                  <a:srgbClr val="7030A0"/>
                </a:solidFill>
              </a:rPr>
              <a:t>2</a:t>
            </a:r>
            <a:r>
              <a:rPr lang="en-US" sz="2000" b="1" i="1" dirty="0">
                <a:solidFill>
                  <a:srgbClr val="7030A0"/>
                </a:solidFill>
              </a:rPr>
              <a:t>. </a:t>
            </a:r>
          </a:p>
          <a:p>
            <a:pPr eaLnBrk="1" hangingPunct="1">
              <a:buFont typeface="Wingdings" pitchFamily="28" charset="2"/>
              <a:buNone/>
              <a:defRPr/>
            </a:pPr>
            <a:endParaRPr lang="en-US" sz="2000" b="1" i="1" dirty="0">
              <a:solidFill>
                <a:srgbClr val="7030A0"/>
              </a:solidFill>
            </a:endParaRPr>
          </a:p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dirty="0">
                <a:solidFill>
                  <a:srgbClr val="7030A0"/>
                </a:solidFill>
              </a:rPr>
              <a:t>Let x be any number which is obtained by adding the squares of 4 positive integers.</a:t>
            </a:r>
          </a:p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u="sng" dirty="0">
                <a:solidFill>
                  <a:srgbClr val="7030A0"/>
                </a:solidFill>
              </a:rPr>
              <a:t>Claim 2:</a:t>
            </a:r>
          </a:p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dirty="0">
                <a:solidFill>
                  <a:srgbClr val="7030A0"/>
                </a:solidFill>
              </a:rPr>
              <a:t>Given x and assuming that Claim 1 is true, prove that 2</a:t>
            </a:r>
            <a:r>
              <a:rPr lang="en-US" sz="2000" b="1" i="1" baseline="30000" dirty="0">
                <a:solidFill>
                  <a:srgbClr val="7030A0"/>
                </a:solidFill>
              </a:rPr>
              <a:t>x</a:t>
            </a:r>
            <a:r>
              <a:rPr lang="en-US" sz="2000" b="1" i="1" dirty="0">
                <a:solidFill>
                  <a:srgbClr val="7030A0"/>
                </a:solidFill>
              </a:rPr>
              <a:t>≥x</a:t>
            </a:r>
            <a:r>
              <a:rPr lang="en-US" sz="2000" b="1" i="1" baseline="30000" dirty="0">
                <a:solidFill>
                  <a:srgbClr val="7030A0"/>
                </a:solidFill>
              </a:rPr>
              <a:t>2</a:t>
            </a:r>
          </a:p>
          <a:p>
            <a:pPr marL="609600" indent="-609600" eaLnBrk="1" hangingPunct="1">
              <a:lnSpc>
                <a:spcPct val="90000"/>
              </a:lnSpc>
              <a:defRPr/>
            </a:pPr>
            <a:r>
              <a:rPr lang="en-US" sz="2000" u="sng" dirty="0"/>
              <a:t>Proof: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/>
              <a:t>Given: x = 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+ c</a:t>
            </a:r>
            <a:r>
              <a:rPr lang="en-US" sz="2000" baseline="30000" dirty="0"/>
              <a:t>2</a:t>
            </a:r>
            <a:r>
              <a:rPr lang="en-US" sz="2000" dirty="0"/>
              <a:t> + d</a:t>
            </a:r>
            <a:r>
              <a:rPr lang="en-US" sz="2000" baseline="30000" dirty="0"/>
              <a:t>2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/>
              <a:t>Given: a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b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c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d</a:t>
            </a:r>
            <a:r>
              <a:rPr lang="en-US" sz="2000" dirty="0">
                <a:cs typeface="Arial" charset="0"/>
              </a:rPr>
              <a:t>≥1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>
                <a:cs typeface="Arial" charset="0"/>
                <a:sym typeface="Wingdings" pitchFamily="28" charset="2"/>
              </a:rPr>
              <a:t>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b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c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d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	</a:t>
            </a:r>
            <a:r>
              <a:rPr lang="en-US" sz="2000" dirty="0">
                <a:solidFill>
                  <a:schemeClr val="folHlink"/>
                </a:solidFill>
                <a:cs typeface="Arial" charset="0"/>
              </a:rPr>
              <a:t>(by 2)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>
                <a:cs typeface="Arial" charset="0"/>
                <a:sym typeface="Wingdings" pitchFamily="28" charset="2"/>
              </a:rPr>
              <a:t> x </a:t>
            </a:r>
            <a:r>
              <a:rPr lang="en-US" sz="2000" dirty="0">
                <a:cs typeface="Arial" charset="0"/>
              </a:rPr>
              <a:t>≥ 4			</a:t>
            </a:r>
            <a:r>
              <a:rPr lang="en-US" sz="2000" dirty="0">
                <a:solidFill>
                  <a:schemeClr val="folHlink"/>
                </a:solidFill>
                <a:cs typeface="Arial" charset="0"/>
              </a:rPr>
              <a:t>(by 1 &amp; 3)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>
                <a:cs typeface="Arial" charset="0"/>
                <a:sym typeface="Wingdings" pitchFamily="28" charset="2"/>
              </a:rPr>
              <a:t> 2</a:t>
            </a:r>
            <a:r>
              <a:rPr lang="en-US" sz="2000" baseline="30000" dirty="0">
                <a:cs typeface="Arial" charset="0"/>
                <a:sym typeface="Wingdings" pitchFamily="28" charset="2"/>
              </a:rPr>
              <a:t>x</a:t>
            </a:r>
            <a:r>
              <a:rPr lang="en-US" sz="2000" dirty="0">
                <a:cs typeface="Arial" charset="0"/>
                <a:sym typeface="Wingdings" pitchFamily="28" charset="2"/>
              </a:rPr>
              <a:t> </a:t>
            </a:r>
            <a:r>
              <a:rPr lang="en-US" sz="2000" dirty="0">
                <a:cs typeface="Arial" charset="0"/>
              </a:rPr>
              <a:t>≥ x</a:t>
            </a:r>
            <a:r>
              <a:rPr lang="en-US" sz="2000" baseline="30000" dirty="0">
                <a:cs typeface="Arial" charset="0"/>
              </a:rPr>
              <a:t>2</a:t>
            </a:r>
            <a:r>
              <a:rPr lang="en-US" sz="2000" dirty="0">
                <a:cs typeface="Arial" charset="0"/>
              </a:rPr>
              <a:t>			</a:t>
            </a:r>
            <a:r>
              <a:rPr lang="en-US" sz="2000" dirty="0">
                <a:solidFill>
                  <a:schemeClr val="folHlink"/>
                </a:solidFill>
                <a:cs typeface="Arial" charset="0"/>
              </a:rPr>
              <a:t>(by 4 and Claim 1) </a:t>
            </a:r>
            <a:r>
              <a:rPr lang="en-US" sz="2000" dirty="0">
                <a:cs typeface="Arial" charset="0"/>
              </a:rPr>
              <a:t>								</a:t>
            </a:r>
          </a:p>
        </p:txBody>
      </p:sp>
      <p:sp>
        <p:nvSpPr>
          <p:cNvPr id="91140" name="Line 4"/>
          <p:cNvSpPr>
            <a:spLocks noChangeShapeType="1"/>
          </p:cNvSpPr>
          <p:nvPr/>
        </p:nvSpPr>
        <p:spPr bwMode="auto">
          <a:xfrm flipV="1">
            <a:off x="1219200" y="4953000"/>
            <a:ext cx="304800" cy="12192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152400" y="6172200"/>
            <a:ext cx="2455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>
                <a:solidFill>
                  <a:schemeClr val="hlink"/>
                </a:solidFill>
              </a:rPr>
              <a:t>“implies” </a:t>
            </a:r>
            <a:r>
              <a:rPr lang="en-US" sz="2000">
                <a:solidFill>
                  <a:schemeClr val="hlink"/>
                </a:solidFill>
              </a:rPr>
              <a:t>or </a:t>
            </a:r>
            <a:r>
              <a:rPr lang="en-US" sz="2000" i="1">
                <a:solidFill>
                  <a:schemeClr val="hlink"/>
                </a:solidFill>
              </a:rPr>
              <a:t>“follows”</a:t>
            </a:r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8077200" y="6324600"/>
            <a:ext cx="228600" cy="152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6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  <p:bldP spid="91140" grpId="0" animBg="1"/>
      <p:bldP spid="91141" grpId="0"/>
      <p:bldP spid="911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3539FA-E8CE-49B0-8031-3B14F05BC14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Quantifiers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i="1" dirty="0"/>
              <a:t>“For all” </a:t>
            </a:r>
            <a:r>
              <a:rPr lang="en-US" sz="2800" dirty="0"/>
              <a:t>or “</a:t>
            </a:r>
            <a:r>
              <a:rPr lang="en-US" sz="2800" i="1" dirty="0"/>
              <a:t>For every”</a:t>
            </a:r>
            <a:r>
              <a:rPr lang="en-US" sz="2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Universal proofs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Notation=		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i="1" dirty="0"/>
              <a:t>“There exists”</a:t>
            </a:r>
            <a:endParaRPr 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Used in existential proofs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Notation=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dirty="0"/>
              <a:t>Implication is denoted by =&gt;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E.g., “IF A THEN B” can also be written as “A=&gt;B”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505200"/>
            <a:ext cx="939800" cy="939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000" y="23622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4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5351FA-A966-4DCB-955B-1CAE690B4F1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solidFill>
                  <a:srgbClr val="FF0000"/>
                </a:solidFill>
              </a:rPr>
              <a:t>Different ways of saying the same thing 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90000"/>
              </a:lnSpc>
            </a:pPr>
            <a:r>
              <a:rPr lang="en-US"/>
              <a:t>“</a:t>
            </a:r>
            <a:r>
              <a:rPr lang="en-US" i="1"/>
              <a:t>If</a:t>
            </a:r>
            <a:r>
              <a:rPr lang="en-US"/>
              <a:t> H </a:t>
            </a:r>
            <a:r>
              <a:rPr lang="en-US" i="1"/>
              <a:t>then </a:t>
            </a:r>
            <a:r>
              <a:rPr lang="en-US"/>
              <a:t>C”: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/>
              <a:t>H </a:t>
            </a:r>
            <a:r>
              <a:rPr lang="en-US" i="1"/>
              <a:t>implies</a:t>
            </a:r>
            <a:r>
              <a:rPr lang="en-US"/>
              <a:t> C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 i="1"/>
              <a:t>H =&gt; C</a:t>
            </a:r>
            <a:r>
              <a:rPr lang="en-US"/>
              <a:t> 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/>
              <a:t>C </a:t>
            </a:r>
            <a:r>
              <a:rPr lang="en-US" i="1"/>
              <a:t>if </a:t>
            </a:r>
            <a:r>
              <a:rPr lang="en-US"/>
              <a:t>H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/>
              <a:t>H </a:t>
            </a:r>
            <a:r>
              <a:rPr lang="en-US" i="1"/>
              <a:t>only if</a:t>
            </a:r>
            <a:r>
              <a:rPr lang="en-US"/>
              <a:t> C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 i="1"/>
              <a:t>Whenever </a:t>
            </a:r>
            <a:r>
              <a:rPr lang="en-US"/>
              <a:t>H </a:t>
            </a:r>
            <a:r>
              <a:rPr lang="en-US" i="1"/>
              <a:t>holds</a:t>
            </a:r>
            <a:r>
              <a:rPr lang="en-US"/>
              <a:t>, C </a:t>
            </a:r>
            <a:r>
              <a:rPr lang="en-US" i="1"/>
              <a:t>follows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endParaRPr lang="en-US" i="1"/>
          </a:p>
          <a:p>
            <a:pPr marL="660400" indent="-660400" eaLnBrk="1" hangingPunct="1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7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5DD96F-32F1-4D03-A4A7-829D44A6DA7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pPr eaLnBrk="1" hangingPunct="1"/>
            <a:r>
              <a:rPr lang="en-US" i="1" dirty="0">
                <a:solidFill>
                  <a:srgbClr val="FF0000"/>
                </a:solidFill>
              </a:rPr>
              <a:t>“If-and-Only-If”</a:t>
            </a:r>
            <a:r>
              <a:rPr lang="en-US" dirty="0">
                <a:solidFill>
                  <a:srgbClr val="FF0000"/>
                </a:solidFill>
              </a:rPr>
              <a:t> statements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“A if and only if B”  	(A &lt;==&gt; B)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(if part)</a:t>
            </a:r>
            <a:r>
              <a:rPr lang="en-US" sz="2400"/>
              <a:t> if B then A  	( &lt;= 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(only if part)</a:t>
            </a:r>
            <a:r>
              <a:rPr lang="en-US" sz="2400"/>
              <a:t> A only if B 	( =&gt; )</a:t>
            </a:r>
            <a:br>
              <a:rPr lang="en-US" sz="2400"/>
            </a:br>
            <a:r>
              <a:rPr lang="en-US" sz="2400"/>
              <a:t>			(same as “if A then B”)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“If and only if” is abbreviated as “iff”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i.e., “A iff B”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 </a:t>
            </a:r>
            <a:r>
              <a:rPr lang="en-US" sz="2800" u="sng"/>
              <a:t>Example: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 u="sng"/>
              <a:t>Theorem:</a:t>
            </a:r>
            <a:r>
              <a:rPr lang="en-US" sz="2400">
                <a:solidFill>
                  <a:schemeClr val="hlink"/>
                </a:solidFill>
              </a:rPr>
              <a:t> </a:t>
            </a:r>
            <a:r>
              <a:rPr lang="en-US" sz="2400" i="1">
                <a:solidFill>
                  <a:schemeClr val="hlink"/>
                </a:solidFill>
              </a:rPr>
              <a:t>Let x be a real number. Then floor of x = ceiling of x </a:t>
            </a:r>
            <a:r>
              <a:rPr lang="en-US" sz="2400" i="1" u="sng">
                <a:solidFill>
                  <a:schemeClr val="hlink"/>
                </a:solidFill>
              </a:rPr>
              <a:t>if and only if</a:t>
            </a:r>
            <a:r>
              <a:rPr lang="en-US" sz="2400" i="1">
                <a:solidFill>
                  <a:schemeClr val="hlink"/>
                </a:solidFill>
              </a:rPr>
              <a:t> x is an integer.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Proofs for iff have two parts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One for the “if part” &amp; another for the “only if part”</a:t>
            </a:r>
          </a:p>
        </p:txBody>
      </p:sp>
    </p:spTree>
    <p:extLst>
      <p:ext uri="{BB962C8B-B14F-4D97-AF65-F5344CB8AC3E}">
        <p14:creationId xmlns:p14="http://schemas.microsoft.com/office/powerpoint/2010/main" val="311957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487740"/>
            <a:ext cx="8763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ja-JP" sz="3200" dirty="0">
                <a:solidFill>
                  <a:srgbClr val="CC0000"/>
                </a:solidFill>
              </a:rPr>
              <a:t>Rules of Inference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04800" y="1021140"/>
            <a:ext cx="8305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 dirty="0">
                <a:solidFill>
                  <a:srgbClr val="CC0000"/>
                </a:solidFill>
              </a:rPr>
              <a:t>The rules of inference</a:t>
            </a:r>
            <a:r>
              <a:rPr lang="en-US" altLang="ja-JP" sz="2400" dirty="0"/>
              <a:t> provide </a:t>
            </a:r>
            <a:r>
              <a:rPr lang="en-US" altLang="ja-JP" sz="2400" dirty="0">
                <a:solidFill>
                  <a:srgbClr val="CC0000"/>
                </a:solidFill>
              </a:rPr>
              <a:t>the justification of the steps</a:t>
            </a:r>
            <a:r>
              <a:rPr lang="en-US" altLang="ja-JP" sz="2400" dirty="0"/>
              <a:t> used to show that a conclusion follows logically from a set of hypotheses.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33400" y="2133600"/>
            <a:ext cx="708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400" dirty="0"/>
              <a:t> Basis of the rule of inference: the law of detachment</a:t>
            </a:r>
          </a:p>
        </p:txBody>
      </p:sp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838200" y="3968750"/>
          <a:ext cx="6705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632040" imgH="203040" progId="Equation.3">
                  <p:embed/>
                </p:oleObj>
              </mc:Choice>
              <mc:Fallback>
                <p:oleObj name="数式" r:id="rId2" imgW="3632040" imgH="203040" progId="Equation.3">
                  <p:embed/>
                  <p:pic>
                    <p:nvPicPr>
                      <p:cNvPr id="61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68750"/>
                        <a:ext cx="67056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914400" y="2743200"/>
            <a:ext cx="5105400" cy="1066800"/>
            <a:chOff x="576" y="1488"/>
            <a:chExt cx="3216" cy="672"/>
          </a:xfrm>
        </p:grpSpPr>
        <p:sp>
          <p:nvSpPr>
            <p:cNvPr id="6156" name="Text Box 12"/>
            <p:cNvSpPr txBox="1">
              <a:spLocks noChangeArrowheads="1"/>
            </p:cNvSpPr>
            <p:nvPr/>
          </p:nvSpPr>
          <p:spPr bwMode="auto">
            <a:xfrm>
              <a:off x="1968" y="1872"/>
              <a:ext cx="18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400" dirty="0"/>
                <a:t>conclusion</a:t>
              </a: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576" y="1488"/>
              <a:ext cx="2976" cy="672"/>
              <a:chOff x="576" y="1488"/>
              <a:chExt cx="2976" cy="672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576" y="1488"/>
                <a:ext cx="672" cy="672"/>
                <a:chOff x="384" y="1488"/>
                <a:chExt cx="672" cy="672"/>
              </a:xfrm>
            </p:grpSpPr>
            <p:graphicFrame>
              <p:nvGraphicFramePr>
                <p:cNvPr id="6150" name="Object 6"/>
                <p:cNvGraphicFramePr>
                  <a:graphicFrameLocks noChangeAspect="1"/>
                </p:cNvGraphicFramePr>
                <p:nvPr/>
              </p:nvGraphicFramePr>
              <p:xfrm>
                <a:off x="432" y="1488"/>
                <a:ext cx="480" cy="6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数式" r:id="rId4" imgW="444240" imgH="622080" progId="Equation.3">
                        <p:embed/>
                      </p:oleObj>
                    </mc:Choice>
                    <mc:Fallback>
                      <p:oleObj name="数式" r:id="rId4" imgW="444240" imgH="622080" progId="Equation.3">
                        <p:embed/>
                        <p:pic>
                          <p:nvPicPr>
                            <p:cNvPr id="615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2" y="1488"/>
                              <a:ext cx="480" cy="67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51" name="Line 7"/>
                <p:cNvSpPr>
                  <a:spLocks noChangeShapeType="1"/>
                </p:cNvSpPr>
                <p:nvPr/>
              </p:nvSpPr>
              <p:spPr bwMode="auto">
                <a:xfrm>
                  <a:off x="384" y="1920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 sz="2400"/>
                </a:p>
              </p:txBody>
            </p:sp>
          </p:grpSp>
          <p:sp>
            <p:nvSpPr>
              <p:cNvPr id="6155" name="Text Box 11"/>
              <p:cNvSpPr txBox="1">
                <a:spLocks noChangeArrowheads="1"/>
              </p:cNvSpPr>
              <p:nvPr/>
            </p:nvSpPr>
            <p:spPr bwMode="auto">
              <a:xfrm>
                <a:off x="1920" y="1488"/>
                <a:ext cx="163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ja-JP" sz="2400"/>
                  <a:t>hypotheses</a:t>
                </a:r>
              </a:p>
            </p:txBody>
          </p:sp>
          <p:sp>
            <p:nvSpPr>
              <p:cNvPr id="6158" name="Line 14"/>
              <p:cNvSpPr>
                <a:spLocks noChangeShapeType="1"/>
              </p:cNvSpPr>
              <p:nvPr/>
            </p:nvSpPr>
            <p:spPr bwMode="auto">
              <a:xfrm>
                <a:off x="1200" y="1680"/>
                <a:ext cx="67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159" name="Line 15"/>
              <p:cNvSpPr>
                <a:spLocks noChangeShapeType="1"/>
              </p:cNvSpPr>
              <p:nvPr/>
            </p:nvSpPr>
            <p:spPr bwMode="auto">
              <a:xfrm>
                <a:off x="1248" y="2064"/>
                <a:ext cx="67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2400"/>
              </a:p>
            </p:txBody>
          </p:sp>
        </p:grp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381000" y="4419600"/>
            <a:ext cx="2057400" cy="533400"/>
            <a:chOff x="240" y="2592"/>
            <a:chExt cx="1296" cy="336"/>
          </a:xfrm>
        </p:grpSpPr>
        <p:sp>
          <p:nvSpPr>
            <p:cNvPr id="6161" name="Text Box 17"/>
            <p:cNvSpPr txBox="1">
              <a:spLocks noChangeArrowheads="1"/>
            </p:cNvSpPr>
            <p:nvPr/>
          </p:nvSpPr>
          <p:spPr bwMode="auto">
            <a:xfrm>
              <a:off x="240" y="2592"/>
              <a:ext cx="12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400"/>
                <a:t>Example 1</a:t>
              </a:r>
            </a:p>
          </p:txBody>
        </p:sp>
        <p:sp>
          <p:nvSpPr>
            <p:cNvPr id="6162" name="Rectangle 18"/>
            <p:cNvSpPr>
              <a:spLocks noChangeArrowheads="1"/>
            </p:cNvSpPr>
            <p:nvPr/>
          </p:nvSpPr>
          <p:spPr bwMode="auto">
            <a:xfrm>
              <a:off x="240" y="2640"/>
              <a:ext cx="960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685800" y="5059740"/>
            <a:ext cx="7010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/>
              <a:t>It is snowing today.</a:t>
            </a:r>
          </a:p>
          <a:p>
            <a:pPr>
              <a:spcBef>
                <a:spcPct val="50000"/>
              </a:spcBef>
            </a:pPr>
            <a:r>
              <a:rPr lang="en-US" altLang="ja-JP" sz="2400"/>
              <a:t>If it snows today, then we will go skiing.</a:t>
            </a:r>
          </a:p>
          <a:p>
            <a:pPr>
              <a:spcBef>
                <a:spcPct val="50000"/>
              </a:spcBef>
            </a:pPr>
            <a:r>
              <a:rPr lang="en-US" altLang="ja-JP" sz="2400"/>
              <a:t>We will go skiing.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3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91" name="Group 123"/>
          <p:cNvGraphicFramePr>
            <a:graphicFrameLocks noGrp="1"/>
          </p:cNvGraphicFramePr>
          <p:nvPr/>
        </p:nvGraphicFramePr>
        <p:xfrm>
          <a:off x="1371600" y="685800"/>
          <a:ext cx="7315200" cy="6172203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Rules of Inference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Tautology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Addition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Simplification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Conjunction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Modus ponens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(detachment law)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Modus tollens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Hypothetical syllogism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Disjunctive syllogism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" name="Group 113"/>
          <p:cNvGrpSpPr>
            <a:grpSpLocks/>
          </p:cNvGrpSpPr>
          <p:nvPr/>
        </p:nvGrpSpPr>
        <p:grpSpPr bwMode="auto">
          <a:xfrm>
            <a:off x="1676400" y="1219200"/>
            <a:ext cx="1143000" cy="625475"/>
            <a:chOff x="1056" y="720"/>
            <a:chExt cx="720" cy="394"/>
          </a:xfrm>
        </p:grpSpPr>
        <p:graphicFrame>
          <p:nvGraphicFramePr>
            <p:cNvPr id="7213" name="Object 45"/>
            <p:cNvGraphicFramePr>
              <a:graphicFrameLocks noChangeAspect="1"/>
            </p:cNvGraphicFramePr>
            <p:nvPr/>
          </p:nvGraphicFramePr>
          <p:xfrm>
            <a:off x="1104" y="720"/>
            <a:ext cx="48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495000" imgH="406080" progId="Equation.3">
                    <p:embed/>
                  </p:oleObj>
                </mc:Choice>
                <mc:Fallback>
                  <p:oleObj name="数式" r:id="rId2" imgW="495000" imgH="406080" progId="Equation.3">
                    <p:embed/>
                    <p:pic>
                      <p:nvPicPr>
                        <p:cNvPr id="7213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720"/>
                          <a:ext cx="480" cy="3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4" name="Line 46"/>
            <p:cNvSpPr>
              <a:spLocks noChangeShapeType="1"/>
            </p:cNvSpPr>
            <p:nvPr/>
          </p:nvSpPr>
          <p:spPr bwMode="auto">
            <a:xfrm>
              <a:off x="1056" y="91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215" name="Object 47"/>
          <p:cNvGraphicFramePr>
            <a:graphicFrameLocks noChangeAspect="1"/>
          </p:cNvGraphicFramePr>
          <p:nvPr/>
        </p:nvGraphicFramePr>
        <p:xfrm>
          <a:off x="3733800" y="1371600"/>
          <a:ext cx="1211263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787320" imgH="203040" progId="Equation.3">
                  <p:embed/>
                </p:oleObj>
              </mc:Choice>
              <mc:Fallback>
                <p:oleObj name="数式" r:id="rId4" imgW="787320" imgH="203040" progId="Equation.3">
                  <p:embed/>
                  <p:pic>
                    <p:nvPicPr>
                      <p:cNvPr id="721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371600"/>
                        <a:ext cx="1211263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" name="Object 51"/>
          <p:cNvGraphicFramePr>
            <a:graphicFrameLocks noChangeAspect="1"/>
          </p:cNvGraphicFramePr>
          <p:nvPr/>
        </p:nvGraphicFramePr>
        <p:xfrm>
          <a:off x="3733800" y="2057400"/>
          <a:ext cx="1211263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6" imgW="787320" imgH="203040" progId="Equation.3">
                  <p:embed/>
                </p:oleObj>
              </mc:Choice>
              <mc:Fallback>
                <p:oleObj name="数式" r:id="rId6" imgW="787320" imgH="203040" progId="Equation.3">
                  <p:embed/>
                  <p:pic>
                    <p:nvPicPr>
                      <p:cNvPr id="7219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057400"/>
                        <a:ext cx="1211263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8"/>
          <p:cNvGrpSpPr>
            <a:grpSpLocks/>
          </p:cNvGrpSpPr>
          <p:nvPr/>
        </p:nvGrpSpPr>
        <p:grpSpPr bwMode="auto">
          <a:xfrm>
            <a:off x="1600200" y="2057400"/>
            <a:ext cx="1143000" cy="625475"/>
            <a:chOff x="1008" y="1296"/>
            <a:chExt cx="720" cy="394"/>
          </a:xfrm>
        </p:grpSpPr>
        <p:graphicFrame>
          <p:nvGraphicFramePr>
            <p:cNvPr id="7218" name="Object 50"/>
            <p:cNvGraphicFramePr>
              <a:graphicFrameLocks noChangeAspect="1"/>
            </p:cNvGraphicFramePr>
            <p:nvPr/>
          </p:nvGraphicFramePr>
          <p:xfrm>
            <a:off x="1104" y="1296"/>
            <a:ext cx="357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8" imgW="368280" imgH="406080" progId="Equation.3">
                    <p:embed/>
                  </p:oleObj>
                </mc:Choice>
                <mc:Fallback>
                  <p:oleObj name="数式" r:id="rId8" imgW="368280" imgH="406080" progId="Equation.3">
                    <p:embed/>
                    <p:pic>
                      <p:nvPicPr>
                        <p:cNvPr id="7218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296"/>
                          <a:ext cx="357" cy="3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0" name="Line 62"/>
            <p:cNvSpPr>
              <a:spLocks noChangeShapeType="1"/>
            </p:cNvSpPr>
            <p:nvPr/>
          </p:nvSpPr>
          <p:spPr bwMode="auto">
            <a:xfrm>
              <a:off x="1008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3"/>
          <p:cNvGrpSpPr>
            <a:grpSpLocks/>
          </p:cNvGrpSpPr>
          <p:nvPr/>
        </p:nvGrpSpPr>
        <p:grpSpPr bwMode="auto">
          <a:xfrm>
            <a:off x="1600200" y="2743200"/>
            <a:ext cx="1143000" cy="838200"/>
            <a:chOff x="1008" y="1728"/>
            <a:chExt cx="720" cy="528"/>
          </a:xfrm>
        </p:grpSpPr>
        <p:graphicFrame>
          <p:nvGraphicFramePr>
            <p:cNvPr id="7224" name="Object 56"/>
            <p:cNvGraphicFramePr>
              <a:graphicFrameLocks noChangeAspect="1"/>
            </p:cNvGraphicFramePr>
            <p:nvPr/>
          </p:nvGraphicFramePr>
          <p:xfrm>
            <a:off x="1104" y="1728"/>
            <a:ext cx="42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0" imgW="495000" imgH="622080" progId="Equation.3">
                    <p:embed/>
                  </p:oleObj>
                </mc:Choice>
                <mc:Fallback>
                  <p:oleObj name="数式" r:id="rId10" imgW="495000" imgH="622080" progId="Equation.3">
                    <p:embed/>
                    <p:pic>
                      <p:nvPicPr>
                        <p:cNvPr id="7224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728"/>
                          <a:ext cx="421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1" name="Line 63"/>
            <p:cNvSpPr>
              <a:spLocks noChangeShapeType="1"/>
            </p:cNvSpPr>
            <p:nvPr/>
          </p:nvSpPr>
          <p:spPr bwMode="auto">
            <a:xfrm>
              <a:off x="1008" y="206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1600200" y="3581400"/>
            <a:ext cx="1143000" cy="838200"/>
            <a:chOff x="1008" y="2208"/>
            <a:chExt cx="720" cy="528"/>
          </a:xfrm>
        </p:grpSpPr>
        <p:graphicFrame>
          <p:nvGraphicFramePr>
            <p:cNvPr id="7226" name="Object 58"/>
            <p:cNvGraphicFramePr>
              <a:graphicFrameLocks noChangeAspect="1"/>
            </p:cNvGraphicFramePr>
            <p:nvPr/>
          </p:nvGraphicFramePr>
          <p:xfrm>
            <a:off x="1077" y="2208"/>
            <a:ext cx="37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2" imgW="444240" imgH="622080" progId="Equation.3">
                    <p:embed/>
                  </p:oleObj>
                </mc:Choice>
                <mc:Fallback>
                  <p:oleObj name="数式" r:id="rId12" imgW="444240" imgH="622080" progId="Equation.3">
                    <p:embed/>
                    <p:pic>
                      <p:nvPicPr>
                        <p:cNvPr id="7226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7" y="2208"/>
                          <a:ext cx="378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2" name="Line 64"/>
            <p:cNvSpPr>
              <a:spLocks noChangeShapeType="1"/>
            </p:cNvSpPr>
            <p:nvPr/>
          </p:nvSpPr>
          <p:spPr bwMode="auto">
            <a:xfrm>
              <a:off x="1008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227" name="Object 59"/>
          <p:cNvGraphicFramePr>
            <a:graphicFrameLocks noChangeAspect="1"/>
          </p:cNvGraphicFramePr>
          <p:nvPr/>
        </p:nvGraphicFramePr>
        <p:xfrm>
          <a:off x="1676400" y="4419600"/>
          <a:ext cx="6000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14" imgW="444240" imgH="622080" progId="Equation.3">
                  <p:embed/>
                </p:oleObj>
              </mc:Choice>
              <mc:Fallback>
                <p:oleObj name="数式" r:id="rId14" imgW="444240" imgH="622080" progId="Equation.3">
                  <p:embed/>
                  <p:pic>
                    <p:nvPicPr>
                      <p:cNvPr id="7227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19600"/>
                        <a:ext cx="60007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3" name="Line 65"/>
          <p:cNvSpPr>
            <a:spLocks noChangeShapeType="1"/>
          </p:cNvSpPr>
          <p:nvPr/>
        </p:nvSpPr>
        <p:spPr bwMode="auto">
          <a:xfrm>
            <a:off x="1600200" y="4953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1600200" y="5257800"/>
            <a:ext cx="1143000" cy="838200"/>
            <a:chOff x="1008" y="3216"/>
            <a:chExt cx="720" cy="528"/>
          </a:xfrm>
        </p:grpSpPr>
        <p:graphicFrame>
          <p:nvGraphicFramePr>
            <p:cNvPr id="7228" name="Object 60"/>
            <p:cNvGraphicFramePr>
              <a:graphicFrameLocks noChangeAspect="1"/>
            </p:cNvGraphicFramePr>
            <p:nvPr/>
          </p:nvGraphicFramePr>
          <p:xfrm>
            <a:off x="1056" y="3216"/>
            <a:ext cx="465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6" imgW="545760" imgH="622080" progId="Equation.3">
                    <p:embed/>
                  </p:oleObj>
                </mc:Choice>
                <mc:Fallback>
                  <p:oleObj name="数式" r:id="rId16" imgW="545760" imgH="622080" progId="Equation.3">
                    <p:embed/>
                    <p:pic>
                      <p:nvPicPr>
                        <p:cNvPr id="7228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16"/>
                          <a:ext cx="465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4" name="Line 66"/>
            <p:cNvSpPr>
              <a:spLocks noChangeShapeType="1"/>
            </p:cNvSpPr>
            <p:nvPr/>
          </p:nvSpPr>
          <p:spPr bwMode="auto">
            <a:xfrm>
              <a:off x="1008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97"/>
          <p:cNvGrpSpPr>
            <a:grpSpLocks/>
          </p:cNvGrpSpPr>
          <p:nvPr/>
        </p:nvGrpSpPr>
        <p:grpSpPr bwMode="auto">
          <a:xfrm>
            <a:off x="1600200" y="6096000"/>
            <a:ext cx="1143000" cy="762000"/>
            <a:chOff x="1008" y="3744"/>
            <a:chExt cx="720" cy="480"/>
          </a:xfrm>
        </p:grpSpPr>
        <p:graphicFrame>
          <p:nvGraphicFramePr>
            <p:cNvPr id="7229" name="Object 61"/>
            <p:cNvGraphicFramePr>
              <a:graphicFrameLocks noChangeAspect="1"/>
            </p:cNvGraphicFramePr>
            <p:nvPr/>
          </p:nvGraphicFramePr>
          <p:xfrm>
            <a:off x="1056" y="3744"/>
            <a:ext cx="28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8" imgW="368280" imgH="622080" progId="Equation.3">
                    <p:embed/>
                  </p:oleObj>
                </mc:Choice>
                <mc:Fallback>
                  <p:oleObj name="数式" r:id="rId18" imgW="368280" imgH="622080" progId="Equation.3">
                    <p:embed/>
                    <p:pic>
                      <p:nvPicPr>
                        <p:cNvPr id="7229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744"/>
                          <a:ext cx="284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5" name="Line 67"/>
            <p:cNvSpPr>
              <a:spLocks noChangeShapeType="1"/>
            </p:cNvSpPr>
            <p:nvPr/>
          </p:nvSpPr>
          <p:spPr bwMode="auto">
            <a:xfrm>
              <a:off x="1008" y="403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236" name="Object 68"/>
          <p:cNvGraphicFramePr>
            <a:graphicFrameLocks noChangeAspect="1"/>
          </p:cNvGraphicFramePr>
          <p:nvPr/>
        </p:nvGraphicFramePr>
        <p:xfrm>
          <a:off x="3711575" y="2895600"/>
          <a:ext cx="17192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0" imgW="1117440" imgH="203040" progId="Equation.3">
                  <p:embed/>
                </p:oleObj>
              </mc:Choice>
              <mc:Fallback>
                <p:oleObj name="数式" r:id="rId20" imgW="1117440" imgH="203040" progId="Equation.3">
                  <p:embed/>
                  <p:pic>
                    <p:nvPicPr>
                      <p:cNvPr id="723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2895600"/>
                        <a:ext cx="171926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7" name="Object 69"/>
          <p:cNvGraphicFramePr>
            <a:graphicFrameLocks noChangeAspect="1"/>
          </p:cNvGraphicFramePr>
          <p:nvPr/>
        </p:nvGraphicFramePr>
        <p:xfrm>
          <a:off x="3652838" y="3810000"/>
          <a:ext cx="18367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2" imgW="1193760" imgH="203040" progId="Equation.3">
                  <p:embed/>
                </p:oleObj>
              </mc:Choice>
              <mc:Fallback>
                <p:oleObj name="数式" r:id="rId22" imgW="1193760" imgH="203040" progId="Equation.3">
                  <p:embed/>
                  <p:pic>
                    <p:nvPicPr>
                      <p:cNvPr id="723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3810000"/>
                        <a:ext cx="1836737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8" name="Object 70"/>
          <p:cNvGraphicFramePr>
            <a:graphicFrameLocks noChangeAspect="1"/>
          </p:cNvGraphicFramePr>
          <p:nvPr/>
        </p:nvGraphicFramePr>
        <p:xfrm>
          <a:off x="3663950" y="4648200"/>
          <a:ext cx="21304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4" imgW="1384200" imgH="203040" progId="Equation.3">
                  <p:embed/>
                </p:oleObj>
              </mc:Choice>
              <mc:Fallback>
                <p:oleObj name="数式" r:id="rId24" imgW="1384200" imgH="203040" progId="Equation.3">
                  <p:embed/>
                  <p:pic>
                    <p:nvPicPr>
                      <p:cNvPr id="723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4648200"/>
                        <a:ext cx="2130425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" name="Object 71"/>
          <p:cNvGraphicFramePr>
            <a:graphicFrameLocks noChangeAspect="1"/>
          </p:cNvGraphicFramePr>
          <p:nvPr/>
        </p:nvGraphicFramePr>
        <p:xfrm>
          <a:off x="3671888" y="5486400"/>
          <a:ext cx="2957512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6" imgW="1955520" imgH="203040" progId="Equation.3">
                  <p:embed/>
                </p:oleObj>
              </mc:Choice>
              <mc:Fallback>
                <p:oleObj name="数式" r:id="rId26" imgW="1955520" imgH="203040" progId="Equation.3">
                  <p:embed/>
                  <p:pic>
                    <p:nvPicPr>
                      <p:cNvPr id="7239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5486400"/>
                        <a:ext cx="2957512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" name="Object 72"/>
          <p:cNvGraphicFramePr>
            <a:graphicFrameLocks noChangeAspect="1"/>
          </p:cNvGraphicFramePr>
          <p:nvPr/>
        </p:nvGraphicFramePr>
        <p:xfrm>
          <a:off x="3870325" y="6172200"/>
          <a:ext cx="2301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8" imgW="1206360" imgH="203040" progId="Equation.3">
                  <p:embed/>
                </p:oleObj>
              </mc:Choice>
              <mc:Fallback>
                <p:oleObj name="数式" r:id="rId28" imgW="1206360" imgH="203040" progId="Equation.3">
                  <p:embed/>
                  <p:pic>
                    <p:nvPicPr>
                      <p:cNvPr id="724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325" y="6172200"/>
                        <a:ext cx="2301875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4" name="Text Box 116"/>
          <p:cNvSpPr txBox="1">
            <a:spLocks noChangeArrowheads="1"/>
          </p:cNvSpPr>
          <p:nvPr/>
        </p:nvSpPr>
        <p:spPr bwMode="auto">
          <a:xfrm>
            <a:off x="1257300" y="152400"/>
            <a:ext cx="662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b="1" dirty="0"/>
              <a:t>Rules of Inference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87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8600" y="228600"/>
            <a:ext cx="1905000" cy="457200"/>
            <a:chOff x="336" y="240"/>
            <a:chExt cx="1200" cy="288"/>
          </a:xfrm>
        </p:grpSpPr>
        <p:sp>
          <p:nvSpPr>
            <p:cNvPr id="8194" name="Text Box 2"/>
            <p:cNvSpPr txBox="1">
              <a:spLocks noChangeArrowheads="1"/>
            </p:cNvSpPr>
            <p:nvPr/>
          </p:nvSpPr>
          <p:spPr bwMode="auto">
            <a:xfrm>
              <a:off x="336" y="240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2</a:t>
              </a:r>
            </a:p>
          </p:txBody>
        </p:sp>
        <p:sp>
          <p:nvSpPr>
            <p:cNvPr id="8195" name="Rectangle 3"/>
            <p:cNvSpPr>
              <a:spLocks noChangeArrowheads="1"/>
            </p:cNvSpPr>
            <p:nvPr/>
          </p:nvSpPr>
          <p:spPr bwMode="auto">
            <a:xfrm>
              <a:off x="384" y="240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36538" y="762000"/>
            <a:ext cx="5173662" cy="1409700"/>
            <a:chOff x="149" y="480"/>
            <a:chExt cx="3259" cy="888"/>
          </a:xfrm>
        </p:grpSpPr>
        <p:graphicFrame>
          <p:nvGraphicFramePr>
            <p:cNvPr id="8198" name="Object 6"/>
            <p:cNvGraphicFramePr>
              <a:graphicFrameLocks noChangeAspect="1"/>
            </p:cNvGraphicFramePr>
            <p:nvPr/>
          </p:nvGraphicFramePr>
          <p:xfrm>
            <a:off x="149" y="480"/>
            <a:ext cx="3259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2819160" imgH="711000" progId="Equation.3">
                    <p:embed/>
                  </p:oleObj>
                </mc:Choice>
                <mc:Fallback>
                  <p:oleObj name="数式" r:id="rId2" imgW="2819160" imgH="711000" progId="Equation.3">
                    <p:embed/>
                    <p:pic>
                      <p:nvPicPr>
                        <p:cNvPr id="819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" y="480"/>
                          <a:ext cx="3259" cy="8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9" name="Line 7"/>
            <p:cNvSpPr>
              <a:spLocks noChangeShapeType="1"/>
            </p:cNvSpPr>
            <p:nvPr/>
          </p:nvSpPr>
          <p:spPr bwMode="auto">
            <a:xfrm>
              <a:off x="192" y="1065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28600" y="2362200"/>
            <a:ext cx="1905000" cy="457200"/>
            <a:chOff x="384" y="1632"/>
            <a:chExt cx="1200" cy="288"/>
          </a:xfrm>
        </p:grpSpPr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384" y="1632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3</a:t>
              </a:r>
            </a:p>
          </p:txBody>
        </p:sp>
        <p:sp>
          <p:nvSpPr>
            <p:cNvPr id="8212" name="Rectangle 20"/>
            <p:cNvSpPr>
              <a:spLocks noChangeArrowheads="1"/>
            </p:cNvSpPr>
            <p:nvPr/>
          </p:nvSpPr>
          <p:spPr bwMode="auto">
            <a:xfrm>
              <a:off x="432" y="1632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485775" y="2971800"/>
          <a:ext cx="6503988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3517560" imgH="660240" progId="Equation.3">
                  <p:embed/>
                </p:oleObj>
              </mc:Choice>
              <mc:Fallback>
                <p:oleObj name="数式" r:id="rId4" imgW="3517560" imgH="660240" progId="Equation.3">
                  <p:embed/>
                  <p:pic>
                    <p:nvPicPr>
                      <p:cNvPr id="821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" y="2971800"/>
                        <a:ext cx="6503988" cy="1217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7467600" y="2514600"/>
            <a:ext cx="1447800" cy="1262063"/>
            <a:chOff x="4704" y="1584"/>
            <a:chExt cx="912" cy="795"/>
          </a:xfrm>
        </p:grpSpPr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4896" y="1940"/>
              <a:ext cx="672" cy="439"/>
              <a:chOff x="4896" y="1940"/>
              <a:chExt cx="672" cy="439"/>
            </a:xfrm>
          </p:grpSpPr>
          <p:graphicFrame>
            <p:nvGraphicFramePr>
              <p:cNvPr id="8218" name="Object 26"/>
              <p:cNvGraphicFramePr>
                <a:graphicFrameLocks noChangeAspect="1"/>
              </p:cNvGraphicFramePr>
              <p:nvPr/>
            </p:nvGraphicFramePr>
            <p:xfrm>
              <a:off x="4917" y="1940"/>
              <a:ext cx="53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数式" r:id="rId6" imgW="495000" imgH="406080" progId="Equation.3">
                      <p:embed/>
                    </p:oleObj>
                  </mc:Choice>
                  <mc:Fallback>
                    <p:oleObj name="数式" r:id="rId6" imgW="495000" imgH="406080" progId="Equation.3">
                      <p:embed/>
                      <p:pic>
                        <p:nvPicPr>
                          <p:cNvPr id="8218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17" y="1940"/>
                            <a:ext cx="535" cy="4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19" name="Line 27"/>
              <p:cNvSpPr>
                <a:spLocks noChangeShapeType="1"/>
              </p:cNvSpPr>
              <p:nvPr/>
            </p:nvSpPr>
            <p:spPr bwMode="auto">
              <a:xfrm>
                <a:off x="4896" y="2160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21" name="Text Box 29"/>
            <p:cNvSpPr txBox="1">
              <a:spLocks noChangeArrowheads="1"/>
            </p:cNvSpPr>
            <p:nvPr/>
          </p:nvSpPr>
          <p:spPr bwMode="auto">
            <a:xfrm>
              <a:off x="4704" y="1584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u="sng"/>
                <a:t>Solution</a:t>
              </a: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04800" y="4343400"/>
            <a:ext cx="1905000" cy="457200"/>
            <a:chOff x="240" y="2688"/>
            <a:chExt cx="1200" cy="288"/>
          </a:xfrm>
        </p:grpSpPr>
        <p:sp>
          <p:nvSpPr>
            <p:cNvPr id="8224" name="Text Box 32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4</a:t>
              </a:r>
            </a:p>
          </p:txBody>
        </p:sp>
        <p:sp>
          <p:nvSpPr>
            <p:cNvPr id="8225" name="Rectangle 33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8227" name="Object 35"/>
          <p:cNvGraphicFramePr>
            <a:graphicFrameLocks noChangeAspect="1"/>
          </p:cNvGraphicFramePr>
          <p:nvPr/>
        </p:nvGraphicFramePr>
        <p:xfrm>
          <a:off x="403225" y="5029200"/>
          <a:ext cx="6669088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8" imgW="3606480" imgH="660240" progId="Equation.3">
                  <p:embed/>
                </p:oleObj>
              </mc:Choice>
              <mc:Fallback>
                <p:oleObj name="数式" r:id="rId8" imgW="3606480" imgH="660240" progId="Equation.3">
                  <p:embed/>
                  <p:pic>
                    <p:nvPicPr>
                      <p:cNvPr id="822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5029200"/>
                        <a:ext cx="6669088" cy="1217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7467600" y="5105400"/>
            <a:ext cx="1447800" cy="1262063"/>
            <a:chOff x="4704" y="3216"/>
            <a:chExt cx="912" cy="795"/>
          </a:xfrm>
        </p:grpSpPr>
        <p:graphicFrame>
          <p:nvGraphicFramePr>
            <p:cNvPr id="8230" name="Object 38"/>
            <p:cNvGraphicFramePr>
              <a:graphicFrameLocks noChangeAspect="1"/>
            </p:cNvGraphicFramePr>
            <p:nvPr/>
          </p:nvGraphicFramePr>
          <p:xfrm>
            <a:off x="4985" y="3572"/>
            <a:ext cx="398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0" imgW="368280" imgH="406080" progId="Equation.3">
                    <p:embed/>
                  </p:oleObj>
                </mc:Choice>
                <mc:Fallback>
                  <p:oleObj name="数式" r:id="rId10" imgW="368280" imgH="406080" progId="Equation.3">
                    <p:embed/>
                    <p:pic>
                      <p:nvPicPr>
                        <p:cNvPr id="823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5" y="3572"/>
                          <a:ext cx="398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1" name="Line 39"/>
            <p:cNvSpPr>
              <a:spLocks noChangeShapeType="1"/>
            </p:cNvSpPr>
            <p:nvPr/>
          </p:nvSpPr>
          <p:spPr bwMode="auto">
            <a:xfrm>
              <a:off x="4896" y="379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Text Box 40"/>
            <p:cNvSpPr txBox="1">
              <a:spLocks noChangeArrowheads="1"/>
            </p:cNvSpPr>
            <p:nvPr/>
          </p:nvSpPr>
          <p:spPr bwMode="auto">
            <a:xfrm>
              <a:off x="4704" y="321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u="sng"/>
                <a:t>Solution</a:t>
              </a:r>
            </a:p>
          </p:txBody>
        </p: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5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1905000" cy="457200"/>
            <a:chOff x="240" y="2688"/>
            <a:chExt cx="1200" cy="288"/>
          </a:xfrm>
        </p:grpSpPr>
        <p:sp>
          <p:nvSpPr>
            <p:cNvPr id="9219" name="Text Box 3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5</a:t>
              </a:r>
            </a:p>
          </p:txBody>
        </p:sp>
        <p:sp>
          <p:nvSpPr>
            <p:cNvPr id="9220" name="Rectangle 4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0" y="533400"/>
          <a:ext cx="6926263" cy="201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6160" imgH="1091880" progId="Equation.3">
                  <p:embed/>
                </p:oleObj>
              </mc:Choice>
              <mc:Fallback>
                <p:oleObj name="数式" r:id="rId2" imgW="3746160" imgH="1091880" progId="Equation.3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3400"/>
                        <a:ext cx="6926263" cy="201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7467600" y="228600"/>
            <a:ext cx="1447800" cy="1600200"/>
            <a:chOff x="4704" y="240"/>
            <a:chExt cx="912" cy="1008"/>
          </a:xfrm>
        </p:grpSpPr>
        <p:graphicFrame>
          <p:nvGraphicFramePr>
            <p:cNvPr id="9223" name="Object 7"/>
            <p:cNvGraphicFramePr>
              <a:graphicFrameLocks noChangeAspect="1"/>
            </p:cNvGraphicFramePr>
            <p:nvPr/>
          </p:nvGraphicFramePr>
          <p:xfrm>
            <a:off x="4889" y="576"/>
            <a:ext cx="590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4" imgW="545760" imgH="622080" progId="Equation.3">
                    <p:embed/>
                  </p:oleObj>
                </mc:Choice>
                <mc:Fallback>
                  <p:oleObj name="数式" r:id="rId4" imgW="545760" imgH="622080" progId="Equation.3">
                    <p:embed/>
                    <p:pic>
                      <p:nvPicPr>
                        <p:cNvPr id="922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9" y="576"/>
                          <a:ext cx="590" cy="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4" name="Line 8"/>
            <p:cNvSpPr>
              <a:spLocks noChangeShapeType="1"/>
            </p:cNvSpPr>
            <p:nvPr/>
          </p:nvSpPr>
          <p:spPr bwMode="auto">
            <a:xfrm>
              <a:off x="4896" y="100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4704" y="240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u="sng"/>
                <a:t>Solution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0" y="2590800"/>
            <a:ext cx="1905000" cy="457200"/>
            <a:chOff x="240" y="2688"/>
            <a:chExt cx="1200" cy="288"/>
          </a:xfrm>
        </p:grpSpPr>
        <p:sp>
          <p:nvSpPr>
            <p:cNvPr id="9228" name="Text Box 12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6</a:t>
              </a:r>
            </a:p>
          </p:txBody>
        </p:sp>
        <p:sp>
          <p:nvSpPr>
            <p:cNvPr id="9229" name="Rectangle 13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0" y="2971800"/>
            <a:ext cx="5562600" cy="359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/>
              <a:t>Show the following hypotheses :</a:t>
            </a:r>
          </a:p>
          <a:p>
            <a:pPr>
              <a:spcBef>
                <a:spcPct val="50000"/>
              </a:spcBef>
            </a:pPr>
            <a:r>
              <a:rPr lang="en-US" altLang="ja-JP" sz="2000"/>
              <a:t>(1) </a:t>
            </a:r>
            <a:r>
              <a:rPr lang="en-US" altLang="ja-JP" sz="2000" u="sng">
                <a:solidFill>
                  <a:srgbClr val="CC0000"/>
                </a:solidFill>
              </a:rPr>
              <a:t>It is not sunny this afternoon</a:t>
            </a:r>
            <a:r>
              <a:rPr lang="en-US" altLang="ja-JP" sz="2000"/>
              <a:t> and </a:t>
            </a:r>
            <a:r>
              <a:rPr lang="en-US" altLang="ja-JP" sz="2000" u="sng">
                <a:solidFill>
                  <a:srgbClr val="CC0000"/>
                </a:solidFill>
              </a:rPr>
              <a:t>it is colder than yesterday.</a:t>
            </a:r>
            <a:r>
              <a:rPr lang="en-US" altLang="ja-JP" sz="2000">
                <a:solidFill>
                  <a:srgbClr val="CC0000"/>
                </a:solidFill>
              </a:rPr>
              <a:t> </a:t>
            </a:r>
            <a:endParaRPr lang="en-US" altLang="ja-JP" sz="2000" u="sng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ja-JP" sz="2000"/>
              <a:t>(2)</a:t>
            </a:r>
            <a:r>
              <a:rPr lang="en-US" altLang="ja-JP" sz="2000" u="sng">
                <a:solidFill>
                  <a:srgbClr val="CC0000"/>
                </a:solidFill>
              </a:rPr>
              <a:t>We will go swimming</a:t>
            </a:r>
            <a:r>
              <a:rPr lang="en-US" altLang="ja-JP" sz="2000"/>
              <a:t> only if it is sunny.</a:t>
            </a:r>
          </a:p>
          <a:p>
            <a:pPr>
              <a:spcBef>
                <a:spcPct val="50000"/>
              </a:spcBef>
            </a:pPr>
            <a:r>
              <a:rPr lang="en-US" altLang="ja-JP" sz="2000"/>
              <a:t>(3) If we do not go swimming, then </a:t>
            </a:r>
            <a:r>
              <a:rPr lang="en-US" altLang="ja-JP" sz="2000" u="sng">
                <a:solidFill>
                  <a:srgbClr val="CC0000"/>
                </a:solidFill>
              </a:rPr>
              <a:t>we will take a canoe trip</a:t>
            </a:r>
            <a:r>
              <a:rPr lang="en-US" altLang="ja-JP" sz="2000">
                <a:solidFill>
                  <a:srgbClr val="CC0000"/>
                </a:solidFill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ja-JP" sz="2000"/>
              <a:t>(4) If we take a canoe trip, then </a:t>
            </a:r>
            <a:r>
              <a:rPr lang="en-US" altLang="ja-JP" sz="2000" u="sng">
                <a:solidFill>
                  <a:srgbClr val="CC0000"/>
                </a:solidFill>
              </a:rPr>
              <a:t>we will be home by sunset</a:t>
            </a:r>
            <a:r>
              <a:rPr lang="en-US" altLang="ja-JP" sz="2000">
                <a:solidFill>
                  <a:srgbClr val="CC0000"/>
                </a:solidFill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ja-JP" sz="2000"/>
              <a:t>lead to the conclusion “We will be home by sunset”.</a:t>
            </a: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905000" y="2514600"/>
            <a:ext cx="3657600" cy="1066800"/>
            <a:chOff x="1200" y="1584"/>
            <a:chExt cx="2304" cy="672"/>
          </a:xfrm>
        </p:grpSpPr>
        <p:sp>
          <p:nvSpPr>
            <p:cNvPr id="9232" name="Text Box 16"/>
            <p:cNvSpPr txBox="1">
              <a:spLocks noChangeArrowheads="1"/>
            </p:cNvSpPr>
            <p:nvPr/>
          </p:nvSpPr>
          <p:spPr bwMode="auto">
            <a:xfrm>
              <a:off x="1536" y="1584"/>
              <a:ext cx="19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p</a:t>
              </a:r>
              <a:r>
                <a:rPr lang="en-US" altLang="ja-JP" sz="2000">
                  <a:solidFill>
                    <a:srgbClr val="CC0000"/>
                  </a:solidFill>
                </a:rPr>
                <a:t>: It is sunny this afternoon.</a:t>
              </a:r>
            </a:p>
          </p:txBody>
        </p:sp>
        <p:sp>
          <p:nvSpPr>
            <p:cNvPr id="9233" name="Line 17"/>
            <p:cNvSpPr>
              <a:spLocks noChangeShapeType="1"/>
            </p:cNvSpPr>
            <p:nvPr/>
          </p:nvSpPr>
          <p:spPr bwMode="auto">
            <a:xfrm flipV="1">
              <a:off x="1200" y="1776"/>
              <a:ext cx="672" cy="48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4038600" y="2819400"/>
            <a:ext cx="966788" cy="762000"/>
            <a:chOff x="2544" y="1776"/>
            <a:chExt cx="609" cy="480"/>
          </a:xfrm>
        </p:grpSpPr>
        <p:sp>
          <p:nvSpPr>
            <p:cNvPr id="9237" name="Text Box 21"/>
            <p:cNvSpPr txBox="1">
              <a:spLocks noChangeArrowheads="1"/>
            </p:cNvSpPr>
            <p:nvPr/>
          </p:nvSpPr>
          <p:spPr bwMode="auto">
            <a:xfrm>
              <a:off x="2976" y="1776"/>
              <a:ext cx="1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q</a:t>
              </a:r>
            </a:p>
          </p:txBody>
        </p:sp>
        <p:sp>
          <p:nvSpPr>
            <p:cNvPr id="9238" name="Line 22"/>
            <p:cNvSpPr>
              <a:spLocks noChangeShapeType="1"/>
            </p:cNvSpPr>
            <p:nvPr/>
          </p:nvSpPr>
          <p:spPr bwMode="auto">
            <a:xfrm flipV="1">
              <a:off x="2544" y="1920"/>
              <a:ext cx="432" cy="33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600200" y="3962400"/>
            <a:ext cx="1066800" cy="396875"/>
            <a:chOff x="1680" y="2784"/>
            <a:chExt cx="677" cy="304"/>
          </a:xfrm>
        </p:grpSpPr>
        <p:sp>
          <p:nvSpPr>
            <p:cNvPr id="9240" name="Text Box 24"/>
            <p:cNvSpPr txBox="1">
              <a:spLocks noChangeArrowheads="1"/>
            </p:cNvSpPr>
            <p:nvPr/>
          </p:nvSpPr>
          <p:spPr bwMode="auto">
            <a:xfrm>
              <a:off x="2016" y="2784"/>
              <a:ext cx="341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r</a:t>
              </a:r>
            </a:p>
          </p:txBody>
        </p:sp>
        <p:sp>
          <p:nvSpPr>
            <p:cNvPr id="9241" name="Line 25"/>
            <p:cNvSpPr>
              <a:spLocks noChangeShapeType="1"/>
            </p:cNvSpPr>
            <p:nvPr/>
          </p:nvSpPr>
          <p:spPr bwMode="auto">
            <a:xfrm flipV="1">
              <a:off x="1680" y="2928"/>
              <a:ext cx="336" cy="12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4419600" y="4191000"/>
            <a:ext cx="838200" cy="563563"/>
            <a:chOff x="3120" y="2928"/>
            <a:chExt cx="528" cy="355"/>
          </a:xfrm>
        </p:grpSpPr>
        <p:sp>
          <p:nvSpPr>
            <p:cNvPr id="9243" name="Text Box 27"/>
            <p:cNvSpPr txBox="1">
              <a:spLocks noChangeArrowheads="1"/>
            </p:cNvSpPr>
            <p:nvPr/>
          </p:nvSpPr>
          <p:spPr bwMode="auto">
            <a:xfrm>
              <a:off x="3484" y="2928"/>
              <a:ext cx="16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s</a:t>
              </a:r>
            </a:p>
          </p:txBody>
        </p:sp>
        <p:sp>
          <p:nvSpPr>
            <p:cNvPr id="9244" name="Line 28"/>
            <p:cNvSpPr>
              <a:spLocks noChangeShapeType="1"/>
            </p:cNvSpPr>
            <p:nvPr/>
          </p:nvSpPr>
          <p:spPr bwMode="auto">
            <a:xfrm flipV="1">
              <a:off x="3120" y="3072"/>
              <a:ext cx="384" cy="2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4152900" y="4953000"/>
            <a:ext cx="838200" cy="563563"/>
            <a:chOff x="3120" y="2928"/>
            <a:chExt cx="528" cy="355"/>
          </a:xfrm>
        </p:grpSpPr>
        <p:sp>
          <p:nvSpPr>
            <p:cNvPr id="9250" name="Text Box 34"/>
            <p:cNvSpPr txBox="1">
              <a:spLocks noChangeArrowheads="1"/>
            </p:cNvSpPr>
            <p:nvPr/>
          </p:nvSpPr>
          <p:spPr bwMode="auto">
            <a:xfrm>
              <a:off x="3484" y="2928"/>
              <a:ext cx="16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t</a:t>
              </a:r>
            </a:p>
          </p:txBody>
        </p:sp>
        <p:sp>
          <p:nvSpPr>
            <p:cNvPr id="9251" name="Line 35"/>
            <p:cNvSpPr>
              <a:spLocks noChangeShapeType="1"/>
            </p:cNvSpPr>
            <p:nvPr/>
          </p:nvSpPr>
          <p:spPr bwMode="auto">
            <a:xfrm flipV="1">
              <a:off x="3120" y="3072"/>
              <a:ext cx="384" cy="2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40"/>
          <p:cNvGrpSpPr>
            <a:grpSpLocks/>
          </p:cNvGrpSpPr>
          <p:nvPr/>
        </p:nvGrpSpPr>
        <p:grpSpPr bwMode="auto">
          <a:xfrm>
            <a:off x="5562600" y="2362200"/>
            <a:ext cx="3581400" cy="3733800"/>
            <a:chOff x="3504" y="1488"/>
            <a:chExt cx="2256" cy="2201"/>
          </a:xfrm>
        </p:grpSpPr>
        <p:graphicFrame>
          <p:nvGraphicFramePr>
            <p:cNvPr id="9252" name="Object 36"/>
            <p:cNvGraphicFramePr>
              <a:graphicFrameLocks noChangeAspect="1"/>
            </p:cNvGraphicFramePr>
            <p:nvPr/>
          </p:nvGraphicFramePr>
          <p:xfrm>
            <a:off x="3504" y="1488"/>
            <a:ext cx="2256" cy="2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6" imgW="2082600" imgH="2031840" progId="Equation.3">
                    <p:embed/>
                  </p:oleObj>
                </mc:Choice>
                <mc:Fallback>
                  <p:oleObj name="数式" r:id="rId6" imgW="2082600" imgH="2031840" progId="Equation.3">
                    <p:embed/>
                    <p:pic>
                      <p:nvPicPr>
                        <p:cNvPr id="9252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488"/>
                          <a:ext cx="2256" cy="2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5" name="Line 39"/>
            <p:cNvSpPr>
              <a:spLocks noChangeShapeType="1"/>
            </p:cNvSpPr>
            <p:nvPr/>
          </p:nvSpPr>
          <p:spPr bwMode="auto">
            <a:xfrm>
              <a:off x="3504" y="1680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8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381000"/>
            <a:ext cx="1905000" cy="457200"/>
            <a:chOff x="240" y="2688"/>
            <a:chExt cx="1200" cy="288"/>
          </a:xfrm>
        </p:grpSpPr>
        <p:sp>
          <p:nvSpPr>
            <p:cNvPr id="10244" name="Text Box 4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7</a:t>
              </a:r>
            </a:p>
          </p:txBody>
        </p:sp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0" y="1066800"/>
            <a:ext cx="472440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Show that the hypotheses </a:t>
            </a:r>
          </a:p>
          <a:p>
            <a:pPr marL="457200" indent="-457200">
              <a:spcBef>
                <a:spcPct val="50000"/>
              </a:spcBef>
              <a:buFontTx/>
              <a:buAutoNum type="arabicParenBoth"/>
            </a:pPr>
            <a:r>
              <a:rPr lang="en-US" altLang="ja-JP" sz="2000"/>
              <a:t>If </a:t>
            </a:r>
            <a:r>
              <a:rPr lang="en-US" altLang="ja-JP" sz="2000">
                <a:solidFill>
                  <a:srgbClr val="CC0000"/>
                </a:solidFill>
              </a:rPr>
              <a:t>you send me an e-mail message</a:t>
            </a:r>
            <a:r>
              <a:rPr lang="en-US" altLang="ja-JP" sz="2000"/>
              <a:t>, </a:t>
            </a:r>
          </a:p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       then </a:t>
            </a:r>
            <a:r>
              <a:rPr lang="en-US" altLang="ja-JP" sz="2000">
                <a:solidFill>
                  <a:srgbClr val="CC0000"/>
                </a:solidFill>
              </a:rPr>
              <a:t>I will finish writing the program</a:t>
            </a:r>
            <a:r>
              <a:rPr lang="en-US" altLang="ja-JP" sz="2000"/>
              <a:t>,</a:t>
            </a:r>
          </a:p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(2) If you do not send me an e-mail massage, then </a:t>
            </a:r>
            <a:r>
              <a:rPr lang="en-US" altLang="ja-JP" sz="2000">
                <a:solidFill>
                  <a:srgbClr val="CC0000"/>
                </a:solidFill>
              </a:rPr>
              <a:t>I will go to sleep early</a:t>
            </a:r>
            <a:r>
              <a:rPr lang="en-US" altLang="ja-JP" sz="2000"/>
              <a:t>,</a:t>
            </a:r>
          </a:p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(3) If I go to sleep early, then </a:t>
            </a:r>
            <a:r>
              <a:rPr lang="en-US" altLang="ja-JP" sz="2000">
                <a:solidFill>
                  <a:srgbClr val="CC0000"/>
                </a:solidFill>
              </a:rPr>
              <a:t>I will wake up feeling refreshed</a:t>
            </a:r>
          </a:p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lead to the conclusion “If I do not finish</a:t>
            </a:r>
          </a:p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writing  program, then I will wake up </a:t>
            </a:r>
          </a:p>
          <a:p>
            <a:pPr marL="457200" indent="-457200">
              <a:spcBef>
                <a:spcPct val="50000"/>
              </a:spcBef>
            </a:pPr>
            <a:r>
              <a:rPr lang="en-US" altLang="ja-JP" sz="2000"/>
              <a:t>feeling refreshed”.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667000" y="914400"/>
            <a:ext cx="966788" cy="762000"/>
            <a:chOff x="2544" y="1776"/>
            <a:chExt cx="609" cy="480"/>
          </a:xfrm>
        </p:grpSpPr>
        <p:sp>
          <p:nvSpPr>
            <p:cNvPr id="10248" name="Text Box 8"/>
            <p:cNvSpPr txBox="1">
              <a:spLocks noChangeArrowheads="1"/>
            </p:cNvSpPr>
            <p:nvPr/>
          </p:nvSpPr>
          <p:spPr bwMode="auto">
            <a:xfrm>
              <a:off x="2976" y="1776"/>
              <a:ext cx="1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p</a:t>
              </a:r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 flipV="1">
              <a:off x="2544" y="1920"/>
              <a:ext cx="432" cy="33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124200" y="1371600"/>
            <a:ext cx="966788" cy="762000"/>
            <a:chOff x="2544" y="1776"/>
            <a:chExt cx="609" cy="480"/>
          </a:xfrm>
        </p:grpSpPr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2976" y="1776"/>
              <a:ext cx="1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q</a:t>
              </a:r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V="1">
              <a:off x="2544" y="1920"/>
              <a:ext cx="432" cy="33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667000" y="2286000"/>
            <a:ext cx="990600" cy="609600"/>
            <a:chOff x="2544" y="1776"/>
            <a:chExt cx="609" cy="480"/>
          </a:xfrm>
        </p:grpSpPr>
        <p:sp>
          <p:nvSpPr>
            <p:cNvPr id="10254" name="Text Box 14"/>
            <p:cNvSpPr txBox="1">
              <a:spLocks noChangeArrowheads="1"/>
            </p:cNvSpPr>
            <p:nvPr/>
          </p:nvSpPr>
          <p:spPr bwMode="auto">
            <a:xfrm>
              <a:off x="2976" y="1776"/>
              <a:ext cx="17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r</a:t>
              </a:r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 flipV="1">
              <a:off x="2544" y="1920"/>
              <a:ext cx="432" cy="33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2590800" y="2895600"/>
            <a:ext cx="966788" cy="762000"/>
            <a:chOff x="2544" y="1776"/>
            <a:chExt cx="609" cy="480"/>
          </a:xfrm>
        </p:grpSpPr>
        <p:sp>
          <p:nvSpPr>
            <p:cNvPr id="10257" name="Text Box 17"/>
            <p:cNvSpPr txBox="1">
              <a:spLocks noChangeArrowheads="1"/>
            </p:cNvSpPr>
            <p:nvPr/>
          </p:nvSpPr>
          <p:spPr bwMode="auto">
            <a:xfrm>
              <a:off x="2976" y="1776"/>
              <a:ext cx="1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000" i="1">
                  <a:solidFill>
                    <a:srgbClr val="CC0000"/>
                  </a:solidFill>
                </a:rPr>
                <a:t>s</a:t>
              </a:r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V="1">
              <a:off x="2544" y="1920"/>
              <a:ext cx="432" cy="33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4419600" y="457200"/>
            <a:ext cx="4586288" cy="2632075"/>
            <a:chOff x="2784" y="288"/>
            <a:chExt cx="2889" cy="1658"/>
          </a:xfrm>
        </p:grpSpPr>
        <p:graphicFrame>
          <p:nvGraphicFramePr>
            <p:cNvPr id="10242" name="Object 2"/>
            <p:cNvGraphicFramePr>
              <a:graphicFrameLocks noChangeAspect="1"/>
            </p:cNvGraphicFramePr>
            <p:nvPr/>
          </p:nvGraphicFramePr>
          <p:xfrm>
            <a:off x="2880" y="288"/>
            <a:ext cx="2793" cy="1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2654280" imgH="1574640" progId="Equation.3">
                    <p:embed/>
                  </p:oleObj>
                </mc:Choice>
                <mc:Fallback>
                  <p:oleObj name="数式" r:id="rId2" imgW="2654280" imgH="1574640" progId="Equation.3">
                    <p:embed/>
                    <p:pic>
                      <p:nvPicPr>
                        <p:cNvPr id="1024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88"/>
                          <a:ext cx="2793" cy="16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>
              <a:off x="2784" y="48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797175" y="4849813"/>
            <a:ext cx="6118225" cy="1852612"/>
            <a:chOff x="1762" y="3055"/>
            <a:chExt cx="3854" cy="1167"/>
          </a:xfrm>
        </p:grpSpPr>
        <p:graphicFrame>
          <p:nvGraphicFramePr>
            <p:cNvPr id="10261" name="Object 21"/>
            <p:cNvGraphicFramePr>
              <a:graphicFrameLocks noChangeAspect="1"/>
            </p:cNvGraphicFramePr>
            <p:nvPr/>
          </p:nvGraphicFramePr>
          <p:xfrm>
            <a:off x="1762" y="3055"/>
            <a:ext cx="3854" cy="1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4" imgW="3733560" imgH="1130040" progId="Equation.3">
                    <p:embed/>
                  </p:oleObj>
                </mc:Choice>
                <mc:Fallback>
                  <p:oleObj name="数式" r:id="rId4" imgW="3733560" imgH="1130040" progId="Equation.3">
                    <p:embed/>
                    <p:pic>
                      <p:nvPicPr>
                        <p:cNvPr id="1026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" y="3055"/>
                          <a:ext cx="3854" cy="1167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2" name="Line 22"/>
            <p:cNvSpPr>
              <a:spLocks noChangeShapeType="1"/>
            </p:cNvSpPr>
            <p:nvPr/>
          </p:nvSpPr>
          <p:spPr bwMode="auto">
            <a:xfrm>
              <a:off x="3696" y="3264"/>
              <a:ext cx="182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Line 23"/>
            <p:cNvSpPr>
              <a:spLocks noChangeShapeType="1"/>
            </p:cNvSpPr>
            <p:nvPr/>
          </p:nvSpPr>
          <p:spPr bwMode="auto">
            <a:xfrm>
              <a:off x="1776" y="3456"/>
              <a:ext cx="163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1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55D454A-20D2-4B83-B1A7-539278052B7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Proving techniques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By induction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(3 steps) Basis, inductive hypothesis, inductive step</a:t>
            </a: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By contradiction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Start with the statement contradictory to the given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E.g., To prove (A =&gt; B), we start with: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(A and ~B)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… and then show that could never happen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What if you want to prove that “(A and B =&gt; C or D)”?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By </a:t>
            </a:r>
            <a:r>
              <a:rPr lang="en-US" sz="2400" dirty="0" err="1">
                <a:solidFill>
                  <a:srgbClr val="C00000"/>
                </a:solidFill>
              </a:rPr>
              <a:t>contrapositive</a:t>
            </a:r>
            <a:r>
              <a:rPr lang="en-US" sz="2400" dirty="0">
                <a:solidFill>
                  <a:srgbClr val="C00000"/>
                </a:solidFill>
              </a:rPr>
              <a:t>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dirty="0"/>
              <a:t> then </a:t>
            </a:r>
            <a:r>
              <a:rPr lang="en-US" sz="2200" i="1" dirty="0"/>
              <a:t>B	</a:t>
            </a:r>
            <a:r>
              <a:rPr lang="en-US" sz="2200" dirty="0"/>
              <a:t> </a:t>
            </a:r>
            <a:r>
              <a:rPr lang="en-US" sz="2200" dirty="0">
                <a:cs typeface="Arial" charset="0"/>
              </a:rPr>
              <a:t>≡	</a:t>
            </a:r>
            <a:r>
              <a:rPr lang="en-US" sz="2200" dirty="0"/>
              <a:t>If </a:t>
            </a:r>
            <a:r>
              <a:rPr lang="en-US" sz="2200" i="1" dirty="0"/>
              <a:t>~B</a:t>
            </a:r>
            <a:r>
              <a:rPr lang="en-US" sz="2200" dirty="0"/>
              <a:t> then </a:t>
            </a:r>
            <a:r>
              <a:rPr lang="en-US" sz="2200" i="1" dirty="0"/>
              <a:t>~A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32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E2A43A-0AA5-4F44-9DF3-1FD5226683D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Proving techniques…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By counter-example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Show an example that disproves the claim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Note: There is no such thing called a 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“proof by example”!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So when asked to prove a claim, an example that satisfied that claim is not a proof </a:t>
            </a:r>
          </a:p>
        </p:txBody>
      </p:sp>
    </p:spTree>
    <p:extLst>
      <p:ext uri="{BB962C8B-B14F-4D97-AF65-F5344CB8AC3E}">
        <p14:creationId xmlns:p14="http://schemas.microsoft.com/office/powerpoint/2010/main" val="159554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Induction</a:t>
            </a:r>
            <a:endParaRPr lang="en-CA" sz="4000" dirty="0">
              <a:solidFill>
                <a:srgbClr val="FF0000"/>
              </a:solidFill>
            </a:endParaRP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5181600"/>
          </a:xfrm>
        </p:spPr>
        <p:txBody>
          <a:bodyPr/>
          <a:lstStyle/>
          <a:p>
            <a:pPr marL="0" indent="0"/>
            <a:r>
              <a:rPr lang="en-US" sz="2800" dirty="0">
                <a:sym typeface="Symbol" pitchFamily="18" charset="2"/>
              </a:rPr>
              <a:t>If we have a propositional function P(n), and we want to prove that P(n) is true for any natural number n, we do the following: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  <a:p>
            <a:pPr marL="0" indent="0">
              <a:buFontTx/>
              <a:buChar char="•"/>
            </a:pPr>
            <a:r>
              <a:rPr lang="en-US" sz="2800" b="1" dirty="0">
                <a:sym typeface="Symbol" pitchFamily="18" charset="2"/>
              </a:rPr>
              <a:t>  Show that P(0) is true.</a:t>
            </a:r>
            <a:br>
              <a:rPr lang="en-US" sz="2800" b="1" dirty="0">
                <a:sym typeface="Symbol" pitchFamily="18" charset="2"/>
              </a:rPr>
            </a:b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dirty="0">
                <a:sym typeface="Symbol" pitchFamily="18" charset="2"/>
              </a:rPr>
              <a:t>   (basis step)</a:t>
            </a:r>
          </a:p>
          <a:p>
            <a:pPr marL="0" indent="0">
              <a:buFontTx/>
              <a:buChar char="•"/>
            </a:pPr>
            <a:r>
              <a:rPr lang="en-US" sz="2800" b="1" dirty="0">
                <a:sym typeface="Symbol" pitchFamily="18" charset="2"/>
              </a:rPr>
              <a:t> Show that if P(n) then P(n + 1) for any </a:t>
            </a:r>
            <a:r>
              <a:rPr lang="en-US" sz="2800" b="1" dirty="0" err="1">
                <a:sym typeface="Symbol" pitchFamily="18" charset="2"/>
              </a:rPr>
              <a:t>nN</a:t>
            </a:r>
            <a:r>
              <a:rPr lang="en-US" sz="2800" b="1" dirty="0">
                <a:sym typeface="Symbol" pitchFamily="18" charset="2"/>
              </a:rPr>
              <a:t>.</a:t>
            </a:r>
            <a:br>
              <a:rPr lang="en-US" sz="2800" b="1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    (inductive step)</a:t>
            </a:r>
          </a:p>
          <a:p>
            <a:pPr marL="0" indent="0">
              <a:buFontTx/>
              <a:buChar char="•"/>
            </a:pPr>
            <a:r>
              <a:rPr lang="en-US" sz="2800" b="1" dirty="0">
                <a:sym typeface="Symbol" pitchFamily="18" charset="2"/>
              </a:rPr>
              <a:t> Then P(n) must be true for any </a:t>
            </a:r>
            <a:r>
              <a:rPr lang="en-US" sz="2800" b="1" dirty="0" err="1">
                <a:sym typeface="Symbol" pitchFamily="18" charset="2"/>
              </a:rPr>
              <a:t>nN</a:t>
            </a:r>
            <a:r>
              <a:rPr lang="en-US" sz="2800" b="1" dirty="0">
                <a:sym typeface="Symbol" pitchFamily="18" charset="2"/>
              </a:rPr>
              <a:t>. </a:t>
            </a:r>
            <a:br>
              <a:rPr lang="en-US" sz="2800" b="1" dirty="0">
                <a:sym typeface="Symbol" pitchFamily="18" charset="2"/>
              </a:rPr>
            </a:b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dirty="0">
                <a:sym typeface="Symbol" pitchFamily="18" charset="2"/>
              </a:rPr>
              <a:t>   (conclusion)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Induction</a:t>
            </a:r>
            <a:endParaRPr lang="en-CA" sz="4800" dirty="0">
              <a:solidFill>
                <a:srgbClr val="FF0000"/>
              </a:solidFill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001000" cy="4800600"/>
          </a:xfrm>
        </p:spPr>
        <p:txBody>
          <a:bodyPr/>
          <a:lstStyle/>
          <a:p>
            <a:pPr marL="520700" indent="-520700"/>
            <a:r>
              <a:rPr lang="en-US" sz="2800" b="1" u="sng" dirty="0">
                <a:sym typeface="Symbol" pitchFamily="18" charset="2"/>
              </a:rPr>
              <a:t>Example: </a:t>
            </a:r>
            <a:r>
              <a:rPr lang="en-US" sz="2800" dirty="0">
                <a:sym typeface="Symbol" pitchFamily="18" charset="2"/>
              </a:rPr>
              <a:t>Show that n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for all positive integers n.</a:t>
            </a:r>
          </a:p>
          <a:p>
            <a:pPr marL="520700" indent="-520700"/>
            <a:endParaRPr lang="en-US" sz="1600" dirty="0"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Let P(n) be the proposition “n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.”</a:t>
            </a:r>
          </a:p>
          <a:p>
            <a:pPr marL="520700" indent="-520700"/>
            <a:endParaRPr lang="en-US" sz="1600" dirty="0"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1.  Show that P(1) is true.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(basis step)</a:t>
            </a:r>
          </a:p>
          <a:p>
            <a:pPr marL="520700" indent="-520700"/>
            <a:endParaRPr lang="en-US" sz="1600" dirty="0"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P(1) is true, because 1 &lt; 2</a:t>
            </a:r>
            <a:r>
              <a:rPr lang="en-US" sz="2800" baseline="30000" dirty="0">
                <a:sym typeface="Symbol" pitchFamily="18" charset="2"/>
              </a:rPr>
              <a:t>1</a:t>
            </a:r>
            <a:r>
              <a:rPr lang="en-US" sz="2800" dirty="0">
                <a:sym typeface="Symbol" pitchFamily="18" charset="2"/>
              </a:rPr>
              <a:t> = 2.</a:t>
            </a:r>
          </a:p>
          <a:p>
            <a:pPr marL="520700" indent="-520700"/>
            <a:endParaRPr lang="en-US" sz="2800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4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4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Induction</a:t>
            </a:r>
            <a:endParaRPr lang="en-CA" sz="4800" dirty="0">
              <a:solidFill>
                <a:srgbClr val="FF0000"/>
              </a:solidFill>
            </a:endParaRP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001000" cy="4800600"/>
          </a:xfrm>
        </p:spPr>
        <p:txBody>
          <a:bodyPr/>
          <a:lstStyle/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2.  Show that if P(n) is true, then P(n + 1) is true.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(inductive step)</a:t>
            </a:r>
          </a:p>
          <a:p>
            <a:pPr marL="520700" indent="-520700">
              <a:lnSpc>
                <a:spcPct val="90000"/>
              </a:lnSpc>
            </a:pPr>
            <a:endParaRPr lang="en-US" sz="1600" dirty="0">
              <a:sym typeface="Symbol" pitchFamily="18" charset="2"/>
            </a:endParaRPr>
          </a:p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Assume that n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is true.</a:t>
            </a:r>
          </a:p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We need to show that P(n + 1) is true, i.e.</a:t>
            </a:r>
          </a:p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n + 1 &lt; 2</a:t>
            </a:r>
            <a:r>
              <a:rPr lang="en-US" sz="2800" baseline="30000" dirty="0">
                <a:sym typeface="Symbol" pitchFamily="18" charset="2"/>
              </a:rPr>
              <a:t>n+1</a:t>
            </a:r>
          </a:p>
          <a:p>
            <a:pPr marL="520700" indent="-520700">
              <a:lnSpc>
                <a:spcPct val="90000"/>
              </a:lnSpc>
            </a:pPr>
            <a:endParaRPr lang="en-US" sz="2800" baseline="30000" dirty="0">
              <a:sym typeface="Symbol" pitchFamily="18" charset="2"/>
            </a:endParaRPr>
          </a:p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We start from n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:</a:t>
            </a:r>
          </a:p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n + 1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+ 1 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+ 2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= 2</a:t>
            </a:r>
            <a:r>
              <a:rPr lang="en-US" sz="2800" baseline="30000" dirty="0">
                <a:sym typeface="Symbol" pitchFamily="18" charset="2"/>
              </a:rPr>
              <a:t>n+1</a:t>
            </a:r>
          </a:p>
          <a:p>
            <a:pPr marL="520700" indent="-520700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Therefore, if n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then n + 1 &lt; 2</a:t>
            </a:r>
            <a:r>
              <a:rPr lang="en-US" sz="2800" baseline="30000" dirty="0">
                <a:sym typeface="Symbol" pitchFamily="18" charset="2"/>
              </a:rPr>
              <a:t>n+1</a:t>
            </a:r>
            <a:endParaRPr lang="en-US" sz="2800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1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5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5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Induction</a:t>
            </a:r>
            <a:endParaRPr lang="en-CA" sz="4000" dirty="0">
              <a:solidFill>
                <a:srgbClr val="FF0000"/>
              </a:solidFill>
            </a:endParaRP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01000" cy="3886200"/>
          </a:xfrm>
        </p:spPr>
        <p:txBody>
          <a:bodyPr/>
          <a:lstStyle/>
          <a:p>
            <a:pPr marL="520700" indent="-520700">
              <a:buFontTx/>
              <a:buAutoNum type="arabicPeriod" startAt="3"/>
            </a:pPr>
            <a:r>
              <a:rPr lang="en-US" sz="2800" dirty="0">
                <a:sym typeface="Symbol" pitchFamily="18" charset="2"/>
              </a:rPr>
              <a:t>Then P(n) must be true for any positive integer.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(conclusion)</a:t>
            </a:r>
          </a:p>
          <a:p>
            <a:pPr marL="520700" indent="-520700"/>
            <a:endParaRPr lang="en-US" sz="2800" dirty="0"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n &lt; 2</a:t>
            </a:r>
            <a:r>
              <a:rPr lang="en-US" sz="2800" baseline="30000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 is true for any positive integer.</a:t>
            </a:r>
          </a:p>
          <a:p>
            <a:pPr marL="520700" indent="-520700"/>
            <a:endParaRPr lang="en-US" sz="2800" dirty="0"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End of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1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Induction</a:t>
            </a:r>
            <a:endParaRPr lang="en-CA" sz="4000" dirty="0">
              <a:solidFill>
                <a:srgbClr val="FF0000"/>
              </a:solidFill>
            </a:endParaRP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7696200" cy="4343400"/>
          </a:xfrm>
        </p:spPr>
        <p:txBody>
          <a:bodyPr/>
          <a:lstStyle/>
          <a:p>
            <a:pPr marL="457200" indent="-457200"/>
            <a:r>
              <a:rPr lang="en-US" sz="2800" b="1" dirty="0">
                <a:sym typeface="Symbol" pitchFamily="18" charset="2"/>
              </a:rPr>
              <a:t>Another Example (“Gauss”): </a:t>
            </a:r>
            <a:r>
              <a:rPr lang="en-US" sz="2800" dirty="0">
                <a:sym typeface="Symbol" pitchFamily="18" charset="2"/>
              </a:rPr>
              <a:t>1 + 2 + … + n = n (n + 1)/2</a:t>
            </a:r>
          </a:p>
          <a:p>
            <a:pPr marL="457200" indent="-457200">
              <a:spcBef>
                <a:spcPct val="45000"/>
              </a:spcBef>
              <a:buFontTx/>
              <a:buAutoNum type="arabicPeriod"/>
            </a:pPr>
            <a:r>
              <a:rPr lang="en-US" sz="2800" dirty="0">
                <a:sym typeface="Symbol" pitchFamily="18" charset="2"/>
              </a:rPr>
              <a:t>Show that P(0) is true.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(basis step)</a:t>
            </a:r>
          </a:p>
          <a:p>
            <a:pPr marL="457200" indent="-457200"/>
            <a:r>
              <a:rPr lang="en-US" sz="2800" dirty="0">
                <a:sym typeface="Symbol" pitchFamily="18" charset="2"/>
              </a:rPr>
              <a:t>For n = 0 we get 0 = 0.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Induction</a:t>
            </a:r>
            <a:endParaRPr lang="en-CA" sz="4800" dirty="0">
              <a:solidFill>
                <a:srgbClr val="FF0000"/>
              </a:solidFill>
            </a:endParaRP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5105400"/>
          </a:xfrm>
        </p:spPr>
        <p:txBody>
          <a:bodyPr/>
          <a:lstStyle/>
          <a:p>
            <a:pPr marL="685800" indent="-685800">
              <a:buFontTx/>
              <a:buAutoNum type="arabicPeriod" startAt="2"/>
            </a:pPr>
            <a:r>
              <a:rPr lang="en-US" sz="2800" dirty="0">
                <a:sym typeface="Symbol" pitchFamily="18" charset="2"/>
              </a:rPr>
              <a:t>Show that if P(n) then P(n + 1) for any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latin typeface="Monotype Corsiva" pitchFamily="66" charset="0"/>
                <a:sym typeface="Symbol" pitchFamily="18" charset="2"/>
              </a:rPr>
              <a:t>. </a:t>
            </a:r>
            <a:r>
              <a:rPr lang="en-US" sz="2800" dirty="0">
                <a:sym typeface="Symbol" pitchFamily="18" charset="2"/>
              </a:rPr>
              <a:t> (inductive step)</a:t>
            </a:r>
          </a:p>
          <a:p>
            <a:pPr marL="685800" indent="-685800"/>
            <a:endParaRPr lang="en-US" sz="1600" dirty="0">
              <a:solidFill>
                <a:srgbClr val="66FF33"/>
              </a:solidFill>
              <a:sym typeface="Symbol" pitchFamily="18" charset="2"/>
            </a:endParaRPr>
          </a:p>
          <a:p>
            <a:pPr marL="685800" indent="-685800"/>
            <a:r>
              <a:rPr lang="en-US" sz="2800" dirty="0">
                <a:sym typeface="Symbol" pitchFamily="18" charset="2"/>
              </a:rPr>
              <a:t>1 + 2 + … + n = n (n + 1)/2</a:t>
            </a:r>
          </a:p>
          <a:p>
            <a:pPr marL="685800" indent="-685800"/>
            <a:r>
              <a:rPr lang="en-US" sz="2800" dirty="0">
                <a:sym typeface="Symbol" pitchFamily="18" charset="2"/>
              </a:rPr>
              <a:t>1 + 2 + … + n </a:t>
            </a:r>
            <a:r>
              <a:rPr lang="en-US" sz="2800" dirty="0">
                <a:solidFill>
                  <a:srgbClr val="FF3300"/>
                </a:solidFill>
                <a:sym typeface="Symbol" pitchFamily="18" charset="2"/>
              </a:rPr>
              <a:t>+ (n + 1)</a:t>
            </a:r>
            <a:r>
              <a:rPr lang="en-US" sz="2800" dirty="0">
                <a:sym typeface="Symbol" pitchFamily="18" charset="2"/>
              </a:rPr>
              <a:t> = n (n + 1)/2 </a:t>
            </a:r>
            <a:r>
              <a:rPr lang="en-US" sz="2800" dirty="0">
                <a:solidFill>
                  <a:srgbClr val="FF3300"/>
                </a:solidFill>
                <a:sym typeface="Symbol" pitchFamily="18" charset="2"/>
              </a:rPr>
              <a:t>+ (n + 1)</a:t>
            </a:r>
          </a:p>
          <a:p>
            <a:pPr marL="685800" indent="-685800"/>
            <a:r>
              <a:rPr lang="en-US" sz="2800" dirty="0">
                <a:sym typeface="Symbol" pitchFamily="18" charset="2"/>
              </a:rPr>
              <a:t>	= (2n + 2 + n (n + 1))/2</a:t>
            </a:r>
          </a:p>
          <a:p>
            <a:pPr marL="685800" indent="-685800"/>
            <a:r>
              <a:rPr lang="en-US" sz="2800" dirty="0">
                <a:sym typeface="Symbol" pitchFamily="18" charset="2"/>
              </a:rPr>
              <a:t>	= (2n + 2 + n</a:t>
            </a:r>
            <a:r>
              <a:rPr lang="en-US" sz="2800" baseline="30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 + n)/2</a:t>
            </a:r>
          </a:p>
          <a:p>
            <a:pPr marL="685800" indent="-685800"/>
            <a:r>
              <a:rPr lang="en-US" sz="2800" dirty="0">
                <a:sym typeface="Symbol" pitchFamily="18" charset="2"/>
              </a:rPr>
              <a:t>	= (2 + 3n + n</a:t>
            </a:r>
            <a:r>
              <a:rPr lang="en-US" sz="2800" baseline="30000" dirty="0">
                <a:sym typeface="Symbol" pitchFamily="18" charset="2"/>
              </a:rPr>
              <a:t>2 </a:t>
            </a:r>
            <a:r>
              <a:rPr lang="en-US" sz="2800" dirty="0">
                <a:sym typeface="Symbol" pitchFamily="18" charset="2"/>
              </a:rPr>
              <a:t>)/2</a:t>
            </a:r>
          </a:p>
          <a:p>
            <a:pPr marL="685800" indent="-685800"/>
            <a:r>
              <a:rPr lang="en-US" sz="2800" dirty="0">
                <a:sym typeface="Symbol" pitchFamily="18" charset="2"/>
              </a:rPr>
              <a:t>	= (n + 1) (n + 2)/2</a:t>
            </a:r>
          </a:p>
          <a:p>
            <a:pPr marL="685800" indent="-685800"/>
            <a:r>
              <a:rPr lang="en-US" sz="2800" dirty="0">
                <a:sym typeface="Symbol" pitchFamily="18" charset="2"/>
              </a:rPr>
              <a:t>	= </a:t>
            </a:r>
            <a:r>
              <a:rPr lang="en-US" sz="2800" dirty="0">
                <a:solidFill>
                  <a:srgbClr val="FF3300"/>
                </a:solidFill>
                <a:sym typeface="Symbol" pitchFamily="18" charset="2"/>
              </a:rPr>
              <a:t>(n + 1)</a:t>
            </a:r>
            <a:r>
              <a:rPr lang="en-US" sz="2800" dirty="0">
                <a:sym typeface="Symbol" pitchFamily="18" charset="2"/>
              </a:rPr>
              <a:t> (</a:t>
            </a:r>
            <a:r>
              <a:rPr lang="en-US" sz="2800" dirty="0">
                <a:solidFill>
                  <a:srgbClr val="FF3300"/>
                </a:solidFill>
                <a:sym typeface="Symbol" pitchFamily="18" charset="2"/>
              </a:rPr>
              <a:t>(n + 1)</a:t>
            </a:r>
            <a:r>
              <a:rPr lang="en-US" sz="2800" dirty="0">
                <a:sym typeface="Symbol" pitchFamily="18" charset="2"/>
              </a:rPr>
              <a:t> + 1)/2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2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Induction</a:t>
            </a:r>
            <a:endParaRPr lang="en-CA" sz="4000" dirty="0">
              <a:solidFill>
                <a:srgbClr val="FF0000"/>
              </a:solidFill>
            </a:endParaRP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001000" cy="3429000"/>
          </a:xfrm>
        </p:spPr>
        <p:txBody>
          <a:bodyPr/>
          <a:lstStyle/>
          <a:p>
            <a:pPr marL="520700" indent="-520700">
              <a:buFontTx/>
              <a:buAutoNum type="arabicPeriod" startAt="3"/>
            </a:pPr>
            <a:r>
              <a:rPr lang="en-US" sz="2800" dirty="0">
                <a:sym typeface="Symbol" pitchFamily="18" charset="2"/>
              </a:rPr>
              <a:t>Then P(n) must be true for any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sym typeface="Symbol" pitchFamily="18" charset="2"/>
              </a:rPr>
              <a:t>. (conclusion)</a:t>
            </a:r>
          </a:p>
          <a:p>
            <a:pPr marL="520700" indent="-520700"/>
            <a:endParaRPr lang="en-US" sz="2800" dirty="0">
              <a:solidFill>
                <a:srgbClr val="66FF33"/>
              </a:solidFill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1 + 2 + … + n = n (n + 1)/2 is true for all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sym typeface="Symbol" pitchFamily="18" charset="2"/>
              </a:rPr>
              <a:t>.</a:t>
            </a:r>
            <a:r>
              <a:rPr lang="en-US" sz="2800" dirty="0">
                <a:latin typeface="Monotype Corsiva" pitchFamily="66" charset="0"/>
                <a:sym typeface="Symbol" pitchFamily="18" charset="2"/>
              </a:rPr>
              <a:t> </a:t>
            </a:r>
            <a:br>
              <a:rPr lang="en-US" sz="2800" dirty="0">
                <a:sym typeface="Symbol" pitchFamily="18" charset="2"/>
              </a:rPr>
            </a:br>
            <a:endParaRPr lang="en-US" sz="2800" dirty="0">
              <a:sym typeface="Symbol" pitchFamily="18" charset="2"/>
            </a:endParaRPr>
          </a:p>
          <a:p>
            <a:pPr marL="520700" indent="-520700"/>
            <a:r>
              <a:rPr lang="en-US" sz="2800" dirty="0">
                <a:sym typeface="Symbol" pitchFamily="18" charset="2"/>
              </a:rPr>
              <a:t>End of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942DA-399E-4EAE-970D-504E82901BDA}" type="slidenum">
              <a:rPr lang="en-CA"/>
              <a:pPr/>
              <a:t>23</a:t>
            </a:fld>
            <a:endParaRPr lang="en-CA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Induction</a:t>
            </a:r>
            <a:endParaRPr lang="en-CA" sz="4000" dirty="0">
              <a:solidFill>
                <a:srgbClr val="FF0000"/>
              </a:solidFill>
            </a:endParaRP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4800600"/>
          </a:xfrm>
        </p:spPr>
        <p:txBody>
          <a:bodyPr/>
          <a:lstStyle/>
          <a:p>
            <a:pPr marL="0" indent="0"/>
            <a:r>
              <a:rPr lang="en-US" sz="2800" dirty="0">
                <a:sym typeface="Symbol" pitchFamily="18" charset="2"/>
              </a:rPr>
              <a:t>There is another proof technique that is very similar to the principle of mathematical induction.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  <a:p>
            <a:pPr marL="0" indent="0"/>
            <a:r>
              <a:rPr lang="en-US" sz="2800" dirty="0">
                <a:sym typeface="Symbol" pitchFamily="18" charset="2"/>
              </a:rPr>
              <a:t>It is called </a:t>
            </a:r>
            <a:r>
              <a:rPr lang="en-US" sz="2800" b="1" dirty="0">
                <a:sym typeface="Symbol" pitchFamily="18" charset="2"/>
              </a:rPr>
              <a:t>the second principle of mathematical induction</a:t>
            </a:r>
            <a:r>
              <a:rPr lang="en-US" sz="2800" dirty="0">
                <a:sym typeface="Symbol" pitchFamily="18" charset="2"/>
              </a:rPr>
              <a:t>.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  <a:p>
            <a:pPr marL="0" indent="0"/>
            <a:r>
              <a:rPr lang="en-US" sz="2800" dirty="0">
                <a:sym typeface="Symbol" pitchFamily="18" charset="2"/>
              </a:rPr>
              <a:t>It can be used to prove that a propositional function P(n) is true for any natural number n. </a:t>
            </a:r>
            <a:endParaRPr lang="en-US" sz="2800" dirty="0">
              <a:solidFill>
                <a:srgbClr val="66FF33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0100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Induction</a:t>
            </a:r>
            <a:endParaRPr lang="en-CA" sz="3600" dirty="0">
              <a:solidFill>
                <a:srgbClr val="FF0000"/>
              </a:solidFill>
            </a:endParaRP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229600" cy="4953000"/>
          </a:xfrm>
        </p:spPr>
        <p:txBody>
          <a:bodyPr/>
          <a:lstStyle/>
          <a:p>
            <a:r>
              <a:rPr lang="en-US" sz="2800" dirty="0">
                <a:sym typeface="Symbol" pitchFamily="18" charset="2"/>
              </a:rPr>
              <a:t>The second principle of mathematical induction:</a:t>
            </a:r>
          </a:p>
          <a:p>
            <a:endParaRPr lang="en-US" sz="1600" dirty="0">
              <a:sym typeface="Symbol" pitchFamily="18" charset="2"/>
            </a:endParaRPr>
          </a:p>
          <a:p>
            <a:pPr>
              <a:buFontTx/>
              <a:buChar char="•"/>
            </a:pPr>
            <a:r>
              <a:rPr lang="en-US" sz="2800" dirty="0">
                <a:sym typeface="Symbol" pitchFamily="18" charset="2"/>
              </a:rPr>
              <a:t>Show that P(0) is true.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(basis step)</a:t>
            </a:r>
          </a:p>
          <a:p>
            <a:pPr>
              <a:buFontTx/>
              <a:buChar char="•"/>
            </a:pPr>
            <a:r>
              <a:rPr lang="en-US" sz="2800" dirty="0">
                <a:sym typeface="Symbol" pitchFamily="18" charset="2"/>
              </a:rPr>
              <a:t>Show that if P(0) and P(1) and … and P(n),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then P(n + 1) for any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sym typeface="Symbol" pitchFamily="18" charset="2"/>
              </a:rPr>
              <a:t>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(inductive step)</a:t>
            </a:r>
          </a:p>
          <a:p>
            <a:pPr>
              <a:buFontTx/>
              <a:buChar char="•"/>
            </a:pPr>
            <a:r>
              <a:rPr lang="en-US" sz="2800" dirty="0">
                <a:sym typeface="Symbol" pitchFamily="18" charset="2"/>
              </a:rPr>
              <a:t>Then P(n) must be true for any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sym typeface="Symbol" pitchFamily="18" charset="2"/>
              </a:rPr>
              <a:t>. 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(conclusion)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7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Induction</a:t>
            </a:r>
            <a:endParaRPr lang="en-CA" sz="3600">
              <a:solidFill>
                <a:srgbClr val="FF0000"/>
              </a:solidFill>
            </a:endParaRP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4800600"/>
          </a:xfrm>
        </p:spPr>
        <p:txBody>
          <a:bodyPr/>
          <a:lstStyle/>
          <a:p>
            <a:pPr marL="0" indent="0"/>
            <a:r>
              <a:rPr lang="en-US" sz="2800" dirty="0">
                <a:sym typeface="Symbol" pitchFamily="18" charset="2"/>
              </a:rPr>
              <a:t>Example: Show that every integer greater than 1 can be written as the product of primes.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  <a:p>
            <a:pPr marL="0" indent="0">
              <a:buFontTx/>
              <a:buChar char="•"/>
            </a:pPr>
            <a:r>
              <a:rPr lang="en-US" sz="2800" dirty="0">
                <a:solidFill>
                  <a:srgbClr val="00FFFF"/>
                </a:solidFill>
                <a:sym typeface="Symbol" pitchFamily="18" charset="2"/>
              </a:rPr>
              <a:t>  </a:t>
            </a:r>
            <a:r>
              <a:rPr lang="en-US" sz="2800" dirty="0">
                <a:sym typeface="Symbol" pitchFamily="18" charset="2"/>
              </a:rPr>
              <a:t>Show that P(2) is true.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    (basis step)</a:t>
            </a:r>
          </a:p>
          <a:p>
            <a:pPr marL="0" indent="0"/>
            <a:endParaRPr lang="en-US" sz="2800" dirty="0">
              <a:solidFill>
                <a:srgbClr val="66FF33"/>
              </a:solidFill>
              <a:sym typeface="Symbol" pitchFamily="18" charset="2"/>
            </a:endParaRPr>
          </a:p>
          <a:p>
            <a:pPr marL="0" indent="0"/>
            <a:r>
              <a:rPr lang="en-US" sz="2800" dirty="0">
                <a:sym typeface="Symbol" pitchFamily="18" charset="2"/>
              </a:rPr>
              <a:t>2 is the product of one prime: itself.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7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Induction</a:t>
            </a:r>
            <a:endParaRPr lang="en-CA" sz="4000" dirty="0">
              <a:solidFill>
                <a:srgbClr val="FF0000"/>
              </a:solidFill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86800" cy="5181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2800" dirty="0">
                <a:sym typeface="Symbol" pitchFamily="18" charset="2"/>
              </a:rPr>
              <a:t>Show that if P(2) and P(3) and … and P(n),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then P(n + 1) for any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sym typeface="Symbol" pitchFamily="18" charset="2"/>
              </a:rPr>
              <a:t>. (inductive step)</a:t>
            </a:r>
          </a:p>
          <a:p>
            <a:pPr>
              <a:lnSpc>
                <a:spcPct val="90000"/>
              </a:lnSpc>
            </a:pPr>
            <a:endParaRPr lang="en-US" sz="9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Two possible cases: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800" dirty="0">
                <a:sym typeface="Symbol" pitchFamily="18" charset="2"/>
              </a:rPr>
              <a:t>If (n + 1) is </a:t>
            </a:r>
            <a:r>
              <a:rPr lang="en-US" sz="2800" b="1" dirty="0">
                <a:sym typeface="Symbol" pitchFamily="18" charset="2"/>
              </a:rPr>
              <a:t>prime</a:t>
            </a:r>
            <a:r>
              <a:rPr lang="en-US" sz="2800" dirty="0">
                <a:sym typeface="Symbol" pitchFamily="18" charset="2"/>
              </a:rPr>
              <a:t>, then obviously P(n + 1) is true.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800" dirty="0">
                <a:sym typeface="Symbol" pitchFamily="18" charset="2"/>
              </a:rPr>
              <a:t>If (n + 1) is </a:t>
            </a:r>
            <a:r>
              <a:rPr lang="en-US" sz="2800" b="1" dirty="0">
                <a:sym typeface="Symbol" pitchFamily="18" charset="2"/>
              </a:rPr>
              <a:t>composite</a:t>
            </a:r>
            <a:r>
              <a:rPr lang="en-US" sz="2800" dirty="0">
                <a:sym typeface="Symbol" pitchFamily="18" charset="2"/>
              </a:rPr>
              <a:t>, it can be written as the product of two integers a and b such that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2  a  b &lt; n + 1.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   By the </a:t>
            </a:r>
            <a:r>
              <a:rPr lang="en-US" sz="2800" b="1" dirty="0">
                <a:sym typeface="Symbol" pitchFamily="18" charset="2"/>
              </a:rPr>
              <a:t>induction hypothesis</a:t>
            </a:r>
            <a:r>
              <a:rPr lang="en-US" sz="2800" dirty="0">
                <a:sym typeface="Symbol" pitchFamily="18" charset="2"/>
              </a:rPr>
              <a:t>, both a and b can be written as the product of primes.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   Therefore, n + 1 = </a:t>
            </a:r>
            <a:r>
              <a:rPr lang="en-US" sz="2800" dirty="0" err="1">
                <a:sym typeface="Symbol" pitchFamily="18" charset="2"/>
              </a:rPr>
              <a:t>ab</a:t>
            </a:r>
            <a:r>
              <a:rPr lang="en-US" sz="2800" dirty="0">
                <a:sym typeface="Symbol" pitchFamily="18" charset="2"/>
              </a:rPr>
              <a:t> can be written as the product of primes.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0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Induction</a:t>
            </a:r>
            <a:endParaRPr lang="en-CA" sz="3600">
              <a:solidFill>
                <a:srgbClr val="FF0000"/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9600" cy="4648200"/>
          </a:xfrm>
        </p:spPr>
        <p:txBody>
          <a:bodyPr/>
          <a:lstStyle/>
          <a:p>
            <a:pPr marL="0" indent="0">
              <a:buFontTx/>
              <a:buChar char="•"/>
            </a:pPr>
            <a:r>
              <a:rPr lang="en-US" sz="2800" dirty="0">
                <a:sym typeface="Symbol" pitchFamily="18" charset="2"/>
              </a:rPr>
              <a:t>  Then P(n) must be true for any </a:t>
            </a:r>
            <a:r>
              <a:rPr lang="en-US" sz="2800" dirty="0" err="1">
                <a:sym typeface="Symbol" pitchFamily="18" charset="2"/>
              </a:rPr>
              <a:t>nN</a:t>
            </a:r>
            <a:r>
              <a:rPr lang="en-US" sz="2800" dirty="0">
                <a:sym typeface="Symbol" pitchFamily="18" charset="2"/>
              </a:rPr>
              <a:t>. 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    (conclusion)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  <a:p>
            <a:pPr marL="0" indent="0"/>
            <a:r>
              <a:rPr lang="en-US" sz="2800" dirty="0">
                <a:sym typeface="Symbol" pitchFamily="18" charset="2"/>
              </a:rPr>
              <a:t>End of proof.</a:t>
            </a:r>
          </a:p>
          <a:p>
            <a:pPr marL="0" indent="0"/>
            <a:endParaRPr lang="en-US" sz="2800" dirty="0">
              <a:sym typeface="Symbol" pitchFamily="18" charset="2"/>
            </a:endParaRPr>
          </a:p>
          <a:p>
            <a:pPr marL="0" indent="0"/>
            <a:r>
              <a:rPr lang="en-US" sz="2800" dirty="0">
                <a:sym typeface="Symbol" pitchFamily="18" charset="2"/>
              </a:rPr>
              <a:t>We have shown that </a:t>
            </a:r>
            <a:r>
              <a:rPr lang="en-US" sz="2800" b="1" dirty="0">
                <a:sym typeface="Symbol" pitchFamily="18" charset="2"/>
              </a:rPr>
              <a:t>every integer greater than 1</a:t>
            </a:r>
            <a:r>
              <a:rPr lang="en-US" sz="2800" dirty="0">
                <a:sym typeface="Symbol" pitchFamily="18" charset="2"/>
              </a:rPr>
              <a:t> can be written as the product of primes.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5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66800" y="1524000"/>
            <a:ext cx="1371600" cy="1131888"/>
            <a:chOff x="240" y="988"/>
            <a:chExt cx="864" cy="713"/>
          </a:xfrm>
        </p:grpSpPr>
        <p:graphicFrame>
          <p:nvGraphicFramePr>
            <p:cNvPr id="12303" name="Object 15"/>
            <p:cNvGraphicFramePr>
              <a:graphicFrameLocks noChangeAspect="1"/>
            </p:cNvGraphicFramePr>
            <p:nvPr/>
          </p:nvGraphicFramePr>
          <p:xfrm>
            <a:off x="240" y="988"/>
            <a:ext cx="864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799920" imgH="660240" progId="Equation.3">
                    <p:embed/>
                  </p:oleObj>
                </mc:Choice>
                <mc:Fallback>
                  <p:oleObj name="数式" r:id="rId2" imgW="799920" imgH="660240" progId="Equation.3">
                    <p:embed/>
                    <p:pic>
                      <p:nvPicPr>
                        <p:cNvPr id="1230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988"/>
                          <a:ext cx="864" cy="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>
              <a:off x="240" y="14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895600" y="1524000"/>
            <a:ext cx="1416050" cy="1131888"/>
            <a:chOff x="1824" y="960"/>
            <a:chExt cx="892" cy="713"/>
          </a:xfrm>
        </p:grpSpPr>
        <p:graphicFrame>
          <p:nvGraphicFramePr>
            <p:cNvPr id="12310" name="Object 22"/>
            <p:cNvGraphicFramePr>
              <a:graphicFrameLocks noChangeAspect="1"/>
            </p:cNvGraphicFramePr>
            <p:nvPr/>
          </p:nvGraphicFramePr>
          <p:xfrm>
            <a:off x="1824" y="960"/>
            <a:ext cx="892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4" imgW="825480" imgH="660240" progId="Equation.3">
                    <p:embed/>
                  </p:oleObj>
                </mc:Choice>
                <mc:Fallback>
                  <p:oleObj name="数式" r:id="rId4" imgW="825480" imgH="660240" progId="Equation.3">
                    <p:embed/>
                    <p:pic>
                      <p:nvPicPr>
                        <p:cNvPr id="1231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960"/>
                          <a:ext cx="892" cy="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1" name="Line 23"/>
            <p:cNvSpPr>
              <a:spLocks noChangeShapeType="1"/>
            </p:cNvSpPr>
            <p:nvPr/>
          </p:nvSpPr>
          <p:spPr bwMode="auto">
            <a:xfrm>
              <a:off x="1824" y="14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228600" y="22860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i="1"/>
              <a:t>P</a:t>
            </a:r>
            <a:r>
              <a:rPr lang="en-US" altLang="ja-JP" sz="2000"/>
              <a:t>(1)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800600" y="1524000"/>
            <a:ext cx="1416050" cy="1131888"/>
            <a:chOff x="3024" y="960"/>
            <a:chExt cx="892" cy="713"/>
          </a:xfrm>
        </p:grpSpPr>
        <p:graphicFrame>
          <p:nvGraphicFramePr>
            <p:cNvPr id="12313" name="Object 25"/>
            <p:cNvGraphicFramePr>
              <a:graphicFrameLocks noChangeAspect="1"/>
            </p:cNvGraphicFramePr>
            <p:nvPr/>
          </p:nvGraphicFramePr>
          <p:xfrm>
            <a:off x="3024" y="960"/>
            <a:ext cx="892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6" imgW="825480" imgH="660240" progId="Equation.3">
                    <p:embed/>
                  </p:oleObj>
                </mc:Choice>
                <mc:Fallback>
                  <p:oleObj name="数式" r:id="rId6" imgW="825480" imgH="660240" progId="Equation.3">
                    <p:embed/>
                    <p:pic>
                      <p:nvPicPr>
                        <p:cNvPr id="1231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960"/>
                          <a:ext cx="892" cy="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4" name="Line 26"/>
            <p:cNvSpPr>
              <a:spLocks noChangeShapeType="1"/>
            </p:cNvSpPr>
            <p:nvPr/>
          </p:nvSpPr>
          <p:spPr bwMode="auto">
            <a:xfrm>
              <a:off x="3072" y="14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15" name="Line 27"/>
          <p:cNvSpPr>
            <a:spLocks noChangeShapeType="1"/>
          </p:cNvSpPr>
          <p:nvPr/>
        </p:nvSpPr>
        <p:spPr bwMode="auto">
          <a:xfrm>
            <a:off x="6400800" y="2133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140575" y="1524000"/>
            <a:ext cx="1765300" cy="1131888"/>
            <a:chOff x="4498" y="960"/>
            <a:chExt cx="1112" cy="713"/>
          </a:xfrm>
        </p:grpSpPr>
        <p:graphicFrame>
          <p:nvGraphicFramePr>
            <p:cNvPr id="12316" name="Object 28"/>
            <p:cNvGraphicFramePr>
              <a:graphicFrameLocks noChangeAspect="1"/>
            </p:cNvGraphicFramePr>
            <p:nvPr/>
          </p:nvGraphicFramePr>
          <p:xfrm>
            <a:off x="4498" y="960"/>
            <a:ext cx="1112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8" imgW="1028520" imgH="660240" progId="Equation.3">
                    <p:embed/>
                  </p:oleObj>
                </mc:Choice>
                <mc:Fallback>
                  <p:oleObj name="数式" r:id="rId8" imgW="1028520" imgH="660240" progId="Equation.3">
                    <p:embed/>
                    <p:pic>
                      <p:nvPicPr>
                        <p:cNvPr id="12316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8" y="960"/>
                          <a:ext cx="1112" cy="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7" name="Line 29"/>
            <p:cNvSpPr>
              <a:spLocks noChangeShapeType="1"/>
            </p:cNvSpPr>
            <p:nvPr/>
          </p:nvSpPr>
          <p:spPr bwMode="auto">
            <a:xfrm>
              <a:off x="4656" y="14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381000" y="304800"/>
            <a:ext cx="594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u="sng"/>
              <a:t>Why does Mathematical induction work?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667000" y="3516313"/>
            <a:ext cx="2667000" cy="1371600"/>
            <a:chOff x="3696" y="96"/>
            <a:chExt cx="1680" cy="864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4032" y="96"/>
              <a:ext cx="672" cy="672"/>
              <a:chOff x="384" y="1488"/>
              <a:chExt cx="672" cy="672"/>
            </a:xfrm>
          </p:grpSpPr>
          <p:graphicFrame>
            <p:nvGraphicFramePr>
              <p:cNvPr id="12294" name="Object 6"/>
              <p:cNvGraphicFramePr>
                <a:graphicFrameLocks noChangeAspect="1"/>
              </p:cNvGraphicFramePr>
              <p:nvPr/>
            </p:nvGraphicFramePr>
            <p:xfrm>
              <a:off x="432" y="1488"/>
              <a:ext cx="480" cy="6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数式" r:id="rId10" imgW="444240" imgH="622080" progId="Equation.3">
                      <p:embed/>
                    </p:oleObj>
                  </mc:Choice>
                  <mc:Fallback>
                    <p:oleObj name="数式" r:id="rId10" imgW="444240" imgH="622080" progId="Equation.3">
                      <p:embed/>
                      <p:pic>
                        <p:nvPicPr>
                          <p:cNvPr id="12294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" y="1488"/>
                            <a:ext cx="480" cy="67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295" name="Line 7"/>
              <p:cNvSpPr>
                <a:spLocks noChangeShapeType="1"/>
              </p:cNvSpPr>
              <p:nvPr/>
            </p:nvSpPr>
            <p:spPr bwMode="auto">
              <a:xfrm>
                <a:off x="384" y="1920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3696" y="96"/>
              <a:ext cx="1632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3" name="Text Box 35"/>
            <p:cNvSpPr txBox="1">
              <a:spLocks noChangeArrowheads="1"/>
            </p:cNvSpPr>
            <p:nvPr/>
          </p:nvSpPr>
          <p:spPr bwMode="auto">
            <a:xfrm>
              <a:off x="3744" y="672"/>
              <a:ext cx="16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Law of detachment</a:t>
              </a:r>
            </a:p>
          </p:txBody>
        </p:sp>
      </p:grpSp>
      <p:sp>
        <p:nvSpPr>
          <p:cNvPr id="146" name="Slide Number Placeholder 1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4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2" grpId="0" autoUpdateAnimBg="0"/>
      <p:bldP spid="123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136DD6-9A69-AB3D-1DEC-0562D763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3" name="Object 41">
            <a:extLst>
              <a:ext uri="{FF2B5EF4-FFF2-40B4-BE49-F238E27FC236}">
                <a16:creationId xmlns:a16="http://schemas.microsoft.com/office/drawing/2014/main" id="{4A52F31A-6792-DDA7-68BE-CDFA43FC05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705092"/>
              </p:ext>
            </p:extLst>
          </p:nvPr>
        </p:nvGraphicFramePr>
        <p:xfrm>
          <a:off x="76201" y="990600"/>
          <a:ext cx="9067800" cy="89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4622760" imgH="457200" progId="Equation.3">
                  <p:embed/>
                </p:oleObj>
              </mc:Choice>
              <mc:Fallback>
                <p:oleObj name="数式" r:id="rId2" imgW="4622760" imgH="457200" progId="Equation.3">
                  <p:embed/>
                  <p:pic>
                    <p:nvPicPr>
                      <p:cNvPr id="3" name="Object 41">
                        <a:extLst>
                          <a:ext uri="{FF2B5EF4-FFF2-40B4-BE49-F238E27FC236}">
                            <a16:creationId xmlns:a16="http://schemas.microsoft.com/office/drawing/2014/main" id="{4A52F31A-6792-DDA7-68BE-CDFA43FC05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1" y="990600"/>
                        <a:ext cx="9067800" cy="895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7">
            <a:extLst>
              <a:ext uri="{FF2B5EF4-FFF2-40B4-BE49-F238E27FC236}">
                <a16:creationId xmlns:a16="http://schemas.microsoft.com/office/drawing/2014/main" id="{490F0B3D-D3D5-D4D7-2FA4-B59C72B1734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80826"/>
            <a:ext cx="8611092" cy="1447975"/>
            <a:chOff x="192" y="1546"/>
            <a:chExt cx="6155" cy="1238"/>
          </a:xfrm>
        </p:grpSpPr>
        <p:sp>
          <p:nvSpPr>
            <p:cNvPr id="5" name="Line 43">
              <a:extLst>
                <a:ext uri="{FF2B5EF4-FFF2-40B4-BE49-F238E27FC236}">
                  <a16:creationId xmlns:a16="http://schemas.microsoft.com/office/drawing/2014/main" id="{F3865ADF-7074-B56B-E54E-55E02D3E8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8" y="2458"/>
              <a:ext cx="3159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44">
              <a:extLst>
                <a:ext uri="{FF2B5EF4-FFF2-40B4-BE49-F238E27FC236}">
                  <a16:creationId xmlns:a16="http://schemas.microsoft.com/office/drawing/2014/main" id="{7084AD7B-A61F-8FF8-95DE-A321CC151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784"/>
              <a:ext cx="86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45">
              <a:extLst>
                <a:ext uri="{FF2B5EF4-FFF2-40B4-BE49-F238E27FC236}">
                  <a16:creationId xmlns:a16="http://schemas.microsoft.com/office/drawing/2014/main" id="{68AD57B7-957F-6F99-AF90-0833150CF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742"/>
              <a:ext cx="395" cy="61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46">
              <a:extLst>
                <a:ext uri="{FF2B5EF4-FFF2-40B4-BE49-F238E27FC236}">
                  <a16:creationId xmlns:a16="http://schemas.microsoft.com/office/drawing/2014/main" id="{100DB5D6-BEA0-3500-5BDE-5C2EDEA77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1546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dirty="0">
                  <a:solidFill>
                    <a:srgbClr val="CC0000"/>
                  </a:solidFill>
                </a:rPr>
                <a:t>P(n)</a:t>
              </a:r>
            </a:p>
          </p:txBody>
        </p:sp>
      </p:grpSp>
      <p:grpSp>
        <p:nvGrpSpPr>
          <p:cNvPr id="9" name="Group 51">
            <a:extLst>
              <a:ext uri="{FF2B5EF4-FFF2-40B4-BE49-F238E27FC236}">
                <a16:creationId xmlns:a16="http://schemas.microsoft.com/office/drawing/2014/main" id="{B6C468DE-ED2D-ED48-FF9F-D99B73C128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4800" y="2133600"/>
            <a:ext cx="8229600" cy="3725847"/>
            <a:chOff x="528" y="2784"/>
            <a:chExt cx="4793" cy="1303"/>
          </a:xfrm>
        </p:grpSpPr>
        <p:sp>
          <p:nvSpPr>
            <p:cNvPr id="10" name="AutoShape 50">
              <a:extLst>
                <a:ext uri="{FF2B5EF4-FFF2-40B4-BE49-F238E27FC236}">
                  <a16:creationId xmlns:a16="http://schemas.microsoft.com/office/drawing/2014/main" id="{C6A0349C-B16C-7856-86DC-D19D406C484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28" y="2784"/>
              <a:ext cx="4726" cy="1296"/>
            </a:xfrm>
            <a:prstGeom prst="rect">
              <a:avLst/>
            </a:prstGeom>
            <a:noFill/>
            <a:ln w="9525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52">
              <a:extLst>
                <a:ext uri="{FF2B5EF4-FFF2-40B4-BE49-F238E27FC236}">
                  <a16:creationId xmlns:a16="http://schemas.microsoft.com/office/drawing/2014/main" id="{D8CE90B5-0FA6-43C1-EBB6-91457B326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3852"/>
              <a:ext cx="43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true.</a:t>
              </a:r>
              <a:endParaRPr lang="en-US"/>
            </a:p>
          </p:txBody>
        </p:sp>
        <p:sp>
          <p:nvSpPr>
            <p:cNvPr id="12" name="Rectangle 53">
              <a:extLst>
                <a:ext uri="{FF2B5EF4-FFF2-40B4-BE49-F238E27FC236}">
                  <a16:creationId xmlns:a16="http://schemas.microsoft.com/office/drawing/2014/main" id="{29BDBE1A-473A-47A9-806B-A5DEE94E3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3852"/>
              <a:ext cx="1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is</a:t>
              </a:r>
              <a:endParaRPr lang="en-US"/>
            </a:p>
          </p:txBody>
        </p:sp>
        <p:sp>
          <p:nvSpPr>
            <p:cNvPr id="13" name="Rectangle 54">
              <a:extLst>
                <a:ext uri="{FF2B5EF4-FFF2-40B4-BE49-F238E27FC236}">
                  <a16:creationId xmlns:a16="http://schemas.microsoft.com/office/drawing/2014/main" id="{AF661BB2-2C23-37A7-AF31-49938D947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7" y="3852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4" name="Rectangle 55">
              <a:extLst>
                <a:ext uri="{FF2B5EF4-FFF2-40B4-BE49-F238E27FC236}">
                  <a16:creationId xmlns:a16="http://schemas.microsoft.com/office/drawing/2014/main" id="{75ECE88D-B19E-5A52-EFA4-83E1EAB35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7" y="3852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15" name="Rectangle 56">
              <a:extLst>
                <a:ext uri="{FF2B5EF4-FFF2-40B4-BE49-F238E27FC236}">
                  <a16:creationId xmlns:a16="http://schemas.microsoft.com/office/drawing/2014/main" id="{99C531E3-5264-DA9C-6469-C5FD4C9DC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3852"/>
              <a:ext cx="46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then </a:t>
              </a:r>
              <a:endParaRPr lang="en-US"/>
            </a:p>
          </p:txBody>
        </p:sp>
        <p:sp>
          <p:nvSpPr>
            <p:cNvPr id="16" name="Rectangle 57">
              <a:extLst>
                <a:ext uri="{FF2B5EF4-FFF2-40B4-BE49-F238E27FC236}">
                  <a16:creationId xmlns:a16="http://schemas.microsoft.com/office/drawing/2014/main" id="{9F2446C3-1926-E65F-0E13-09EAA47AF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3852"/>
              <a:ext cx="3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true</a:t>
              </a:r>
              <a:endParaRPr lang="en-US"/>
            </a:p>
          </p:txBody>
        </p:sp>
        <p:sp>
          <p:nvSpPr>
            <p:cNvPr id="17" name="Rectangle 58">
              <a:extLst>
                <a:ext uri="{FF2B5EF4-FFF2-40B4-BE49-F238E27FC236}">
                  <a16:creationId xmlns:a16="http://schemas.microsoft.com/office/drawing/2014/main" id="{2CF0E5EE-F991-07A4-173C-656189854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3852"/>
              <a:ext cx="1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is</a:t>
              </a:r>
              <a:endParaRPr lang="en-US"/>
            </a:p>
          </p:txBody>
        </p:sp>
        <p:sp>
          <p:nvSpPr>
            <p:cNvPr id="18" name="Rectangle 59">
              <a:extLst>
                <a:ext uri="{FF2B5EF4-FFF2-40B4-BE49-F238E27FC236}">
                  <a16:creationId xmlns:a16="http://schemas.microsoft.com/office/drawing/2014/main" id="{2F67BB1B-CD90-5F56-3BBD-93D2AC12C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3852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9" name="Rectangle 60">
              <a:extLst>
                <a:ext uri="{FF2B5EF4-FFF2-40B4-BE49-F238E27FC236}">
                  <a16:creationId xmlns:a16="http://schemas.microsoft.com/office/drawing/2014/main" id="{77234122-B952-5CED-0145-20F0E5CAD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" y="3852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20" name="Rectangle 61">
              <a:extLst>
                <a:ext uri="{FF2B5EF4-FFF2-40B4-BE49-F238E27FC236}">
                  <a16:creationId xmlns:a16="http://schemas.microsoft.com/office/drawing/2014/main" id="{664AE962-3803-6D4F-0694-5682FD25D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852"/>
              <a:ext cx="1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if</a:t>
              </a:r>
              <a:endParaRPr lang="en-US"/>
            </a:p>
          </p:txBody>
        </p:sp>
        <p:sp>
          <p:nvSpPr>
            <p:cNvPr id="21" name="Rectangle 62">
              <a:extLst>
                <a:ext uri="{FF2B5EF4-FFF2-40B4-BE49-F238E27FC236}">
                  <a16:creationId xmlns:a16="http://schemas.microsoft.com/office/drawing/2014/main" id="{2C91E56B-7F0A-970D-89DC-B84393EE9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" y="3852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22" name="Rectangle 63">
              <a:extLst>
                <a:ext uri="{FF2B5EF4-FFF2-40B4-BE49-F238E27FC236}">
                  <a16:creationId xmlns:a16="http://schemas.microsoft.com/office/drawing/2014/main" id="{6E9DB2E1-A5C3-AD55-E843-D9F10BE3C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3852"/>
              <a:ext cx="3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any </a:t>
              </a:r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751DBF7B-484C-A86E-B39F-65018CED1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3852"/>
              <a:ext cx="3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for </a:t>
              </a:r>
              <a:endParaRPr lang="en-US"/>
            </a:p>
          </p:txBody>
        </p:sp>
        <p:sp>
          <p:nvSpPr>
            <p:cNvPr id="24" name="Rectangle 65">
              <a:extLst>
                <a:ext uri="{FF2B5EF4-FFF2-40B4-BE49-F238E27FC236}">
                  <a16:creationId xmlns:a16="http://schemas.microsoft.com/office/drawing/2014/main" id="{F9B179A1-ADF8-3FFD-9C5C-6E7EC3035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3852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25" name="Rectangle 66">
              <a:extLst>
                <a:ext uri="{FF2B5EF4-FFF2-40B4-BE49-F238E27FC236}">
                  <a16:creationId xmlns:a16="http://schemas.microsoft.com/office/drawing/2014/main" id="{1CE2E524-B5C1-1D5E-549E-C485D33CC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3852"/>
              <a:ext cx="80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Therefore,</a:t>
              </a:r>
              <a:endParaRPr lang="en-US"/>
            </a:p>
          </p:txBody>
        </p:sp>
        <p:sp>
          <p:nvSpPr>
            <p:cNvPr id="26" name="Rectangle 67">
              <a:extLst>
                <a:ext uri="{FF2B5EF4-FFF2-40B4-BE49-F238E27FC236}">
                  <a16:creationId xmlns:a16="http://schemas.microsoft.com/office/drawing/2014/main" id="{F3606359-124F-2858-340A-24065CA0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3852"/>
              <a:ext cx="2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</a:t>
              </a:r>
              <a:endParaRPr lang="en-US"/>
            </a:p>
          </p:txBody>
        </p:sp>
        <p:sp>
          <p:nvSpPr>
            <p:cNvPr id="27" name="Rectangle 68">
              <a:extLst>
                <a:ext uri="{FF2B5EF4-FFF2-40B4-BE49-F238E27FC236}">
                  <a16:creationId xmlns:a16="http://schemas.microsoft.com/office/drawing/2014/main" id="{8DE90ABF-78E6-6DAF-0557-AFEB17E84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3852"/>
              <a:ext cx="5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    </a:t>
              </a:r>
              <a:endParaRPr lang="en-US"/>
            </a:p>
          </p:txBody>
        </p:sp>
        <p:sp>
          <p:nvSpPr>
            <p:cNvPr id="28" name="Rectangle 69">
              <a:extLst>
                <a:ext uri="{FF2B5EF4-FFF2-40B4-BE49-F238E27FC236}">
                  <a16:creationId xmlns:a16="http://schemas.microsoft.com/office/drawing/2014/main" id="{2988F366-4575-9066-53A6-F4F78F872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3852"/>
              <a:ext cx="5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    </a:t>
              </a:r>
              <a:endParaRPr lang="en-US"/>
            </a:p>
          </p:txBody>
        </p:sp>
        <p:sp>
          <p:nvSpPr>
            <p:cNvPr id="29" name="Rectangle 70">
              <a:extLst>
                <a:ext uri="{FF2B5EF4-FFF2-40B4-BE49-F238E27FC236}">
                  <a16:creationId xmlns:a16="http://schemas.microsoft.com/office/drawing/2014/main" id="{FC33655A-D24F-A4BD-0B49-EB78C0656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3598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30" name="Rectangle 71">
              <a:extLst>
                <a:ext uri="{FF2B5EF4-FFF2-40B4-BE49-F238E27FC236}">
                  <a16:creationId xmlns:a16="http://schemas.microsoft.com/office/drawing/2014/main" id="{4668ACCF-0409-A5D8-FD7F-F4D375FE2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3" y="3598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31" name="Rectangle 72">
              <a:extLst>
                <a:ext uri="{FF2B5EF4-FFF2-40B4-BE49-F238E27FC236}">
                  <a16:creationId xmlns:a16="http://schemas.microsoft.com/office/drawing/2014/main" id="{38078F05-1831-F5F6-E505-45312240B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" y="3598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(</a:t>
              </a:r>
              <a:endParaRPr lang="en-US"/>
            </a:p>
          </p:txBody>
        </p:sp>
        <p:sp>
          <p:nvSpPr>
            <p:cNvPr id="32" name="Rectangle 73">
              <a:extLst>
                <a:ext uri="{FF2B5EF4-FFF2-40B4-BE49-F238E27FC236}">
                  <a16:creationId xmlns:a16="http://schemas.microsoft.com/office/drawing/2014/main" id="{63723E5D-6641-4C3B-E653-88B2D626C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3598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33" name="Rectangle 74">
              <a:extLst>
                <a:ext uri="{FF2B5EF4-FFF2-40B4-BE49-F238E27FC236}">
                  <a16:creationId xmlns:a16="http://schemas.microsoft.com/office/drawing/2014/main" id="{B2533992-A209-8C5C-C325-418A4DF26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3598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34" name="Rectangle 75">
              <a:extLst>
                <a:ext uri="{FF2B5EF4-FFF2-40B4-BE49-F238E27FC236}">
                  <a16:creationId xmlns:a16="http://schemas.microsoft.com/office/drawing/2014/main" id="{20FBB425-1211-9611-701F-F2368C9A6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3598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35" name="Rectangle 76">
              <a:extLst>
                <a:ext uri="{FF2B5EF4-FFF2-40B4-BE49-F238E27FC236}">
                  <a16:creationId xmlns:a16="http://schemas.microsoft.com/office/drawing/2014/main" id="{21030DCE-1594-6BE6-8B7F-FA08B20C3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2" y="3598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(</a:t>
              </a:r>
              <a:endParaRPr lang="en-US"/>
            </a:p>
          </p:txBody>
        </p:sp>
        <p:sp>
          <p:nvSpPr>
            <p:cNvPr id="36" name="Rectangle 77">
              <a:extLst>
                <a:ext uri="{FF2B5EF4-FFF2-40B4-BE49-F238E27FC236}">
                  <a16:creationId xmlns:a16="http://schemas.microsoft.com/office/drawing/2014/main" id="{11FFDB02-BCC9-F631-6165-4BC0FC4E2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3598"/>
              <a:ext cx="3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</a:t>
              </a:r>
              <a:endParaRPr lang="en-US"/>
            </a:p>
          </p:txBody>
        </p:sp>
        <p:sp>
          <p:nvSpPr>
            <p:cNvPr id="37" name="Rectangle 78">
              <a:extLst>
                <a:ext uri="{FF2B5EF4-FFF2-40B4-BE49-F238E27FC236}">
                  <a16:creationId xmlns:a16="http://schemas.microsoft.com/office/drawing/2014/main" id="{27453C8D-FF41-8CEB-2A51-5D3F591BA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3598"/>
              <a:ext cx="5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    </a:t>
              </a:r>
              <a:endParaRPr lang="en-US"/>
            </a:p>
          </p:txBody>
        </p:sp>
        <p:sp>
          <p:nvSpPr>
            <p:cNvPr id="38" name="Rectangle 79">
              <a:extLst>
                <a:ext uri="{FF2B5EF4-FFF2-40B4-BE49-F238E27FC236}">
                  <a16:creationId xmlns:a16="http://schemas.microsoft.com/office/drawing/2014/main" id="{1E468DEF-DEFF-D5BF-D2B9-0BA7DE616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3598"/>
              <a:ext cx="5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    </a:t>
              </a:r>
              <a:endParaRPr lang="en-US"/>
            </a:p>
          </p:txBody>
        </p:sp>
        <p:sp>
          <p:nvSpPr>
            <p:cNvPr id="39" name="Rectangle 80">
              <a:extLst>
                <a:ext uri="{FF2B5EF4-FFF2-40B4-BE49-F238E27FC236}">
                  <a16:creationId xmlns:a16="http://schemas.microsoft.com/office/drawing/2014/main" id="{1E595AF2-F212-0327-D25C-885CE73FF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3" y="3323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40" name="Rectangle 81">
              <a:extLst>
                <a:ext uri="{FF2B5EF4-FFF2-40B4-BE49-F238E27FC236}">
                  <a16:creationId xmlns:a16="http://schemas.microsoft.com/office/drawing/2014/main" id="{34A15E3B-C570-1237-4A28-F06247949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41" name="Rectangle 82">
              <a:extLst>
                <a:ext uri="{FF2B5EF4-FFF2-40B4-BE49-F238E27FC236}">
                  <a16:creationId xmlns:a16="http://schemas.microsoft.com/office/drawing/2014/main" id="{087F4C72-FB9B-3066-7527-C588F2C31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42" name="Rectangle 83">
              <a:extLst>
                <a:ext uri="{FF2B5EF4-FFF2-40B4-BE49-F238E27FC236}">
                  <a16:creationId xmlns:a16="http://schemas.microsoft.com/office/drawing/2014/main" id="{4178B5FE-EDDB-AEB1-3848-976C191E2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" y="3323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(</a:t>
              </a:r>
              <a:endParaRPr lang="en-US"/>
            </a:p>
          </p:txBody>
        </p:sp>
        <p:sp>
          <p:nvSpPr>
            <p:cNvPr id="43" name="Rectangle 84">
              <a:extLst>
                <a:ext uri="{FF2B5EF4-FFF2-40B4-BE49-F238E27FC236}">
                  <a16:creationId xmlns:a16="http://schemas.microsoft.com/office/drawing/2014/main" id="{3D5D43D3-B6C4-CEC6-5258-F8CE46822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3323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44" name="Rectangle 85">
              <a:extLst>
                <a:ext uri="{FF2B5EF4-FFF2-40B4-BE49-F238E27FC236}">
                  <a16:creationId xmlns:a16="http://schemas.microsoft.com/office/drawing/2014/main" id="{E3E4F443-028B-99F8-1AC7-466998377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45" name="Rectangle 86">
              <a:extLst>
                <a:ext uri="{FF2B5EF4-FFF2-40B4-BE49-F238E27FC236}">
                  <a16:creationId xmlns:a16="http://schemas.microsoft.com/office/drawing/2014/main" id="{1AC11992-2982-F148-F171-21C58C9E5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46" name="Rectangle 87">
              <a:extLst>
                <a:ext uri="{FF2B5EF4-FFF2-40B4-BE49-F238E27FC236}">
                  <a16:creationId xmlns:a16="http://schemas.microsoft.com/office/drawing/2014/main" id="{8DAFFEB4-BFF0-EF30-391F-EA7B4C041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3323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(</a:t>
              </a:r>
              <a:endParaRPr lang="en-US"/>
            </a:p>
          </p:txBody>
        </p:sp>
        <p:sp>
          <p:nvSpPr>
            <p:cNvPr id="47" name="Rectangle 88">
              <a:extLst>
                <a:ext uri="{FF2B5EF4-FFF2-40B4-BE49-F238E27FC236}">
                  <a16:creationId xmlns:a16="http://schemas.microsoft.com/office/drawing/2014/main" id="{33D99305-C498-B2E1-26D4-137EB1C98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5</a:t>
              </a:r>
              <a:endParaRPr lang="en-US"/>
            </a:p>
          </p:txBody>
        </p:sp>
        <p:sp>
          <p:nvSpPr>
            <p:cNvPr id="48" name="Rectangle 89">
              <a:extLst>
                <a:ext uri="{FF2B5EF4-FFF2-40B4-BE49-F238E27FC236}">
                  <a16:creationId xmlns:a16="http://schemas.microsoft.com/office/drawing/2014/main" id="{A38E76F4-A79D-655E-15CA-258B7B3DB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9" name="Rectangle 90">
              <a:extLst>
                <a:ext uri="{FF2B5EF4-FFF2-40B4-BE49-F238E27FC236}">
                  <a16:creationId xmlns:a16="http://schemas.microsoft.com/office/drawing/2014/main" id="{400A07A5-9150-4221-E60E-B14A1048D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323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50" name="Rectangle 91">
              <a:extLst>
                <a:ext uri="{FF2B5EF4-FFF2-40B4-BE49-F238E27FC236}">
                  <a16:creationId xmlns:a16="http://schemas.microsoft.com/office/drawing/2014/main" id="{BDEC7AA3-D587-23FE-A860-3847F4D55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3323"/>
              <a:ext cx="3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</a:t>
              </a:r>
              <a:endParaRPr lang="en-US"/>
            </a:p>
          </p:txBody>
        </p:sp>
        <p:sp>
          <p:nvSpPr>
            <p:cNvPr id="51" name="Rectangle 92">
              <a:extLst>
                <a:ext uri="{FF2B5EF4-FFF2-40B4-BE49-F238E27FC236}">
                  <a16:creationId xmlns:a16="http://schemas.microsoft.com/office/drawing/2014/main" id="{1E625D8F-6A39-E574-F953-CC4D47A1A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3323"/>
              <a:ext cx="5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    </a:t>
              </a:r>
              <a:endParaRPr lang="en-US"/>
            </a:p>
          </p:txBody>
        </p:sp>
        <p:sp>
          <p:nvSpPr>
            <p:cNvPr id="52" name="Rectangle 93">
              <a:extLst>
                <a:ext uri="{FF2B5EF4-FFF2-40B4-BE49-F238E27FC236}">
                  <a16:creationId xmlns:a16="http://schemas.microsoft.com/office/drawing/2014/main" id="{D8DC7175-F623-4A0A-BF54-D88BC2C14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3323"/>
              <a:ext cx="5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     </a:t>
              </a:r>
              <a:endParaRPr lang="en-US"/>
            </a:p>
          </p:txBody>
        </p:sp>
        <p:sp>
          <p:nvSpPr>
            <p:cNvPr id="53" name="Rectangle 94">
              <a:extLst>
                <a:ext uri="{FF2B5EF4-FFF2-40B4-BE49-F238E27FC236}">
                  <a16:creationId xmlns:a16="http://schemas.microsoft.com/office/drawing/2014/main" id="{ED66D15C-5F93-92F5-F9A5-0AC077371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3070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</a:t>
              </a:r>
              <a:endParaRPr lang="en-US"/>
            </a:p>
          </p:txBody>
        </p:sp>
        <p:sp>
          <p:nvSpPr>
            <p:cNvPr id="54" name="Rectangle 95">
              <a:extLst>
                <a:ext uri="{FF2B5EF4-FFF2-40B4-BE49-F238E27FC236}">
                  <a16:creationId xmlns:a16="http://schemas.microsoft.com/office/drawing/2014/main" id="{AF58AFC6-83D3-FE3E-5E73-D48101532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5" y="3070"/>
              <a:ext cx="43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true.</a:t>
              </a:r>
              <a:endParaRPr lang="en-US"/>
            </a:p>
          </p:txBody>
        </p:sp>
        <p:sp>
          <p:nvSpPr>
            <p:cNvPr id="55" name="Rectangle 96">
              <a:extLst>
                <a:ext uri="{FF2B5EF4-FFF2-40B4-BE49-F238E27FC236}">
                  <a16:creationId xmlns:a16="http://schemas.microsoft.com/office/drawing/2014/main" id="{CCB5BC40-7849-6BC0-A37C-11152FBB3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" y="3070"/>
              <a:ext cx="1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is</a:t>
              </a:r>
              <a:endParaRPr lang="en-US"/>
            </a:p>
          </p:txBody>
        </p:sp>
        <p:sp>
          <p:nvSpPr>
            <p:cNvPr id="56" name="Rectangle 97">
              <a:extLst>
                <a:ext uri="{FF2B5EF4-FFF2-40B4-BE49-F238E27FC236}">
                  <a16:creationId xmlns:a16="http://schemas.microsoft.com/office/drawing/2014/main" id="{2C3C4DDB-0ECD-73D5-EE25-8994F7F21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" y="3070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57" name="Rectangle 98">
              <a:extLst>
                <a:ext uri="{FF2B5EF4-FFF2-40B4-BE49-F238E27FC236}">
                  <a16:creationId xmlns:a16="http://schemas.microsoft.com/office/drawing/2014/main" id="{8EC5D540-776A-1957-CB25-9D87DE1E7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3070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58" name="Rectangle 99">
              <a:extLst>
                <a:ext uri="{FF2B5EF4-FFF2-40B4-BE49-F238E27FC236}">
                  <a16:creationId xmlns:a16="http://schemas.microsoft.com/office/drawing/2014/main" id="{3B3834D8-198D-D531-58A4-C0AE6DF8C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1" y="3070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59" name="Rectangle 100">
              <a:extLst>
                <a:ext uri="{FF2B5EF4-FFF2-40B4-BE49-F238E27FC236}">
                  <a16:creationId xmlns:a16="http://schemas.microsoft.com/office/drawing/2014/main" id="{CD2DAA42-63E1-AB51-BA1F-D81181A37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3070"/>
              <a:ext cx="4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prove</a:t>
              </a:r>
              <a:endParaRPr lang="en-US"/>
            </a:p>
          </p:txBody>
        </p:sp>
        <p:sp>
          <p:nvSpPr>
            <p:cNvPr id="60" name="Rectangle 101">
              <a:extLst>
                <a:ext uri="{FF2B5EF4-FFF2-40B4-BE49-F238E27FC236}">
                  <a16:creationId xmlns:a16="http://schemas.microsoft.com/office/drawing/2014/main" id="{D1805553-356F-CA45-3067-36495C6C0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3070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61" name="Rectangle 102">
              <a:extLst>
                <a:ext uri="{FF2B5EF4-FFF2-40B4-BE49-F238E27FC236}">
                  <a16:creationId xmlns:a16="http://schemas.microsoft.com/office/drawing/2014/main" id="{E259063C-5020-C543-F0E8-F9AD2CD0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" y="3070"/>
              <a:ext cx="3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we</a:t>
              </a:r>
              <a:endParaRPr lang="en-US"/>
            </a:p>
          </p:txBody>
        </p:sp>
        <p:sp>
          <p:nvSpPr>
            <p:cNvPr id="62" name="Rectangle 103">
              <a:extLst>
                <a:ext uri="{FF2B5EF4-FFF2-40B4-BE49-F238E27FC236}">
                  <a16:creationId xmlns:a16="http://schemas.microsoft.com/office/drawing/2014/main" id="{41ADD1CA-7DDA-76E2-CCE2-BCAB7CCCF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7" y="3070"/>
              <a:ext cx="43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true,</a:t>
              </a:r>
              <a:endParaRPr lang="en-US"/>
            </a:p>
          </p:txBody>
        </p:sp>
        <p:sp>
          <p:nvSpPr>
            <p:cNvPr id="63" name="Rectangle 104">
              <a:extLst>
                <a:ext uri="{FF2B5EF4-FFF2-40B4-BE49-F238E27FC236}">
                  <a16:creationId xmlns:a16="http://schemas.microsoft.com/office/drawing/2014/main" id="{906FA629-A5C2-44A3-26CD-BAC4B37E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3070"/>
              <a:ext cx="1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is</a:t>
              </a:r>
              <a:endParaRPr lang="en-US"/>
            </a:p>
          </p:txBody>
        </p:sp>
        <p:sp>
          <p:nvSpPr>
            <p:cNvPr id="64" name="Rectangle 105">
              <a:extLst>
                <a:ext uri="{FF2B5EF4-FFF2-40B4-BE49-F238E27FC236}">
                  <a16:creationId xmlns:a16="http://schemas.microsoft.com/office/drawing/2014/main" id="{4CA2689C-2553-1575-4203-EDAB41E2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5" y="3070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65" name="Rectangle 106">
              <a:extLst>
                <a:ext uri="{FF2B5EF4-FFF2-40B4-BE49-F238E27FC236}">
                  <a16:creationId xmlns:a16="http://schemas.microsoft.com/office/drawing/2014/main" id="{76E8BE5F-7886-04BB-05BB-4FA83E005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3070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66" name="Rectangle 107">
              <a:extLst>
                <a:ext uri="{FF2B5EF4-FFF2-40B4-BE49-F238E27FC236}">
                  <a16:creationId xmlns:a16="http://schemas.microsoft.com/office/drawing/2014/main" id="{FAA100A7-1577-89D6-DB42-D9EA8F995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7" y="3070"/>
              <a:ext cx="7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Assuming</a:t>
              </a:r>
              <a:endParaRPr lang="en-US"/>
            </a:p>
          </p:txBody>
        </p:sp>
        <p:sp>
          <p:nvSpPr>
            <p:cNvPr id="67" name="Rectangle 108">
              <a:extLst>
                <a:ext uri="{FF2B5EF4-FFF2-40B4-BE49-F238E27FC236}">
                  <a16:creationId xmlns:a16="http://schemas.microsoft.com/office/drawing/2014/main" id="{FB2DC0B3-C235-9EE2-2B2E-DA987AD0A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3070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</a:t>
              </a:r>
              <a:endParaRPr lang="en-US"/>
            </a:p>
          </p:txBody>
        </p:sp>
        <p:sp>
          <p:nvSpPr>
            <p:cNvPr id="68" name="Rectangle 109">
              <a:extLst>
                <a:ext uri="{FF2B5EF4-FFF2-40B4-BE49-F238E27FC236}">
                  <a16:creationId xmlns:a16="http://schemas.microsoft.com/office/drawing/2014/main" id="{9C1C706A-67C2-DB61-6341-7B9E83F22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" y="3070"/>
              <a:ext cx="1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:</a:t>
              </a:r>
              <a:endParaRPr lang="en-US"/>
            </a:p>
          </p:txBody>
        </p:sp>
        <p:sp>
          <p:nvSpPr>
            <p:cNvPr id="69" name="Rectangle 110">
              <a:extLst>
                <a:ext uri="{FF2B5EF4-FFF2-40B4-BE49-F238E27FC236}">
                  <a16:creationId xmlns:a16="http://schemas.microsoft.com/office/drawing/2014/main" id="{A0E87708-3D6D-C3E0-F6AD-17E6E9050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2816"/>
              <a:ext cx="43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true.</a:t>
              </a:r>
              <a:endParaRPr lang="en-US"/>
            </a:p>
          </p:txBody>
        </p:sp>
        <p:sp>
          <p:nvSpPr>
            <p:cNvPr id="70" name="Rectangle 111">
              <a:extLst>
                <a:ext uri="{FF2B5EF4-FFF2-40B4-BE49-F238E27FC236}">
                  <a16:creationId xmlns:a16="http://schemas.microsoft.com/office/drawing/2014/main" id="{8DDCD4ED-E610-5D4F-BC28-99E399089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2816"/>
              <a:ext cx="1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is</a:t>
              </a:r>
              <a:endParaRPr lang="en-US"/>
            </a:p>
          </p:txBody>
        </p:sp>
        <p:sp>
          <p:nvSpPr>
            <p:cNvPr id="71" name="Rectangle 112">
              <a:extLst>
                <a:ext uri="{FF2B5EF4-FFF2-40B4-BE49-F238E27FC236}">
                  <a16:creationId xmlns:a16="http://schemas.microsoft.com/office/drawing/2014/main" id="{2B36227F-9D62-BD2E-75BC-5F85F9F82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2816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72" name="Rectangle 113">
              <a:extLst>
                <a:ext uri="{FF2B5EF4-FFF2-40B4-BE49-F238E27FC236}">
                  <a16:creationId xmlns:a16="http://schemas.microsoft.com/office/drawing/2014/main" id="{0B50AC18-5A93-50F3-DA97-E8A28E462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2816"/>
              <a:ext cx="37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P(1)</a:t>
              </a:r>
              <a:endParaRPr lang="en-US"/>
            </a:p>
          </p:txBody>
        </p:sp>
        <p:sp>
          <p:nvSpPr>
            <p:cNvPr id="73" name="Rectangle 114">
              <a:extLst>
                <a:ext uri="{FF2B5EF4-FFF2-40B4-BE49-F238E27FC236}">
                  <a16:creationId xmlns:a16="http://schemas.microsoft.com/office/drawing/2014/main" id="{F5A54EE1-D3A1-9E69-7593-56742FD98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816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74" name="Rectangle 115">
              <a:extLst>
                <a:ext uri="{FF2B5EF4-FFF2-40B4-BE49-F238E27FC236}">
                  <a16:creationId xmlns:a16="http://schemas.microsoft.com/office/drawing/2014/main" id="{BA9F92A6-9055-A335-5AAB-81844D6CB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" y="2816"/>
              <a:ext cx="80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Therefore,</a:t>
              </a:r>
              <a:endParaRPr lang="en-US"/>
            </a:p>
          </p:txBody>
        </p:sp>
        <p:sp>
          <p:nvSpPr>
            <p:cNvPr id="75" name="Rectangle 116">
              <a:extLst>
                <a:ext uri="{FF2B5EF4-FFF2-40B4-BE49-F238E27FC236}">
                  <a16:creationId xmlns:a16="http://schemas.microsoft.com/office/drawing/2014/main" id="{F4F37829-0A8E-84DE-18E9-40A3B21BD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816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</a:t>
              </a:r>
              <a:endParaRPr lang="en-US"/>
            </a:p>
          </p:txBody>
        </p:sp>
        <p:sp>
          <p:nvSpPr>
            <p:cNvPr id="76" name="Rectangle 117">
              <a:extLst>
                <a:ext uri="{FF2B5EF4-FFF2-40B4-BE49-F238E27FC236}">
                  <a16:creationId xmlns:a16="http://schemas.microsoft.com/office/drawing/2014/main" id="{0BEEF38A-BE37-E9EB-4373-4EFCB9D12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" y="2816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.</a:t>
              </a:r>
              <a:endParaRPr lang="en-US"/>
            </a:p>
          </p:txBody>
        </p:sp>
        <p:sp>
          <p:nvSpPr>
            <p:cNvPr id="77" name="Rectangle 118">
              <a:extLst>
                <a:ext uri="{FF2B5EF4-FFF2-40B4-BE49-F238E27FC236}">
                  <a16:creationId xmlns:a16="http://schemas.microsoft.com/office/drawing/2014/main" id="{7948368C-97C4-1FBC-18AD-92515C4D5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" y="2816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78" name="Rectangle 119">
              <a:extLst>
                <a:ext uri="{FF2B5EF4-FFF2-40B4-BE49-F238E27FC236}">
                  <a16:creationId xmlns:a16="http://schemas.microsoft.com/office/drawing/2014/main" id="{5C2D4B30-77DA-0BDE-0CBB-074BAFD0C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2816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79" name="Rectangle 120">
              <a:extLst>
                <a:ext uri="{FF2B5EF4-FFF2-40B4-BE49-F238E27FC236}">
                  <a16:creationId xmlns:a16="http://schemas.microsoft.com/office/drawing/2014/main" id="{DDF4987D-05F0-BDD6-EA8B-1487FECB6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2816"/>
              <a:ext cx="2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  </a:t>
              </a:r>
              <a:endParaRPr lang="en-US"/>
            </a:p>
          </p:txBody>
        </p:sp>
        <p:sp>
          <p:nvSpPr>
            <p:cNvPr id="80" name="Rectangle 121">
              <a:extLst>
                <a:ext uri="{FF2B5EF4-FFF2-40B4-BE49-F238E27FC236}">
                  <a16:creationId xmlns:a16="http://schemas.microsoft.com/office/drawing/2014/main" id="{4513CB54-5A99-67A0-E6B0-122717FE5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" y="2816"/>
              <a:ext cx="43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true.</a:t>
              </a:r>
              <a:endParaRPr lang="en-US"/>
            </a:p>
          </p:txBody>
        </p:sp>
        <p:sp>
          <p:nvSpPr>
            <p:cNvPr id="81" name="Rectangle 122">
              <a:extLst>
                <a:ext uri="{FF2B5EF4-FFF2-40B4-BE49-F238E27FC236}">
                  <a16:creationId xmlns:a16="http://schemas.microsoft.com/office/drawing/2014/main" id="{780A787D-F073-43C8-1DA8-9E06C382F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2816"/>
              <a:ext cx="1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is</a:t>
              </a:r>
              <a:endParaRPr lang="en-US"/>
            </a:p>
          </p:txBody>
        </p:sp>
        <p:sp>
          <p:nvSpPr>
            <p:cNvPr id="82" name="Rectangle 123">
              <a:extLst>
                <a:ext uri="{FF2B5EF4-FFF2-40B4-BE49-F238E27FC236}">
                  <a16:creationId xmlns:a16="http://schemas.microsoft.com/office/drawing/2014/main" id="{E1B0D836-8E30-CA77-509D-A377C2F86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9" y="2816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83" name="Rectangle 124">
              <a:extLst>
                <a:ext uri="{FF2B5EF4-FFF2-40B4-BE49-F238E27FC236}">
                  <a16:creationId xmlns:a16="http://schemas.microsoft.com/office/drawing/2014/main" id="{C3306744-FA61-1F95-30B4-0989314F9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4" y="2816"/>
              <a:ext cx="37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P(1)</a:t>
              </a:r>
              <a:endParaRPr lang="en-US"/>
            </a:p>
          </p:txBody>
        </p:sp>
        <p:sp>
          <p:nvSpPr>
            <p:cNvPr id="84" name="Rectangle 125">
              <a:extLst>
                <a:ext uri="{FF2B5EF4-FFF2-40B4-BE49-F238E27FC236}">
                  <a16:creationId xmlns:a16="http://schemas.microsoft.com/office/drawing/2014/main" id="{385928B9-B2E1-BA66-550E-64B44C221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2816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85" name="Rectangle 126">
              <a:extLst>
                <a:ext uri="{FF2B5EF4-FFF2-40B4-BE49-F238E27FC236}">
                  <a16:creationId xmlns:a16="http://schemas.microsoft.com/office/drawing/2014/main" id="{A2FADF7F-95CA-E147-829B-2B65148A9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2816"/>
              <a:ext cx="4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dirty="0">
                  <a:solidFill>
                    <a:srgbClr val="000000"/>
                  </a:solidFill>
                </a:rPr>
                <a:t>prove</a:t>
              </a:r>
              <a:endParaRPr lang="en-US" dirty="0"/>
            </a:p>
          </p:txBody>
        </p:sp>
        <p:sp>
          <p:nvSpPr>
            <p:cNvPr id="86" name="Rectangle 127">
              <a:extLst>
                <a:ext uri="{FF2B5EF4-FFF2-40B4-BE49-F238E27FC236}">
                  <a16:creationId xmlns:a16="http://schemas.microsoft.com/office/drawing/2014/main" id="{1BF04428-E0CB-E55F-7A9C-F137E25FC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" y="2816"/>
              <a:ext cx="1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87" name="Rectangle 128">
              <a:extLst>
                <a:ext uri="{FF2B5EF4-FFF2-40B4-BE49-F238E27FC236}">
                  <a16:creationId xmlns:a16="http://schemas.microsoft.com/office/drawing/2014/main" id="{D42F88C0-A68F-87C4-70E7-84EA252B9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2816"/>
              <a:ext cx="4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   We</a:t>
              </a:r>
              <a:endParaRPr lang="en-US"/>
            </a:p>
          </p:txBody>
        </p:sp>
        <p:sp>
          <p:nvSpPr>
            <p:cNvPr id="88" name="Rectangle 129">
              <a:extLst>
                <a:ext uri="{FF2B5EF4-FFF2-40B4-BE49-F238E27FC236}">
                  <a16:creationId xmlns:a16="http://schemas.microsoft.com/office/drawing/2014/main" id="{3F426962-C060-D430-E191-6E3A07BBD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2816"/>
              <a:ext cx="1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</a:rPr>
                <a:t>:</a:t>
              </a:r>
              <a:endParaRPr lang="en-US"/>
            </a:p>
          </p:txBody>
        </p:sp>
        <p:sp>
          <p:nvSpPr>
            <p:cNvPr id="89" name="Rectangle 130">
              <a:extLst>
                <a:ext uri="{FF2B5EF4-FFF2-40B4-BE49-F238E27FC236}">
                  <a16:creationId xmlns:a16="http://schemas.microsoft.com/office/drawing/2014/main" id="{41457952-A466-3672-9756-6A4673BFE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9" y="3586"/>
              <a:ext cx="9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90" name="Rectangle 131">
              <a:extLst>
                <a:ext uri="{FF2B5EF4-FFF2-40B4-BE49-F238E27FC236}">
                  <a16:creationId xmlns:a16="http://schemas.microsoft.com/office/drawing/2014/main" id="{5FB0847E-9D97-98F2-05B6-581797903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3586"/>
              <a:ext cx="9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91" name="Rectangle 132">
              <a:extLst>
                <a:ext uri="{FF2B5EF4-FFF2-40B4-BE49-F238E27FC236}">
                  <a16:creationId xmlns:a16="http://schemas.microsoft.com/office/drawing/2014/main" id="{55AB7982-AA31-B868-E9F5-ABCBCEE5A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2803"/>
              <a:ext cx="9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92" name="Rectangle 133">
              <a:extLst>
                <a:ext uri="{FF2B5EF4-FFF2-40B4-BE49-F238E27FC236}">
                  <a16:creationId xmlns:a16="http://schemas.microsoft.com/office/drawing/2014/main" id="{D7FB1467-E500-9D48-82EE-8C3FAA79F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3852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93" name="Rectangle 134">
              <a:extLst>
                <a:ext uri="{FF2B5EF4-FFF2-40B4-BE49-F238E27FC236}">
                  <a16:creationId xmlns:a16="http://schemas.microsoft.com/office/drawing/2014/main" id="{7822781F-DD2D-5B33-5FF6-4D84154F9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3852"/>
              <a:ext cx="23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P(</a:t>
              </a:r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endParaRPr lang="en-US"/>
            </a:p>
          </p:txBody>
        </p:sp>
        <p:sp>
          <p:nvSpPr>
            <p:cNvPr id="94" name="Rectangle 135">
              <a:extLst>
                <a:ext uri="{FF2B5EF4-FFF2-40B4-BE49-F238E27FC236}">
                  <a16:creationId xmlns:a16="http://schemas.microsoft.com/office/drawing/2014/main" id="{E096CEF9-A190-9A4B-9ED7-839F68C91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3852"/>
              <a:ext cx="29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P(</a:t>
              </a:r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r>
                <a:rPr lang="en-US" sz="2100" i="1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95" name="Rectangle 136">
              <a:extLst>
                <a:ext uri="{FF2B5EF4-FFF2-40B4-BE49-F238E27FC236}">
                  <a16:creationId xmlns:a16="http://schemas.microsoft.com/office/drawing/2014/main" id="{ACA56ACE-5498-4966-FF1B-C0E4932F3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3852"/>
              <a:ext cx="7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endParaRPr lang="en-US"/>
            </a:p>
          </p:txBody>
        </p:sp>
        <p:sp>
          <p:nvSpPr>
            <p:cNvPr id="96" name="Rectangle 137">
              <a:extLst>
                <a:ext uri="{FF2B5EF4-FFF2-40B4-BE49-F238E27FC236}">
                  <a16:creationId xmlns:a16="http://schemas.microsoft.com/office/drawing/2014/main" id="{0F5A1F27-975D-F90C-34CC-94BB73D0F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5" y="3598"/>
              <a:ext cx="9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/>
                <a:t>k</a:t>
              </a:r>
              <a:endParaRPr lang="en-US"/>
            </a:p>
          </p:txBody>
        </p:sp>
        <p:sp>
          <p:nvSpPr>
            <p:cNvPr id="97" name="Rectangle 138">
              <a:extLst>
                <a:ext uri="{FF2B5EF4-FFF2-40B4-BE49-F238E27FC236}">
                  <a16:creationId xmlns:a16="http://schemas.microsoft.com/office/drawing/2014/main" id="{371241CA-9BC9-9C5E-E88C-F2CF17E0F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0" y="3598"/>
              <a:ext cx="7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endParaRPr lang="en-US"/>
            </a:p>
          </p:txBody>
        </p:sp>
        <p:sp>
          <p:nvSpPr>
            <p:cNvPr id="98" name="Rectangle 139">
              <a:extLst>
                <a:ext uri="{FF2B5EF4-FFF2-40B4-BE49-F238E27FC236}">
                  <a16:creationId xmlns:a16="http://schemas.microsoft.com/office/drawing/2014/main" id="{A7397878-B30C-0097-7718-91CF5EB53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2" y="3598"/>
              <a:ext cx="9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/>
                <a:t>k</a:t>
              </a:r>
              <a:endParaRPr lang="en-US"/>
            </a:p>
          </p:txBody>
        </p:sp>
        <p:sp>
          <p:nvSpPr>
            <p:cNvPr id="99" name="Rectangle 140">
              <a:extLst>
                <a:ext uri="{FF2B5EF4-FFF2-40B4-BE49-F238E27FC236}">
                  <a16:creationId xmlns:a16="http://schemas.microsoft.com/office/drawing/2014/main" id="{C5D0FCA8-DB90-8E85-C187-7490E3A41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3323"/>
              <a:ext cx="7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endParaRPr lang="en-US"/>
            </a:p>
          </p:txBody>
        </p:sp>
        <p:sp>
          <p:nvSpPr>
            <p:cNvPr id="100" name="Rectangle 141">
              <a:extLst>
                <a:ext uri="{FF2B5EF4-FFF2-40B4-BE49-F238E27FC236}">
                  <a16:creationId xmlns:a16="http://schemas.microsoft.com/office/drawing/2014/main" id="{5CDC98CE-7FD9-CE15-FF2D-3A21025B4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3323"/>
              <a:ext cx="9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/>
                <a:t>k</a:t>
              </a:r>
              <a:endParaRPr lang="en-US"/>
            </a:p>
          </p:txBody>
        </p:sp>
        <p:sp>
          <p:nvSpPr>
            <p:cNvPr id="101" name="Rectangle 142">
              <a:extLst>
                <a:ext uri="{FF2B5EF4-FFF2-40B4-BE49-F238E27FC236}">
                  <a16:creationId xmlns:a16="http://schemas.microsoft.com/office/drawing/2014/main" id="{2012772D-3252-2109-FF73-BDCC4CFF8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" y="3070"/>
              <a:ext cx="1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102" name="Rectangle 143">
              <a:extLst>
                <a:ext uri="{FF2B5EF4-FFF2-40B4-BE49-F238E27FC236}">
                  <a16:creationId xmlns:a16="http://schemas.microsoft.com/office/drawing/2014/main" id="{5BD92443-32D0-464A-FF64-3C8487366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070"/>
              <a:ext cx="23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P(</a:t>
              </a:r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endParaRPr lang="en-US"/>
            </a:p>
          </p:txBody>
        </p:sp>
        <p:sp>
          <p:nvSpPr>
            <p:cNvPr id="103" name="Rectangle 144">
              <a:extLst>
                <a:ext uri="{FF2B5EF4-FFF2-40B4-BE49-F238E27FC236}">
                  <a16:creationId xmlns:a16="http://schemas.microsoft.com/office/drawing/2014/main" id="{8B26C6F3-D434-7B90-9B69-BFEAA00C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3070"/>
              <a:ext cx="29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P(</a:t>
              </a:r>
              <a:r>
                <a:rPr lang="en-US" altLang="zh-CN" sz="2100" i="1">
                  <a:solidFill>
                    <a:srgbClr val="000000"/>
                  </a:solidFill>
                </a:rPr>
                <a:t>k</a:t>
              </a:r>
              <a:r>
                <a:rPr lang="en-US" sz="2100" i="1">
                  <a:solidFill>
                    <a:srgbClr val="000000"/>
                  </a:solidFill>
                </a:rPr>
                <a:t>)</a:t>
              </a:r>
              <a:endParaRPr lang="en-US"/>
            </a:p>
          </p:txBody>
        </p:sp>
        <p:sp>
          <p:nvSpPr>
            <p:cNvPr id="104" name="Rectangle 145">
              <a:extLst>
                <a:ext uri="{FF2B5EF4-FFF2-40B4-BE49-F238E27FC236}">
                  <a16:creationId xmlns:a16="http://schemas.microsoft.com/office/drawing/2014/main" id="{873841EC-88A0-5A29-C8A3-EA8CE0652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" y="3070"/>
              <a:ext cx="3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step</a:t>
              </a:r>
              <a:endParaRPr lang="en-US"/>
            </a:p>
          </p:txBody>
        </p:sp>
        <p:sp>
          <p:nvSpPr>
            <p:cNvPr id="105" name="Rectangle 146">
              <a:extLst>
                <a:ext uri="{FF2B5EF4-FFF2-40B4-BE49-F238E27FC236}">
                  <a16:creationId xmlns:a16="http://schemas.microsoft.com/office/drawing/2014/main" id="{83433491-7FEF-6BC1-766B-F0B846E7C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3070"/>
              <a:ext cx="76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Inductive </a:t>
              </a:r>
              <a:endParaRPr lang="en-US"/>
            </a:p>
          </p:txBody>
        </p:sp>
        <p:sp>
          <p:nvSpPr>
            <p:cNvPr id="106" name="Rectangle 147">
              <a:extLst>
                <a:ext uri="{FF2B5EF4-FFF2-40B4-BE49-F238E27FC236}">
                  <a16:creationId xmlns:a16="http://schemas.microsoft.com/office/drawing/2014/main" id="{24389754-6653-0C9D-757C-E0FDE2C0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2816"/>
              <a:ext cx="77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i="1">
                  <a:solidFill>
                    <a:srgbClr val="000000"/>
                  </a:solidFill>
                </a:rPr>
                <a:t>Basis step</a:t>
              </a:r>
              <a:endParaRPr lang="en-US"/>
            </a:p>
          </p:txBody>
        </p:sp>
        <p:sp>
          <p:nvSpPr>
            <p:cNvPr id="107" name="Rectangle 148">
              <a:extLst>
                <a:ext uri="{FF2B5EF4-FFF2-40B4-BE49-F238E27FC236}">
                  <a16:creationId xmlns:a16="http://schemas.microsoft.com/office/drawing/2014/main" id="{8612D7B3-F6DC-E131-633B-16D690801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1" y="3833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08" name="Rectangle 149">
              <a:extLst>
                <a:ext uri="{FF2B5EF4-FFF2-40B4-BE49-F238E27FC236}">
                  <a16:creationId xmlns:a16="http://schemas.microsoft.com/office/drawing/2014/main" id="{3B0DDE8E-95D7-F914-CC3C-7579C77C4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579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09" name="Rectangle 150">
              <a:extLst>
                <a:ext uri="{FF2B5EF4-FFF2-40B4-BE49-F238E27FC236}">
                  <a16:creationId xmlns:a16="http://schemas.microsoft.com/office/drawing/2014/main" id="{47B732EB-0226-8A85-FB1D-56C2EF598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5" y="3579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/>
            </a:p>
          </p:txBody>
        </p:sp>
        <p:sp>
          <p:nvSpPr>
            <p:cNvPr id="110" name="Rectangle 151">
              <a:extLst>
                <a:ext uri="{FF2B5EF4-FFF2-40B4-BE49-F238E27FC236}">
                  <a16:creationId xmlns:a16="http://schemas.microsoft.com/office/drawing/2014/main" id="{28F5E079-9B27-6F79-77F1-B491B85A7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3" y="3579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1" name="Rectangle 152">
              <a:extLst>
                <a:ext uri="{FF2B5EF4-FFF2-40B4-BE49-F238E27FC236}">
                  <a16:creationId xmlns:a16="http://schemas.microsoft.com/office/drawing/2014/main" id="{0B868D15-A75E-44CB-3FD1-E7C3F03DE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" y="3579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2" name="Rectangle 153">
              <a:extLst>
                <a:ext uri="{FF2B5EF4-FFF2-40B4-BE49-F238E27FC236}">
                  <a16:creationId xmlns:a16="http://schemas.microsoft.com/office/drawing/2014/main" id="{69EDB822-7F46-1794-B6DD-A07E78347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" y="3579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/>
            </a:p>
          </p:txBody>
        </p:sp>
        <p:sp>
          <p:nvSpPr>
            <p:cNvPr id="113" name="Rectangle 154">
              <a:extLst>
                <a:ext uri="{FF2B5EF4-FFF2-40B4-BE49-F238E27FC236}">
                  <a16:creationId xmlns:a16="http://schemas.microsoft.com/office/drawing/2014/main" id="{C119BAFD-02C9-0323-F67A-F53DB25D4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4" name="Rectangle 155">
              <a:extLst>
                <a:ext uri="{FF2B5EF4-FFF2-40B4-BE49-F238E27FC236}">
                  <a16:creationId xmlns:a16="http://schemas.microsoft.com/office/drawing/2014/main" id="{A981887D-4F2C-E566-00D2-CDFEBD52E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5" name="Rectangle 156">
              <a:extLst>
                <a:ext uri="{FF2B5EF4-FFF2-40B4-BE49-F238E27FC236}">
                  <a16:creationId xmlns:a16="http://schemas.microsoft.com/office/drawing/2014/main" id="{3E6B73C0-6F6D-CAF3-2090-77E98ECBE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6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/>
            </a:p>
          </p:txBody>
        </p:sp>
        <p:sp>
          <p:nvSpPr>
            <p:cNvPr id="116" name="Rectangle 157">
              <a:extLst>
                <a:ext uri="{FF2B5EF4-FFF2-40B4-BE49-F238E27FC236}">
                  <a16:creationId xmlns:a16="http://schemas.microsoft.com/office/drawing/2014/main" id="{0F209700-E8FC-8DE7-6C0D-191F59919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3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7" name="Rectangle 158">
              <a:extLst>
                <a:ext uri="{FF2B5EF4-FFF2-40B4-BE49-F238E27FC236}">
                  <a16:creationId xmlns:a16="http://schemas.microsoft.com/office/drawing/2014/main" id="{FE5F32CA-09AF-65A1-6007-ABDA7BF9C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8" name="Rectangle 159">
              <a:extLst>
                <a:ext uri="{FF2B5EF4-FFF2-40B4-BE49-F238E27FC236}">
                  <a16:creationId xmlns:a16="http://schemas.microsoft.com/office/drawing/2014/main" id="{E3BA82E1-0214-7FCE-3A5F-4DFEDE0DC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19" name="Rectangle 160">
              <a:extLst>
                <a:ext uri="{FF2B5EF4-FFF2-40B4-BE49-F238E27FC236}">
                  <a16:creationId xmlns:a16="http://schemas.microsoft.com/office/drawing/2014/main" id="{F2BB9C9F-625F-9860-55D2-7CFF9EA30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3304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20" name="Rectangle 161">
              <a:extLst>
                <a:ext uri="{FF2B5EF4-FFF2-40B4-BE49-F238E27FC236}">
                  <a16:creationId xmlns:a16="http://schemas.microsoft.com/office/drawing/2014/main" id="{24962F33-F6F6-A707-42DD-BB949361A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" y="3051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/>
            </a:p>
          </p:txBody>
        </p:sp>
        <p:sp>
          <p:nvSpPr>
            <p:cNvPr id="121" name="Rectangle 162">
              <a:extLst>
                <a:ext uri="{FF2B5EF4-FFF2-40B4-BE49-F238E27FC236}">
                  <a16:creationId xmlns:a16="http://schemas.microsoft.com/office/drawing/2014/main" id="{7AF615A8-86C9-1E09-1162-C485C4882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2797"/>
              <a:ext cx="202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/>
            </a:p>
          </p:txBody>
        </p:sp>
        <p:sp>
          <p:nvSpPr>
            <p:cNvPr id="122" name="Rectangle 163">
              <a:extLst>
                <a:ext uri="{FF2B5EF4-FFF2-40B4-BE49-F238E27FC236}">
                  <a16:creationId xmlns:a16="http://schemas.microsoft.com/office/drawing/2014/main" id="{234ADB66-63B8-E585-854B-CE1B0BB08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339"/>
              <a:ext cx="28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MT Extra" pitchFamily="18" charset="2"/>
                </a:rPr>
                <a:t>L</a:t>
              </a:r>
              <a:endParaRPr lang="en-US"/>
            </a:p>
          </p:txBody>
        </p:sp>
      </p:grpSp>
      <p:grpSp>
        <p:nvGrpSpPr>
          <p:cNvPr id="123" name="Group 38"/>
          <p:cNvGrpSpPr>
            <a:grpSpLocks/>
          </p:cNvGrpSpPr>
          <p:nvPr/>
        </p:nvGrpSpPr>
        <p:grpSpPr bwMode="auto">
          <a:xfrm>
            <a:off x="304800" y="304800"/>
            <a:ext cx="1905000" cy="457200"/>
            <a:chOff x="240" y="2688"/>
            <a:chExt cx="1200" cy="288"/>
          </a:xfrm>
        </p:grpSpPr>
        <p:sp>
          <p:nvSpPr>
            <p:cNvPr id="12327" name="Text Box 39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1</a:t>
              </a:r>
            </a:p>
          </p:txBody>
        </p:sp>
        <p:sp>
          <p:nvSpPr>
            <p:cNvPr id="12328" name="Rectangle 40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025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04800" y="685800"/>
            <a:ext cx="1905000" cy="457200"/>
            <a:chOff x="240" y="2688"/>
            <a:chExt cx="1200" cy="288"/>
          </a:xfrm>
        </p:grpSpPr>
        <p:sp>
          <p:nvSpPr>
            <p:cNvPr id="13315" name="Text Box 3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2</a:t>
              </a:r>
            </a:p>
          </p:txBody>
        </p:sp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28600" y="1371600"/>
            <a:ext cx="8001000" cy="919163"/>
            <a:chOff x="336" y="576"/>
            <a:chExt cx="5040" cy="579"/>
          </a:xfrm>
        </p:grpSpPr>
        <p:sp>
          <p:nvSpPr>
            <p:cNvPr id="13317" name="Text Box 5"/>
            <p:cNvSpPr txBox="1">
              <a:spLocks noChangeArrowheads="1"/>
            </p:cNvSpPr>
            <p:nvPr/>
          </p:nvSpPr>
          <p:spPr bwMode="auto">
            <a:xfrm>
              <a:off x="336" y="576"/>
              <a:ext cx="50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Use Mathematical induction to prove the inequality </a:t>
              </a:r>
            </a:p>
          </p:txBody>
        </p:sp>
        <p:graphicFrame>
          <p:nvGraphicFramePr>
            <p:cNvPr id="13318" name="Object 6"/>
            <p:cNvGraphicFramePr>
              <a:graphicFrameLocks noChangeAspect="1"/>
            </p:cNvGraphicFramePr>
            <p:nvPr/>
          </p:nvGraphicFramePr>
          <p:xfrm>
            <a:off x="384" y="864"/>
            <a:ext cx="2496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1955520" imgH="228600" progId="Equation.3">
                    <p:embed/>
                  </p:oleObj>
                </mc:Choice>
                <mc:Fallback>
                  <p:oleObj name="数式" r:id="rId2" imgW="1955520" imgH="228600" progId="Equation.3">
                    <p:embed/>
                    <p:pic>
                      <p:nvPicPr>
                        <p:cNvPr id="1331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864"/>
                          <a:ext cx="2496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81000" y="990600"/>
            <a:ext cx="4953000" cy="1219200"/>
            <a:chOff x="480" y="144"/>
            <a:chExt cx="3120" cy="768"/>
          </a:xfrm>
        </p:grpSpPr>
        <p:sp>
          <p:nvSpPr>
            <p:cNvPr id="13322" name="Line 10"/>
            <p:cNvSpPr>
              <a:spLocks noChangeShapeType="1"/>
            </p:cNvSpPr>
            <p:nvPr/>
          </p:nvSpPr>
          <p:spPr bwMode="auto">
            <a:xfrm>
              <a:off x="480" y="912"/>
              <a:ext cx="240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Line 11"/>
            <p:cNvSpPr>
              <a:spLocks noChangeShapeType="1"/>
            </p:cNvSpPr>
            <p:nvPr/>
          </p:nvSpPr>
          <p:spPr bwMode="auto">
            <a:xfrm flipV="1">
              <a:off x="2400" y="336"/>
              <a:ext cx="480" cy="4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Text Box 12"/>
            <p:cNvSpPr txBox="1">
              <a:spLocks noChangeArrowheads="1"/>
            </p:cNvSpPr>
            <p:nvPr/>
          </p:nvSpPr>
          <p:spPr bwMode="auto">
            <a:xfrm>
              <a:off x="2736" y="144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>
                  <a:solidFill>
                    <a:srgbClr val="CC0000"/>
                  </a:solidFill>
                </a:rPr>
                <a:t>P(n)</a:t>
              </a:r>
            </a:p>
          </p:txBody>
        </p:sp>
      </p:grpSp>
      <p:graphicFrame>
        <p:nvGraphicFramePr>
          <p:cNvPr id="13326" name="Object 14"/>
          <p:cNvGraphicFramePr>
            <a:graphicFrameLocks noChangeAspect="1"/>
          </p:cNvGraphicFramePr>
          <p:nvPr/>
        </p:nvGraphicFramePr>
        <p:xfrm>
          <a:off x="293688" y="2667000"/>
          <a:ext cx="822642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94160" imgH="965160" progId="Equation.3">
                  <p:embed/>
                </p:oleObj>
              </mc:Choice>
              <mc:Fallback>
                <p:oleObj name="Equation" r:id="rId4" imgW="4394160" imgH="965160" progId="Equation.3">
                  <p:embed/>
                  <p:pic>
                    <p:nvPicPr>
                      <p:cNvPr id="133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2667000"/>
                        <a:ext cx="8226425" cy="18065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8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2971800"/>
            <a:ext cx="1905000" cy="457200"/>
            <a:chOff x="240" y="2688"/>
            <a:chExt cx="1200" cy="288"/>
          </a:xfrm>
        </p:grpSpPr>
        <p:sp>
          <p:nvSpPr>
            <p:cNvPr id="14339" name="Text Box 3"/>
            <p:cNvSpPr txBox="1">
              <a:spLocks noChangeArrowheads="1"/>
            </p:cNvSpPr>
            <p:nvPr/>
          </p:nvSpPr>
          <p:spPr bwMode="auto">
            <a:xfrm>
              <a:off x="240" y="2688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3</a:t>
              </a:r>
            </a:p>
          </p:txBody>
        </p:sp>
        <p:sp>
          <p:nvSpPr>
            <p:cNvPr id="14340" name="Rectangle 4"/>
            <p:cNvSpPr>
              <a:spLocks noChangeArrowheads="1"/>
            </p:cNvSpPr>
            <p:nvPr/>
          </p:nvSpPr>
          <p:spPr bwMode="auto">
            <a:xfrm>
              <a:off x="288" y="2688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457200" y="3048000"/>
            <a:ext cx="4953000" cy="1219200"/>
            <a:chOff x="480" y="144"/>
            <a:chExt cx="3120" cy="768"/>
          </a:xfrm>
        </p:grpSpPr>
        <p:sp>
          <p:nvSpPr>
            <p:cNvPr id="14342" name="Line 6"/>
            <p:cNvSpPr>
              <a:spLocks noChangeShapeType="1"/>
            </p:cNvSpPr>
            <p:nvPr/>
          </p:nvSpPr>
          <p:spPr bwMode="auto">
            <a:xfrm>
              <a:off x="480" y="912"/>
              <a:ext cx="240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Line 7"/>
            <p:cNvSpPr>
              <a:spLocks noChangeShapeType="1"/>
            </p:cNvSpPr>
            <p:nvPr/>
          </p:nvSpPr>
          <p:spPr bwMode="auto">
            <a:xfrm flipV="1">
              <a:off x="2400" y="336"/>
              <a:ext cx="480" cy="4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Text Box 8"/>
            <p:cNvSpPr txBox="1">
              <a:spLocks noChangeArrowheads="1"/>
            </p:cNvSpPr>
            <p:nvPr/>
          </p:nvSpPr>
          <p:spPr bwMode="auto">
            <a:xfrm>
              <a:off x="2736" y="144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>
                  <a:solidFill>
                    <a:srgbClr val="CC0000"/>
                  </a:solidFill>
                </a:rPr>
                <a:t>P(n)</a:t>
              </a:r>
            </a:p>
          </p:txBody>
        </p:sp>
      </p:grp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415925" y="3429000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/>
              <a:t>Use Mathematical induction to prove that</a:t>
            </a:r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457200" y="3886200"/>
          <a:ext cx="77168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9880" imgH="228600" progId="Equation.3">
                  <p:embed/>
                </p:oleObj>
              </mc:Choice>
              <mc:Fallback>
                <p:oleObj name="Equation" r:id="rId2" imgW="3809880" imgH="228600" progId="Equation.3">
                  <p:embed/>
                  <p:pic>
                    <p:nvPicPr>
                      <p:cNvPr id="14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86200"/>
                        <a:ext cx="7716838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533400" y="4419600"/>
          <a:ext cx="5410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2654280" imgH="228600" progId="Equation.3">
                  <p:embed/>
                </p:oleObj>
              </mc:Choice>
              <mc:Fallback>
                <p:oleObj name="数式" r:id="rId4" imgW="2654280" imgH="228600" progId="Equation.3">
                  <p:embed/>
                  <p:pic>
                    <p:nvPicPr>
                      <p:cNvPr id="143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19600"/>
                        <a:ext cx="54102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3"/>
          <p:cNvGraphicFramePr>
            <a:graphicFrameLocks noChangeAspect="1"/>
          </p:cNvGraphicFramePr>
          <p:nvPr/>
        </p:nvGraphicFramePr>
        <p:xfrm>
          <a:off x="533400" y="4873625"/>
          <a:ext cx="73152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0640" imgH="203040" progId="Equation.3">
                  <p:embed/>
                </p:oleObj>
              </mc:Choice>
              <mc:Fallback>
                <p:oleObj name="Equation" r:id="rId6" imgW="3860640" imgH="203040" progId="Equation.3">
                  <p:embed/>
                  <p:pic>
                    <p:nvPicPr>
                      <p:cNvPr id="143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73625"/>
                        <a:ext cx="73152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14"/>
          <p:cNvGraphicFramePr>
            <a:graphicFrameLocks noChangeAspect="1"/>
          </p:cNvGraphicFramePr>
          <p:nvPr/>
        </p:nvGraphicFramePr>
        <p:xfrm>
          <a:off x="1981200" y="5254625"/>
          <a:ext cx="449580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0120" imgH="736560" progId="Equation.3">
                  <p:embed/>
                </p:oleObj>
              </mc:Choice>
              <mc:Fallback>
                <p:oleObj name="Equation" r:id="rId8" imgW="2400120" imgH="736560" progId="Equation.3">
                  <p:embed/>
                  <p:pic>
                    <p:nvPicPr>
                      <p:cNvPr id="143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254625"/>
                        <a:ext cx="4495800" cy="1374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457200" y="4419600"/>
            <a:ext cx="7467600" cy="22098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28600" y="1600200"/>
            <a:ext cx="8231188" cy="1379538"/>
            <a:chOff x="192" y="3264"/>
            <a:chExt cx="5185" cy="869"/>
          </a:xfrm>
        </p:grpSpPr>
        <p:sp>
          <p:nvSpPr>
            <p:cNvPr id="14354" name="Text Box 18"/>
            <p:cNvSpPr txBox="1">
              <a:spLocks noChangeArrowheads="1"/>
            </p:cNvSpPr>
            <p:nvPr/>
          </p:nvSpPr>
          <p:spPr bwMode="auto">
            <a:xfrm>
              <a:off x="192" y="3264"/>
              <a:ext cx="5040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457200" indent="-457200">
                <a:spcBef>
                  <a:spcPct val="50000"/>
                </a:spcBef>
                <a:buFontTx/>
                <a:buAutoNum type="arabicPeriod"/>
              </a:pPr>
              <a:r>
                <a:rPr lang="ja-JP" altLang="en-US"/>
                <a:t> </a:t>
              </a:r>
              <a:r>
                <a:rPr lang="en-US" altLang="ja-JP"/>
                <a:t>Basis step. The proposition P(</a:t>
              </a:r>
              <a:r>
                <a:rPr lang="en-US" altLang="zh-CN" i="1"/>
                <a:t>m</a:t>
              </a:r>
              <a:r>
                <a:rPr lang="en-US" altLang="ja-JP"/>
                <a:t>) is shown to be true.</a:t>
              </a:r>
            </a:p>
            <a:p>
              <a:pPr marL="457200" indent="-457200">
                <a:spcBef>
                  <a:spcPct val="50000"/>
                </a:spcBef>
                <a:buFontTx/>
                <a:buAutoNum type="arabicPeriod"/>
              </a:pPr>
              <a:r>
                <a:rPr lang="en-US" altLang="ja-JP"/>
                <a:t>Inductive step. The implication </a:t>
              </a:r>
            </a:p>
          </p:txBody>
        </p:sp>
        <p:graphicFrame>
          <p:nvGraphicFramePr>
            <p:cNvPr id="14355" name="Object 19"/>
            <p:cNvGraphicFramePr>
              <a:graphicFrameLocks noChangeAspect="1"/>
            </p:cNvGraphicFramePr>
            <p:nvPr/>
          </p:nvGraphicFramePr>
          <p:xfrm>
            <a:off x="407" y="3888"/>
            <a:ext cx="497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114800" imgH="203040" progId="Equation.3">
                    <p:embed/>
                  </p:oleObj>
                </mc:Choice>
                <mc:Fallback>
                  <p:oleObj name="Equation" r:id="rId10" imgW="4114800" imgH="203040" progId="Equation.3">
                    <p:embed/>
                    <p:pic>
                      <p:nvPicPr>
                        <p:cNvPr id="1435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" y="3888"/>
                          <a:ext cx="4970" cy="2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52400" y="244475"/>
            <a:ext cx="8229600" cy="1203325"/>
            <a:chOff x="144" y="2448"/>
            <a:chExt cx="5184" cy="758"/>
          </a:xfrm>
        </p:grpSpPr>
        <p:sp>
          <p:nvSpPr>
            <p:cNvPr id="14357" name="Text Box 21"/>
            <p:cNvSpPr txBox="1">
              <a:spLocks noChangeArrowheads="1"/>
            </p:cNvSpPr>
            <p:nvPr/>
          </p:nvSpPr>
          <p:spPr bwMode="auto">
            <a:xfrm>
              <a:off x="192" y="2448"/>
              <a:ext cx="47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Mathematical induction is used to prove the form  </a:t>
              </a:r>
            </a:p>
          </p:txBody>
        </p:sp>
        <p:graphicFrame>
          <p:nvGraphicFramePr>
            <p:cNvPr id="14358" name="Object 22"/>
            <p:cNvGraphicFramePr>
              <a:graphicFrameLocks noChangeAspect="1"/>
            </p:cNvGraphicFramePr>
            <p:nvPr/>
          </p:nvGraphicFramePr>
          <p:xfrm>
            <a:off x="4032" y="2496"/>
            <a:ext cx="116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2" imgW="927000" imgH="203040" progId="Equation.3">
                    <p:embed/>
                  </p:oleObj>
                </mc:Choice>
                <mc:Fallback>
                  <p:oleObj name="数式" r:id="rId12" imgW="927000" imgH="203040" progId="Equation.3">
                    <p:embed/>
                    <p:pic>
                      <p:nvPicPr>
                        <p:cNvPr id="14358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496"/>
                          <a:ext cx="1168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9" name="Text Box 23"/>
            <p:cNvSpPr txBox="1">
              <a:spLocks noChangeArrowheads="1"/>
            </p:cNvSpPr>
            <p:nvPr/>
          </p:nvSpPr>
          <p:spPr bwMode="auto">
            <a:xfrm>
              <a:off x="144" y="2688"/>
              <a:ext cx="518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Where the universe of discourse is the set of contiguous integers: </a:t>
              </a:r>
              <a:r>
                <a:rPr lang="en-US" altLang="zh-CN" i="1"/>
                <a:t>m</a:t>
              </a:r>
              <a:r>
                <a:rPr lang="en-US" altLang="ja-JP" i="1"/>
                <a:t>,</a:t>
              </a:r>
              <a:r>
                <a:rPr lang="en-US" altLang="zh-CN" i="1"/>
                <a:t>m</a:t>
              </a:r>
              <a:r>
                <a:rPr lang="en-US" altLang="ja-JP" i="1"/>
                <a:t>+1,</a:t>
              </a:r>
              <a:r>
                <a:rPr lang="en-US" altLang="zh-CN" i="1"/>
                <a:t>m</a:t>
              </a:r>
              <a:r>
                <a:rPr lang="en-US" altLang="ja-JP" i="1"/>
                <a:t>+2,….</a:t>
              </a:r>
            </a:p>
          </p:txBody>
        </p:sp>
        <p:sp>
          <p:nvSpPr>
            <p:cNvPr id="14360" name="Line 24"/>
            <p:cNvSpPr>
              <a:spLocks noChangeShapeType="1"/>
            </p:cNvSpPr>
            <p:nvPr/>
          </p:nvSpPr>
          <p:spPr bwMode="auto">
            <a:xfrm>
              <a:off x="2640" y="2688"/>
              <a:ext cx="254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Line 25"/>
            <p:cNvSpPr>
              <a:spLocks noChangeShapeType="1"/>
            </p:cNvSpPr>
            <p:nvPr/>
          </p:nvSpPr>
          <p:spPr bwMode="auto">
            <a:xfrm>
              <a:off x="3648" y="2928"/>
              <a:ext cx="153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autoUpdateAnimBg="0"/>
      <p:bldP spid="1435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28600" y="228600"/>
            <a:ext cx="6553200" cy="457200"/>
            <a:chOff x="192" y="384"/>
            <a:chExt cx="4128" cy="288"/>
          </a:xfrm>
        </p:grpSpPr>
        <p:sp>
          <p:nvSpPr>
            <p:cNvPr id="16387" name="Text Box 3"/>
            <p:cNvSpPr txBox="1">
              <a:spLocks noChangeArrowheads="1"/>
            </p:cNvSpPr>
            <p:nvPr/>
          </p:nvSpPr>
          <p:spPr bwMode="auto">
            <a:xfrm>
              <a:off x="192" y="384"/>
              <a:ext cx="41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4   Sums of Geometric Progressions</a:t>
              </a:r>
            </a:p>
          </p:txBody>
        </p:sp>
        <p:sp>
          <p:nvSpPr>
            <p:cNvPr id="16388" name="Rectangle 4"/>
            <p:cNvSpPr>
              <a:spLocks noChangeArrowheads="1"/>
            </p:cNvSpPr>
            <p:nvPr/>
          </p:nvSpPr>
          <p:spPr bwMode="auto">
            <a:xfrm>
              <a:off x="240" y="384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1000" y="1219200"/>
            <a:ext cx="8458200" cy="762000"/>
            <a:chOff x="240" y="768"/>
            <a:chExt cx="5328" cy="480"/>
          </a:xfrm>
        </p:grpSpPr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>
              <a:off x="240" y="1248"/>
              <a:ext cx="412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 flipV="1">
              <a:off x="4368" y="912"/>
              <a:ext cx="336" cy="14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Text Box 8"/>
            <p:cNvSpPr txBox="1">
              <a:spLocks noChangeArrowheads="1"/>
            </p:cNvSpPr>
            <p:nvPr/>
          </p:nvSpPr>
          <p:spPr bwMode="auto">
            <a:xfrm>
              <a:off x="4704" y="768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>
                  <a:solidFill>
                    <a:srgbClr val="CC0000"/>
                  </a:solidFill>
                </a:rPr>
                <a:t>P(n)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04800" y="762000"/>
            <a:ext cx="8001000" cy="1304925"/>
            <a:chOff x="192" y="480"/>
            <a:chExt cx="5040" cy="822"/>
          </a:xfrm>
        </p:grpSpPr>
        <p:sp>
          <p:nvSpPr>
            <p:cNvPr id="16395" name="Text Box 11"/>
            <p:cNvSpPr txBox="1">
              <a:spLocks noChangeArrowheads="1"/>
            </p:cNvSpPr>
            <p:nvPr/>
          </p:nvSpPr>
          <p:spPr bwMode="auto">
            <a:xfrm>
              <a:off x="192" y="480"/>
              <a:ext cx="50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Use Mathematical induction to prove the following formula:</a:t>
              </a:r>
            </a:p>
          </p:txBody>
        </p:sp>
        <p:graphicFrame>
          <p:nvGraphicFramePr>
            <p:cNvPr id="16396" name="Object 12"/>
            <p:cNvGraphicFramePr>
              <a:graphicFrameLocks noChangeAspect="1"/>
            </p:cNvGraphicFramePr>
            <p:nvPr/>
          </p:nvGraphicFramePr>
          <p:xfrm>
            <a:off x="192" y="720"/>
            <a:ext cx="4165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3263760" imgH="457200" progId="Equation.3">
                    <p:embed/>
                  </p:oleObj>
                </mc:Choice>
                <mc:Fallback>
                  <p:oleObj name="数式" r:id="rId2" imgW="3263760" imgH="457200" progId="Equation.3">
                    <p:embed/>
                    <p:pic>
                      <p:nvPicPr>
                        <p:cNvPr id="1639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720"/>
                          <a:ext cx="4165" cy="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304800" y="2057400"/>
          <a:ext cx="50673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2501640" imgH="393480" progId="Equation.3">
                  <p:embed/>
                </p:oleObj>
              </mc:Choice>
              <mc:Fallback>
                <p:oleObj name="数式" r:id="rId4" imgW="2501640" imgH="393480" progId="Equation.3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57400"/>
                        <a:ext cx="5067300" cy="79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317500" y="2819400"/>
          <a:ext cx="7613650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59120" imgH="876240" progId="Equation.3">
                  <p:embed/>
                </p:oleObj>
              </mc:Choice>
              <mc:Fallback>
                <p:oleObj name="Equation" r:id="rId6" imgW="3759120" imgH="876240" progId="Equation.3">
                  <p:embed/>
                  <p:pic>
                    <p:nvPicPr>
                      <p:cNvPr id="164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2819400"/>
                        <a:ext cx="7613650" cy="177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228600" y="2057400"/>
            <a:ext cx="7924800" cy="28194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04800" y="1219200"/>
            <a:ext cx="8001000" cy="563563"/>
            <a:chOff x="192" y="768"/>
            <a:chExt cx="5040" cy="355"/>
          </a:xfrm>
        </p:grpSpPr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192" y="768"/>
              <a:ext cx="50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Use Mathematical induction to prove that </a:t>
              </a:r>
            </a:p>
          </p:txBody>
        </p:sp>
        <p:graphicFrame>
          <p:nvGraphicFramePr>
            <p:cNvPr id="17415" name="Object 7"/>
            <p:cNvGraphicFramePr>
              <a:graphicFrameLocks noChangeAspect="1"/>
            </p:cNvGraphicFramePr>
            <p:nvPr/>
          </p:nvGraphicFramePr>
          <p:xfrm>
            <a:off x="3456" y="816"/>
            <a:ext cx="113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888840" imgH="241200" progId="Equation.3">
                    <p:embed/>
                  </p:oleObj>
                </mc:Choice>
                <mc:Fallback>
                  <p:oleObj name="数式" r:id="rId2" imgW="888840" imgH="241200" progId="Equation.3">
                    <p:embed/>
                    <p:pic>
                      <p:nvPicPr>
                        <p:cNvPr id="174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816"/>
                          <a:ext cx="1134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04800" y="1905000"/>
          <a:ext cx="60960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3251160" imgH="241200" progId="Equation.3">
                  <p:embed/>
                </p:oleObj>
              </mc:Choice>
              <mc:Fallback>
                <p:oleObj name="数式" r:id="rId4" imgW="3251160" imgH="241200" progId="Equation.3">
                  <p:embed/>
                  <p:pic>
                    <p:nvPicPr>
                      <p:cNvPr id="17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05000"/>
                        <a:ext cx="6096000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266700" y="1905000"/>
            <a:ext cx="8648700" cy="49530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266700" y="2382838"/>
          <a:ext cx="8610600" cy="447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56000" imgH="2260440" progId="Equation.3">
                  <p:embed/>
                </p:oleObj>
              </mc:Choice>
              <mc:Fallback>
                <p:oleObj name="Equation" r:id="rId6" imgW="4356000" imgH="2260440" progId="Equation.3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2382838"/>
                        <a:ext cx="8610600" cy="447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410200" y="1219200"/>
            <a:ext cx="3276600" cy="533400"/>
            <a:chOff x="3408" y="768"/>
            <a:chExt cx="2064" cy="336"/>
          </a:xfrm>
        </p:grpSpPr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>
              <a:off x="3408" y="1104"/>
              <a:ext cx="124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 flipV="1">
              <a:off x="4320" y="864"/>
              <a:ext cx="672" cy="2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4944" y="768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i="1">
                  <a:solidFill>
                    <a:srgbClr val="CC0000"/>
                  </a:solidFill>
                </a:rPr>
                <a:t>P(n)</a:t>
              </a:r>
            </a:p>
          </p:txBody>
        </p:sp>
      </p:grp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28600" y="152400"/>
            <a:ext cx="6553200" cy="457200"/>
            <a:chOff x="192" y="384"/>
            <a:chExt cx="4128" cy="288"/>
          </a:xfrm>
        </p:grpSpPr>
        <p:sp>
          <p:nvSpPr>
            <p:cNvPr id="17411" name="Text Box 3"/>
            <p:cNvSpPr txBox="1">
              <a:spLocks noChangeArrowheads="1"/>
            </p:cNvSpPr>
            <p:nvPr/>
          </p:nvSpPr>
          <p:spPr bwMode="auto">
            <a:xfrm>
              <a:off x="192" y="384"/>
              <a:ext cx="41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5   Inequality for Harmonic Numbers.</a:t>
              </a:r>
            </a:p>
          </p:txBody>
        </p:sp>
        <p:sp>
          <p:nvSpPr>
            <p:cNvPr id="17412" name="Rectangle 4"/>
            <p:cNvSpPr>
              <a:spLocks noChangeArrowheads="1"/>
            </p:cNvSpPr>
            <p:nvPr/>
          </p:nvSpPr>
          <p:spPr bwMode="auto">
            <a:xfrm>
              <a:off x="240" y="384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393700" y="457200"/>
          <a:ext cx="74850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95400" imgH="393480" progId="Equation.3">
                  <p:embed/>
                </p:oleObj>
              </mc:Choice>
              <mc:Fallback>
                <p:oleObj name="Equation" r:id="rId8" imgW="3695400" imgH="393480" progId="Equation.3">
                  <p:embed/>
                  <p:pic>
                    <p:nvPicPr>
                      <p:cNvPr id="174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457200"/>
                        <a:ext cx="7485063" cy="795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6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228600"/>
            <a:ext cx="6553200" cy="457200"/>
            <a:chOff x="192" y="384"/>
            <a:chExt cx="4128" cy="288"/>
          </a:xfrm>
        </p:grpSpPr>
        <p:sp>
          <p:nvSpPr>
            <p:cNvPr id="18435" name="Text Box 3"/>
            <p:cNvSpPr txBox="1">
              <a:spLocks noChangeArrowheads="1"/>
            </p:cNvSpPr>
            <p:nvPr/>
          </p:nvSpPr>
          <p:spPr bwMode="auto">
            <a:xfrm>
              <a:off x="192" y="384"/>
              <a:ext cx="41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Example 6   The numbers of Subsets of a Finite Set</a:t>
              </a:r>
            </a:p>
          </p:txBody>
        </p:sp>
        <p:sp>
          <p:nvSpPr>
            <p:cNvPr id="18436" name="Rectangle 4"/>
            <p:cNvSpPr>
              <a:spLocks noChangeArrowheads="1"/>
            </p:cNvSpPr>
            <p:nvPr/>
          </p:nvSpPr>
          <p:spPr bwMode="auto">
            <a:xfrm>
              <a:off x="240" y="384"/>
              <a:ext cx="864" cy="288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33400" y="838200"/>
            <a:ext cx="8610600" cy="762000"/>
            <a:chOff x="336" y="528"/>
            <a:chExt cx="5424" cy="480"/>
          </a:xfrm>
        </p:grpSpPr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>
              <a:off x="336" y="1008"/>
              <a:ext cx="420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 flipV="1">
              <a:off x="4538" y="672"/>
              <a:ext cx="342" cy="14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Text Box 8"/>
            <p:cNvSpPr txBox="1">
              <a:spLocks noChangeArrowheads="1"/>
            </p:cNvSpPr>
            <p:nvPr/>
          </p:nvSpPr>
          <p:spPr bwMode="auto">
            <a:xfrm>
              <a:off x="4880" y="528"/>
              <a:ext cx="8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>
                  <a:solidFill>
                    <a:srgbClr val="CC0000"/>
                  </a:solidFill>
                </a:rPr>
                <a:t>P(n)</a:t>
              </a: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41300" y="762000"/>
            <a:ext cx="8064500" cy="1304925"/>
            <a:chOff x="152" y="480"/>
            <a:chExt cx="5080" cy="822"/>
          </a:xfrm>
        </p:grpSpPr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192" y="480"/>
              <a:ext cx="50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/>
                <a:t>Use Mathematical induction to prove that </a:t>
              </a:r>
            </a:p>
          </p:txBody>
        </p:sp>
        <p:graphicFrame>
          <p:nvGraphicFramePr>
            <p:cNvPr id="18443" name="Object 11"/>
            <p:cNvGraphicFramePr>
              <a:graphicFrameLocks noChangeAspect="1"/>
            </p:cNvGraphicFramePr>
            <p:nvPr/>
          </p:nvGraphicFramePr>
          <p:xfrm>
            <a:off x="152" y="720"/>
            <a:ext cx="4376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2" imgW="3429000" imgH="457200" progId="Equation.3">
                    <p:embed/>
                  </p:oleObj>
                </mc:Choice>
                <mc:Fallback>
                  <p:oleObj name="数式" r:id="rId2" imgW="3429000" imgH="457200" progId="Equation.3">
                    <p:embed/>
                    <p:pic>
                      <p:nvPicPr>
                        <p:cNvPr id="1844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" y="720"/>
                          <a:ext cx="4376" cy="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44" name="Object 12"/>
          <p:cNvGraphicFramePr>
            <a:graphicFrameLocks noChangeAspect="1"/>
          </p:cNvGraphicFramePr>
          <p:nvPr/>
        </p:nvGraphicFramePr>
        <p:xfrm>
          <a:off x="381000" y="1828800"/>
          <a:ext cx="68421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3377880" imgH="457200" progId="Equation.3">
                  <p:embed/>
                </p:oleObj>
              </mc:Choice>
              <mc:Fallback>
                <p:oleObj name="数式" r:id="rId4" imgW="3377880" imgH="457200" progId="Equation.3">
                  <p:embed/>
                  <p:pic>
                    <p:nvPicPr>
                      <p:cNvPr id="184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828800"/>
                        <a:ext cx="6842125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/>
        </p:nvGraphicFramePr>
        <p:xfrm>
          <a:off x="304800" y="2743200"/>
          <a:ext cx="8178800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38480" imgH="1600200" progId="Equation.3">
                  <p:embed/>
                </p:oleObj>
              </mc:Choice>
              <mc:Fallback>
                <p:oleObj name="Equation" r:id="rId6" imgW="4038480" imgH="1600200" progId="Equation.3">
                  <p:embed/>
                  <p:pic>
                    <p:nvPicPr>
                      <p:cNvPr id="184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43200"/>
                        <a:ext cx="8178800" cy="324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381000" y="1828800"/>
            <a:ext cx="8077200" cy="50292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990600" y="5410200"/>
            <a:ext cx="3886200" cy="1447800"/>
            <a:chOff x="624" y="3408"/>
            <a:chExt cx="2448" cy="912"/>
          </a:xfrm>
        </p:grpSpPr>
        <p:sp>
          <p:nvSpPr>
            <p:cNvPr id="18447" name="Oval 15"/>
            <p:cNvSpPr>
              <a:spLocks noChangeArrowheads="1"/>
            </p:cNvSpPr>
            <p:nvPr/>
          </p:nvSpPr>
          <p:spPr bwMode="auto">
            <a:xfrm>
              <a:off x="624" y="3648"/>
              <a:ext cx="86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Oval 18"/>
            <p:cNvSpPr>
              <a:spLocks noChangeArrowheads="1"/>
            </p:cNvSpPr>
            <p:nvPr/>
          </p:nvSpPr>
          <p:spPr bwMode="auto">
            <a:xfrm>
              <a:off x="2208" y="3936"/>
              <a:ext cx="86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Oval 19"/>
            <p:cNvSpPr>
              <a:spLocks noChangeArrowheads="1"/>
            </p:cNvSpPr>
            <p:nvPr/>
          </p:nvSpPr>
          <p:spPr bwMode="auto">
            <a:xfrm>
              <a:off x="2208" y="3408"/>
              <a:ext cx="86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 flipV="1">
              <a:off x="1488" y="3600"/>
              <a:ext cx="62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1488" y="3960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Oval 22"/>
            <p:cNvSpPr>
              <a:spLocks noChangeArrowheads="1"/>
            </p:cNvSpPr>
            <p:nvPr/>
          </p:nvSpPr>
          <p:spPr bwMode="auto">
            <a:xfrm>
              <a:off x="768" y="3696"/>
              <a:ext cx="432" cy="24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ja-JP" sz="2000"/>
                <a:t>X</a:t>
              </a:r>
            </a:p>
          </p:txBody>
        </p:sp>
        <p:sp>
          <p:nvSpPr>
            <p:cNvPr id="18455" name="Oval 23"/>
            <p:cNvSpPr>
              <a:spLocks noChangeArrowheads="1"/>
            </p:cNvSpPr>
            <p:nvPr/>
          </p:nvSpPr>
          <p:spPr bwMode="auto">
            <a:xfrm>
              <a:off x="2352" y="3456"/>
              <a:ext cx="528" cy="24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ja-JP" sz="2000"/>
            </a:p>
          </p:txBody>
        </p:sp>
        <p:sp>
          <p:nvSpPr>
            <p:cNvPr id="18456" name="Oval 24"/>
            <p:cNvSpPr>
              <a:spLocks noChangeArrowheads="1"/>
            </p:cNvSpPr>
            <p:nvPr/>
          </p:nvSpPr>
          <p:spPr bwMode="auto">
            <a:xfrm>
              <a:off x="2448" y="4032"/>
              <a:ext cx="432" cy="24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ja-JP" sz="2000"/>
                <a:t>X</a:t>
              </a:r>
            </a:p>
          </p:txBody>
        </p:sp>
        <p:graphicFrame>
          <p:nvGraphicFramePr>
            <p:cNvPr id="18457" name="Object 25"/>
            <p:cNvGraphicFramePr>
              <a:graphicFrameLocks noChangeAspect="1"/>
            </p:cNvGraphicFramePr>
            <p:nvPr/>
          </p:nvGraphicFramePr>
          <p:xfrm>
            <a:off x="2400" y="3504"/>
            <a:ext cx="480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8" imgW="533160" imgH="203040" progId="Equation.3">
                    <p:embed/>
                  </p:oleObj>
                </mc:Choice>
                <mc:Fallback>
                  <p:oleObj name="数式" r:id="rId8" imgW="533160" imgH="203040" progId="Equation.3">
                    <p:embed/>
                    <p:pic>
                      <p:nvPicPr>
                        <p:cNvPr id="1845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504"/>
                          <a:ext cx="480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8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Form of Proof by Contraposition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Theorem: </a:t>
            </a:r>
            <a:r>
              <a:rPr lang="en-US" i="1"/>
              <a:t>p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q</a:t>
            </a:r>
            <a:r>
              <a:rPr lang="en-US"/>
              <a:t>.</a:t>
            </a:r>
          </a:p>
          <a:p>
            <a:r>
              <a:rPr lang="en-US"/>
              <a:t>This is logically equivalent to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>
                <a:sym typeface="Symbol" pitchFamily="18" charset="2"/>
              </a:rPr>
              <a:t>q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>
                <a:sym typeface="Symbol" pitchFamily="18" charset="2"/>
              </a:rPr>
              <a:t>p</a:t>
            </a:r>
            <a:r>
              <a:rPr lang="en-US"/>
              <a:t>.</a:t>
            </a:r>
          </a:p>
          <a:p>
            <a:r>
              <a:rPr lang="en-US"/>
              <a:t>Outline of the proof of the theorem:</a:t>
            </a:r>
          </a:p>
          <a:p>
            <a:pPr lvl="1"/>
            <a:r>
              <a:rPr lang="en-US"/>
              <a:t>Assume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.</a:t>
            </a:r>
          </a:p>
          <a:p>
            <a:pPr lvl="1"/>
            <a:r>
              <a:rPr lang="en-US">
                <a:sym typeface="Symbol" pitchFamily="18" charset="2"/>
              </a:rPr>
              <a:t>Prove 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.</a:t>
            </a:r>
          </a:p>
          <a:p>
            <a:pPr lvl="1"/>
            <a:r>
              <a:rPr lang="en-US">
                <a:sym typeface="Symbol" pitchFamily="18" charset="2"/>
              </a:rPr>
              <a:t>Conclude that 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</a:t>
            </a:r>
            <a:r>
              <a:rPr lang="en-US"/>
              <a:t> 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.</a:t>
            </a:r>
          </a:p>
          <a:p>
            <a:r>
              <a:rPr lang="en-US">
                <a:sym typeface="Symbol" pitchFamily="18" charset="2"/>
              </a:rPr>
              <a:t>This is a </a:t>
            </a:r>
            <a:r>
              <a:rPr lang="en-US" i="1">
                <a:sym typeface="Symbol" pitchFamily="18" charset="2"/>
              </a:rPr>
              <a:t>direct</a:t>
            </a:r>
            <a:r>
              <a:rPr lang="en-US">
                <a:sym typeface="Symbol" pitchFamily="18" charset="2"/>
              </a:rPr>
              <a:t> proof of the contrapositive.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07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Benefit of Proof by Contraposition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</a:t>
            </a:r>
            <a:r>
              <a:rPr lang="en-US" i="1"/>
              <a:t>p</a:t>
            </a:r>
            <a:r>
              <a:rPr lang="en-US"/>
              <a:t> and </a:t>
            </a:r>
            <a:r>
              <a:rPr lang="en-US" i="1"/>
              <a:t>q</a:t>
            </a:r>
            <a:r>
              <a:rPr lang="en-US"/>
              <a:t> are negative statements, then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/>
              <a:t>p</a:t>
            </a:r>
            <a:r>
              <a:rPr lang="en-US"/>
              <a:t> and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/>
              <a:t>q</a:t>
            </a:r>
            <a:r>
              <a:rPr lang="en-US"/>
              <a:t> are positive statements.</a:t>
            </a:r>
          </a:p>
          <a:p>
            <a:r>
              <a:rPr lang="en-US"/>
              <a:t>We may be able to give a </a:t>
            </a:r>
            <a:r>
              <a:rPr lang="en-US" i="1"/>
              <a:t>direct</a:t>
            </a:r>
            <a:r>
              <a:rPr lang="en-US"/>
              <a:t> proof that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>
                <a:sym typeface="Symbol" pitchFamily="18" charset="2"/>
              </a:rPr>
              <a:t>q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</a:t>
            </a:r>
            <a:r>
              <a:rPr lang="en-US" i="1">
                <a:sym typeface="Symbol" pitchFamily="18" charset="2"/>
              </a:rPr>
              <a:t>p</a:t>
            </a:r>
            <a:r>
              <a:rPr lang="en-US"/>
              <a:t> more easily that we could give a direct proof that </a:t>
            </a:r>
            <a:r>
              <a:rPr lang="en-US" i="1"/>
              <a:t>p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q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39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Example:  Proof by Contraposition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Theorem:  The sum of a rational and an irrational is irrational.</a:t>
            </a:r>
          </a:p>
          <a:p>
            <a:pPr>
              <a:lnSpc>
                <a:spcPct val="90000"/>
              </a:lnSpc>
            </a:pPr>
            <a:r>
              <a:rPr lang="en-US"/>
              <a:t>Restate the theorem:  Let </a:t>
            </a:r>
            <a:r>
              <a:rPr lang="en-US" i="1"/>
              <a:t>r</a:t>
            </a:r>
            <a:r>
              <a:rPr lang="en-US"/>
              <a:t> be a rational number and let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be a number.  If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irrational, then </a:t>
            </a:r>
            <a:r>
              <a:rPr lang="en-US" i="1"/>
              <a:t>r</a:t>
            </a:r>
            <a:r>
              <a:rPr lang="en-US"/>
              <a:t> +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irrational.</a:t>
            </a:r>
          </a:p>
          <a:p>
            <a:pPr>
              <a:lnSpc>
                <a:spcPct val="90000"/>
              </a:lnSpc>
            </a:pPr>
            <a:r>
              <a:rPr lang="en-US"/>
              <a:t>Restate again: Let </a:t>
            </a:r>
            <a:r>
              <a:rPr lang="en-US" i="1"/>
              <a:t>r</a:t>
            </a:r>
            <a:r>
              <a:rPr lang="en-US"/>
              <a:t> be a rational number and let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be a number.  If r +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rational, then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37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The Proof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Proof:</a:t>
            </a:r>
          </a:p>
          <a:p>
            <a:pPr lvl="1"/>
            <a:r>
              <a:rPr lang="en-US"/>
              <a:t>Let </a:t>
            </a:r>
            <a:r>
              <a:rPr lang="en-US" i="1"/>
              <a:t>r</a:t>
            </a:r>
            <a:r>
              <a:rPr lang="en-US"/>
              <a:t> be rational and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be a number.</a:t>
            </a:r>
          </a:p>
          <a:p>
            <a:pPr lvl="1"/>
            <a:r>
              <a:rPr lang="en-US"/>
              <a:t>Suppose that </a:t>
            </a:r>
            <a:r>
              <a:rPr lang="en-US" i="1"/>
              <a:t>r</a:t>
            </a:r>
            <a:r>
              <a:rPr lang="en-US"/>
              <a:t> +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rational.</a:t>
            </a:r>
          </a:p>
          <a:p>
            <a:pPr lvl="1"/>
            <a:r>
              <a:rPr lang="en-US"/>
              <a:t>Let </a:t>
            </a:r>
            <a:r>
              <a:rPr lang="en-US" i="1"/>
              <a:t>s</a:t>
            </a:r>
            <a:r>
              <a:rPr lang="en-US"/>
              <a:t> = </a:t>
            </a:r>
            <a:r>
              <a:rPr lang="en-US" i="1"/>
              <a:t>r</a:t>
            </a:r>
            <a:r>
              <a:rPr lang="en-US"/>
              <a:t> +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.  Then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= </a:t>
            </a:r>
            <a:r>
              <a:rPr lang="en-US" i="1"/>
              <a:t>s</a:t>
            </a:r>
            <a:r>
              <a:rPr lang="en-US"/>
              <a:t> – </a:t>
            </a:r>
            <a:r>
              <a:rPr lang="en-US" i="1"/>
              <a:t>r</a:t>
            </a:r>
            <a:r>
              <a:rPr lang="en-US"/>
              <a:t>, which is rational.</a:t>
            </a:r>
          </a:p>
          <a:p>
            <a:pPr lvl="1"/>
            <a:r>
              <a:rPr lang="en-US"/>
              <a:t>Therefore, if </a:t>
            </a:r>
            <a:r>
              <a:rPr lang="en-US" i="1"/>
              <a:t>r</a:t>
            </a:r>
            <a:r>
              <a:rPr lang="en-US"/>
              <a:t> +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rational, then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rational.</a:t>
            </a:r>
          </a:p>
          <a:p>
            <a:pPr lvl="1"/>
            <a:r>
              <a:rPr lang="en-US"/>
              <a:t>It follows that if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irrational, then </a:t>
            </a:r>
            <a:r>
              <a:rPr lang="en-US" i="1"/>
              <a:t>r</a:t>
            </a:r>
            <a:r>
              <a:rPr lang="en-US"/>
              <a:t> + </a:t>
            </a:r>
            <a:r>
              <a:rPr lang="en-US">
                <a:cs typeface="Times New Roman" pitchFamily="18" charset="0"/>
              </a:rPr>
              <a:t>α</a:t>
            </a:r>
            <a:r>
              <a:rPr lang="en-US"/>
              <a:t> is irrational.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51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42687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To prove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>
              <a:solidFill>
                <a:srgbClr val="FF0000"/>
              </a:solidFill>
              <a:latin typeface="Comic Sans MS" pitchFamily="66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we can prove the equivalent statement in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contrapositive form</a:t>
            </a:r>
            <a:r>
              <a:rPr lang="en-US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or</a:t>
            </a:r>
          </a:p>
        </p:txBody>
      </p:sp>
      <p:graphicFrame>
        <p:nvGraphicFramePr>
          <p:cNvPr id="19460" name="Object 2"/>
          <p:cNvGraphicFramePr>
            <a:graphicFrameLocks noChangeAspect="1"/>
          </p:cNvGraphicFramePr>
          <p:nvPr/>
        </p:nvGraphicFramePr>
        <p:xfrm>
          <a:off x="1954213" y="2544763"/>
          <a:ext cx="49641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203200" progId="">
                  <p:embed/>
                </p:oleObj>
              </mc:Choice>
              <mc:Fallback>
                <p:oleObj name="Equation" r:id="rId2" imgW="2184400" imgH="203200" progId="">
                  <p:embed/>
                  <p:pic>
                    <p:nvPicPr>
                      <p:cNvPr id="1946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2544763"/>
                        <a:ext cx="4964112" cy="4619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6"/>
          <p:cNvGraphicFramePr>
            <a:graphicFrameLocks noChangeAspect="1"/>
          </p:cNvGraphicFramePr>
          <p:nvPr/>
        </p:nvGraphicFramePr>
        <p:xfrm>
          <a:off x="1785938" y="4270375"/>
          <a:ext cx="53943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900" imgH="203200" progId="">
                  <p:embed/>
                </p:oleObj>
              </mc:Choice>
              <mc:Fallback>
                <p:oleObj name="Equation" r:id="rId4" imgW="2374900" imgH="203200" progId="">
                  <p:embed/>
                  <p:pic>
                    <p:nvPicPr>
                      <p:cNvPr id="194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270375"/>
                        <a:ext cx="5394325" cy="461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7"/>
          <p:cNvGraphicFramePr>
            <a:graphicFrameLocks noChangeAspect="1"/>
          </p:cNvGraphicFramePr>
          <p:nvPr/>
        </p:nvGraphicFramePr>
        <p:xfrm>
          <a:off x="2193925" y="5241925"/>
          <a:ext cx="45577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5729" imgH="203112" progId="">
                  <p:embed/>
                </p:oleObj>
              </mc:Choice>
              <mc:Fallback>
                <p:oleObj name="Equation" r:id="rId6" imgW="2005729" imgH="203112" progId="">
                  <p:embed/>
                  <p:pic>
                    <p:nvPicPr>
                      <p:cNvPr id="1946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5241925"/>
                        <a:ext cx="4557713" cy="461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45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Rationale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18367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Why?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graphicFrame>
        <p:nvGraphicFramePr>
          <p:cNvPr id="20484" name="Object 2"/>
          <p:cNvGraphicFramePr>
            <a:graphicFrameLocks noChangeAspect="1"/>
          </p:cNvGraphicFramePr>
          <p:nvPr/>
        </p:nvGraphicFramePr>
        <p:xfrm>
          <a:off x="1954213" y="2544763"/>
          <a:ext cx="49641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203200" progId="">
                  <p:embed/>
                </p:oleObj>
              </mc:Choice>
              <mc:Fallback>
                <p:oleObj name="Equation" r:id="rId2" imgW="2184400" imgH="203200" progId="">
                  <p:embed/>
                  <p:pic>
                    <p:nvPicPr>
                      <p:cNvPr id="2048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2544763"/>
                        <a:ext cx="4964112" cy="4619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6"/>
          <p:cNvGraphicFramePr>
            <a:graphicFrameLocks noChangeAspect="1"/>
          </p:cNvGraphicFramePr>
          <p:nvPr/>
        </p:nvGraphicFramePr>
        <p:xfrm>
          <a:off x="1728788" y="3082925"/>
          <a:ext cx="53943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900" imgH="203200" progId="">
                  <p:embed/>
                </p:oleObj>
              </mc:Choice>
              <mc:Fallback>
                <p:oleObj name="Equation" r:id="rId4" imgW="2374900" imgH="203200" progId="">
                  <p:embed/>
                  <p:pic>
                    <p:nvPicPr>
                      <p:cNvPr id="2048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3082925"/>
                        <a:ext cx="5394325" cy="461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866775" y="3733800"/>
            <a:ext cx="7494588" cy="24780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42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</a:rPr>
              <a:t>Recall: Negation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19415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Statement: </a:t>
            </a:r>
            <a:r>
              <a:rPr lang="en-US" altLang="en-US" i="1"/>
              <a:t>n</a:t>
            </a:r>
            <a:r>
              <a:rPr lang="en-US" altLang="en-US"/>
              <a:t> is odd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  <a:latin typeface="Comic Sans MS" panose="030F0702030302020204" pitchFamily="66" charset="0"/>
              </a:rPr>
              <a:t>Negation</a:t>
            </a:r>
            <a:r>
              <a:rPr lang="en-US" altLang="en-US"/>
              <a:t> of the statement: </a:t>
            </a:r>
            <a:r>
              <a:rPr lang="en-US" altLang="en-US" i="1"/>
              <a:t>n</a:t>
            </a:r>
            <a:r>
              <a:rPr lang="en-US" altLang="en-US"/>
              <a:t> is </a:t>
            </a:r>
            <a:r>
              <a:rPr lang="en-US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altLang="en-US"/>
              <a:t> odd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                                     Or: </a:t>
            </a:r>
            <a:r>
              <a:rPr lang="en-US" altLang="en-US" i="1"/>
              <a:t>n</a:t>
            </a:r>
            <a:r>
              <a:rPr lang="en-US" altLang="en-US"/>
              <a:t> is even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5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</a:rPr>
              <a:t>Recall: Negation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29781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Notations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                                     </a:t>
            </a:r>
          </a:p>
        </p:txBody>
      </p:sp>
      <p:graphicFrame>
        <p:nvGraphicFramePr>
          <p:cNvPr id="22532" name="Object 2"/>
          <p:cNvGraphicFramePr>
            <a:graphicFrameLocks noChangeAspect="1"/>
          </p:cNvGraphicFramePr>
          <p:nvPr/>
        </p:nvGraphicFramePr>
        <p:xfrm>
          <a:off x="2932113" y="2473325"/>
          <a:ext cx="30130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06080" progId="">
                  <p:embed/>
                </p:oleObj>
              </mc:Choice>
              <mc:Fallback>
                <p:oleObj name="Equation" r:id="rId2" imgW="1066680" imgH="406080" progId="">
                  <p:embed/>
                  <p:pic>
                    <p:nvPicPr>
                      <p:cNvPr id="2253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2473325"/>
                        <a:ext cx="3013075" cy="1146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955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Contrapositive 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29781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The </a:t>
            </a:r>
            <a:r>
              <a:rPr lang="en-US" altLang="en-US">
                <a:solidFill>
                  <a:srgbClr val="FF0000"/>
                </a:solidFill>
                <a:latin typeface="Comic Sans MS" panose="030F0702030302020204" pitchFamily="66" charset="0"/>
              </a:rPr>
              <a:t>contrapositive form</a:t>
            </a:r>
            <a:r>
              <a:rPr lang="en-US" altLang="en-US"/>
              <a:t> of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is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                                    </a:t>
            </a:r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3417888" y="2541588"/>
          <a:ext cx="20796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03200" progId="">
                  <p:embed/>
                </p:oleObj>
              </mc:Choice>
              <mc:Fallback>
                <p:oleObj name="Equation" r:id="rId2" imgW="736600" imgH="203200" progId="">
                  <p:embed/>
                  <p:pic>
                    <p:nvPicPr>
                      <p:cNvPr id="2355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2541588"/>
                        <a:ext cx="2079625" cy="5730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6"/>
          <p:cNvGraphicFramePr>
            <a:graphicFrameLocks noChangeAspect="1"/>
          </p:cNvGraphicFramePr>
          <p:nvPr/>
        </p:nvGraphicFramePr>
        <p:xfrm>
          <a:off x="2981325" y="3532188"/>
          <a:ext cx="30114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337" imgH="203112" progId="">
                  <p:embed/>
                </p:oleObj>
              </mc:Choice>
              <mc:Fallback>
                <p:oleObj name="Equation" r:id="rId4" imgW="1066337" imgH="203112" progId="">
                  <p:embed/>
                  <p:pic>
                    <p:nvPicPr>
                      <p:cNvPr id="2355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3532188"/>
                        <a:ext cx="3011488" cy="5730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62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Example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88" y="2535238"/>
          <a:ext cx="7786688" cy="3686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3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6175">
                <a:tc>
                  <a:txBody>
                    <a:bodyPr/>
                    <a:lstStyle/>
                    <a:p>
                      <a:r>
                        <a:rPr lang="en-US" sz="1800" dirty="0"/>
                        <a:t>Analysis</a:t>
                      </a:r>
                    </a:p>
                  </a:txBody>
                  <a:tcPr marL="91442" marR="91442"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Proof:  We prove the contrapositive:</a:t>
                      </a:r>
                    </a:p>
                  </a:txBody>
                  <a:tcPr marL="91442" marR="91442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587" name="Object 2"/>
          <p:cNvGraphicFramePr>
            <a:graphicFrameLocks noChangeAspect="1"/>
          </p:cNvGraphicFramePr>
          <p:nvPr/>
        </p:nvGraphicFramePr>
        <p:xfrm>
          <a:off x="766763" y="1976437"/>
          <a:ext cx="49641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203200" progId="">
                  <p:embed/>
                </p:oleObj>
              </mc:Choice>
              <mc:Fallback>
                <p:oleObj name="Equation" r:id="rId2" imgW="2184400" imgH="203200" progId="">
                  <p:embed/>
                  <p:pic>
                    <p:nvPicPr>
                      <p:cNvPr id="245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976437"/>
                        <a:ext cx="4964112" cy="461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7"/>
          <p:cNvGraphicFramePr>
            <a:graphicFrameLocks noChangeAspect="1"/>
          </p:cNvGraphicFramePr>
          <p:nvPr/>
        </p:nvGraphicFramePr>
        <p:xfrm>
          <a:off x="4841875" y="3201988"/>
          <a:ext cx="35274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5729" imgH="203112" progId="">
                  <p:embed/>
                </p:oleObj>
              </mc:Choice>
              <mc:Fallback>
                <p:oleObj name="Equation" r:id="rId4" imgW="2005729" imgH="203112" progId="">
                  <p:embed/>
                  <p:pic>
                    <p:nvPicPr>
                      <p:cNvPr id="2458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3201988"/>
                        <a:ext cx="3527425" cy="3571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796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Contrapositive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88" y="2535238"/>
          <a:ext cx="7786687" cy="3686175"/>
        </p:xfrm>
        <a:graphic>
          <a:graphicData uri="http://schemas.openxmlformats.org/drawingml/2006/table">
            <a:tbl>
              <a:tblPr/>
              <a:tblGrid>
                <a:gridCol w="389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6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Analysis</a:t>
                      </a:r>
                    </a:p>
                  </a:txBody>
                  <a:tcPr marL="91442" marR="91442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Proof by Contrapositive of If-then Theorem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Restate the statement in its equivalent contrapositive form.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Use direct proof on the contrapositive form.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1800" b="1" i="0" u="sng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State the origin statement as the conclusion.</a:t>
                      </a:r>
                      <a:endParaRPr kumimoji="0" lang="en-US" sz="18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1442" marR="91442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11" name="Object 2"/>
          <p:cNvGraphicFramePr>
            <a:graphicFrameLocks noChangeAspect="1"/>
          </p:cNvGraphicFramePr>
          <p:nvPr/>
        </p:nvGraphicFramePr>
        <p:xfrm>
          <a:off x="766763" y="1857375"/>
          <a:ext cx="49641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203200" progId="">
                  <p:embed/>
                </p:oleObj>
              </mc:Choice>
              <mc:Fallback>
                <p:oleObj name="Equation" r:id="rId2" imgW="2184400" imgH="203200" progId="">
                  <p:embed/>
                  <p:pic>
                    <p:nvPicPr>
                      <p:cNvPr id="256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857375"/>
                        <a:ext cx="4964112" cy="461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561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Contraposition and Compound Hypotheses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Often a theorem has the form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(</a:t>
            </a:r>
            <a:r>
              <a:rPr lang="en-US" i="1"/>
              <a:t>p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 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) 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This is logically equivalent to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ym typeface="Symbol" pitchFamily="18" charset="2"/>
              </a:rPr>
              <a:t>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 (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 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However, it is also equivalent to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 (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 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ym typeface="Symbol" pitchFamily="18" charset="2"/>
              </a:rPr>
              <a:t>	so it is also equivalent to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 (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 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41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Form of Proof by Contradiction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Theorem:  </a:t>
            </a:r>
            <a:r>
              <a:rPr lang="en-US" i="1"/>
              <a:t>p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q</a:t>
            </a:r>
            <a:r>
              <a:rPr lang="en-US"/>
              <a:t>.</a:t>
            </a:r>
          </a:p>
          <a:p>
            <a:r>
              <a:rPr lang="en-US"/>
              <a:t>Outline of the proof of the theorem :</a:t>
            </a:r>
          </a:p>
          <a:p>
            <a:pPr lvl="1"/>
            <a:r>
              <a:rPr lang="en-US"/>
              <a:t>Assume </a:t>
            </a:r>
            <a:r>
              <a:rPr lang="en-US">
                <a:sym typeface="Symbol" pitchFamily="18" charset="2"/>
              </a:rPr>
              <a:t>(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 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).</a:t>
            </a:r>
          </a:p>
          <a:p>
            <a:pPr lvl="1"/>
            <a:r>
              <a:rPr lang="en-US">
                <a:sym typeface="Symbol" pitchFamily="18" charset="2"/>
              </a:rPr>
              <a:t>This is equivalent to assuming 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 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.</a:t>
            </a:r>
          </a:p>
          <a:p>
            <a:pPr lvl="1"/>
            <a:r>
              <a:rPr lang="en-US">
                <a:sym typeface="Symbol" pitchFamily="18" charset="2"/>
              </a:rPr>
              <a:t>Derive a contradiction, i.e., conclude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 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for some statement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.</a:t>
            </a:r>
          </a:p>
          <a:p>
            <a:pPr lvl="1"/>
            <a:r>
              <a:rPr lang="en-US">
                <a:sym typeface="Symbol" pitchFamily="18" charset="2"/>
              </a:rPr>
              <a:t>Conclude that 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 </a:t>
            </a:r>
            <a:r>
              <a:rPr lang="en-US" i="1">
                <a:sym typeface="Symbol" pitchFamily="18" charset="2"/>
              </a:rPr>
              <a:t>q</a:t>
            </a:r>
            <a:r>
              <a:rPr lang="en-US">
                <a:sym typeface="Symbol" pitchFamily="18" charset="2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207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Benefit of Proof by Contradiction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statement </a:t>
            </a:r>
            <a:r>
              <a:rPr lang="en-US" i="1"/>
              <a:t>r</a:t>
            </a:r>
            <a:r>
              <a:rPr lang="en-US"/>
              <a:t> may be </a:t>
            </a:r>
            <a:r>
              <a:rPr lang="en-US" i="1"/>
              <a:t>any statement whatsoever</a:t>
            </a:r>
            <a:r>
              <a:rPr lang="en-US"/>
              <a:t> because any contradiction </a:t>
            </a:r>
          </a:p>
          <a:p>
            <a:pPr algn="ctr">
              <a:buFont typeface="Wingdings" pitchFamily="2" charset="2"/>
              <a:buNone/>
            </a:pP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 </a:t>
            </a:r>
            <a:r>
              <a:rPr lang="en-US" i="1">
                <a:sym typeface="Symbol" pitchFamily="18" charset="2"/>
              </a:rPr>
              <a:t>r</a:t>
            </a:r>
            <a:r>
              <a:rPr lang="en-US"/>
              <a:t> </a:t>
            </a:r>
          </a:p>
          <a:p>
            <a:pPr>
              <a:buFont typeface="Wingdings" pitchFamily="2" charset="2"/>
              <a:buNone/>
            </a:pPr>
            <a:r>
              <a:rPr lang="en-US"/>
              <a:t>	will suffice.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631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 Skeleton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Suppose, for the sake of contradiction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…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…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a contradiction! So we must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597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7DF8-AD0B-4C30-B4F2-0A6DD26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9DB09-FAF7-4D5A-B7CF-35C22AEDD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Claim: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 (i.e. not rational).</a:t>
                </a:r>
              </a:p>
              <a:p>
                <a:r>
                  <a:rPr lang="en-US" dirty="0"/>
                  <a:t>Proof: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99DB09-FAF7-4D5A-B7CF-35C22AEDD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4" t="-1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98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7DF8-AD0B-4C30-B4F2-0A6DD26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9DB09-FAF7-4D5A-B7CF-35C22AEDD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Claim: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 (i.e. not rational).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rational.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But [] is a contradiction!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9DB09-FAF7-4D5A-B7CF-35C22AEDD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752" b="-41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5F1CAF-1D3A-42B9-BE57-1ACDE58BE807}"/>
              </a:ext>
            </a:extLst>
          </p:cNvPr>
          <p:cNvSpPr/>
          <p:nvPr/>
        </p:nvSpPr>
        <p:spPr>
          <a:xfrm>
            <a:off x="476180" y="3811152"/>
            <a:ext cx="2459688" cy="1030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don’t have a fixed target.</a:t>
            </a:r>
          </a:p>
          <a:p>
            <a:pPr algn="ctr"/>
            <a:r>
              <a:rPr lang="en-US" dirty="0"/>
              <a:t>That can make this proof harder.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6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7DF8-AD0B-4C30-B4F2-0A6DD26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9DB09-FAF7-4D5A-B7CF-35C22AEDD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240" y="1463857"/>
                <a:ext cx="11187258" cy="497728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Claim: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 (i.e. not rational).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rational.</a:t>
                </a:r>
              </a:p>
              <a:p>
                <a:r>
                  <a:rPr lang="en-US" dirty="0"/>
                  <a:t>By definition of rational, there are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   By the fundamental theorem of arithmetic, we have divided out all common factors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and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have no more common prime factors. Therefore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That’s a contradiction! We conclude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99DB09-FAF7-4D5A-B7CF-35C22AEDD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30" y="1463857"/>
                <a:ext cx="8390444" cy="4977284"/>
              </a:xfrm>
              <a:blipFill>
                <a:blip r:embed="rId2"/>
                <a:stretch>
                  <a:fillRect l="-54" t="-1836" r="-599" b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6E1FF22-A53A-4ACA-A404-83B82C30724C}"/>
                  </a:ext>
                </a:extLst>
              </p:cNvPr>
              <p:cNvSpPr/>
              <p:nvPr/>
            </p:nvSpPr>
            <p:spPr>
              <a:xfrm>
                <a:off x="7794812" y="183776"/>
                <a:ext cx="4043082" cy="156434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even. 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6E1FF22-A53A-4ACA-A404-83B82C307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09" y="183776"/>
                <a:ext cx="3032312" cy="15643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680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7DF8-AD0B-4C30-B4F2-0A6DD26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9DB09-FAF7-4D5A-B7CF-35C22AEDD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240" y="1463856"/>
                <a:ext cx="11187258" cy="516554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Claim: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 (i.e. not rational).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rational.</a:t>
                </a:r>
              </a:p>
              <a:p>
                <a:r>
                  <a:rPr lang="en-US" dirty="0"/>
                  <a:t>By definition of rational, there are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By the fundamental theorem of arithmetic, we have divided out all common factors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and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have no more common prime factors. Therefore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That’s a contradiction! We conclude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99DB09-FAF7-4D5A-B7CF-35C22AEDD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30" y="1463857"/>
                <a:ext cx="8390444" cy="5165543"/>
              </a:xfrm>
              <a:blipFill>
                <a:blip r:embed="rId2"/>
                <a:stretch>
                  <a:fillRect l="-871" t="-1771" r="-1198" b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CA58775-9E61-43AC-95CE-93818AB16976}"/>
                  </a:ext>
                </a:extLst>
              </p:cNvPr>
              <p:cNvSpPr/>
              <p:nvPr/>
            </p:nvSpPr>
            <p:spPr>
              <a:xfrm>
                <a:off x="7794812" y="183776"/>
                <a:ext cx="4043082" cy="156434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even. 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CA58775-9E61-43AC-95CE-93818AB16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09" y="183776"/>
                <a:ext cx="3032312" cy="15643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630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7DF8-AD0B-4C30-B4F2-0A6DD26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9DB09-FAF7-4D5A-B7CF-35C22AEDD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240" y="1463856"/>
                <a:ext cx="11187258" cy="5316389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Claim: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 (i.e. not rational).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rational.</a:t>
                </a:r>
              </a:p>
              <a:p>
                <a:r>
                  <a:rPr lang="en-US" dirty="0"/>
                  <a:t>By definition of rational, there are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By the fundamental theorem of arithmetic, we have divided out all common factors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and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have no more common prime factors. Therefore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even. By the fact above,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even,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for some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Squaring both sides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b="0" dirty="0"/>
                  <a:t>Substituting into our original equation, we have: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even. Applying the fact above again,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even. </a:t>
                </a:r>
              </a:p>
              <a:p>
                <a:r>
                  <a:rPr lang="en-US" dirty="0"/>
                  <a:t>But if 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are even,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But we said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That’s a contradiction! We conclude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is irrational.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99DB09-FAF7-4D5A-B7CF-35C22AEDD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30" y="1463857"/>
                <a:ext cx="8390444" cy="5316389"/>
              </a:xfrm>
              <a:blipFill>
                <a:blip r:embed="rId2"/>
                <a:stretch>
                  <a:fillRect l="-871" t="-1720" r="-1198" b="-1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CA58775-9E61-43AC-95CE-93818AB16976}"/>
                  </a:ext>
                </a:extLst>
              </p:cNvPr>
              <p:cNvSpPr/>
              <p:nvPr/>
            </p:nvSpPr>
            <p:spPr>
              <a:xfrm>
                <a:off x="7794812" y="183776"/>
                <a:ext cx="4043082" cy="1564342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even. 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CA58775-9E61-43AC-95CE-93818AB16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09" y="183776"/>
                <a:ext cx="3032312" cy="15643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587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F8F4-5C2C-4326-8D8D-CADF5EAE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Proof By Contradiction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51B28-7CB2-47B0-87AB-B9733AEF8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in the world did we know how to do that?</a:t>
            </a:r>
          </a:p>
          <a:p>
            <a:endParaRPr lang="en-US" dirty="0"/>
          </a:p>
          <a:p>
            <a:r>
              <a:rPr lang="en-US" dirty="0"/>
              <a:t>In real life…lots of attempts that didn’t work. </a:t>
            </a:r>
          </a:p>
          <a:p>
            <a:r>
              <a:rPr lang="en-US" dirty="0"/>
              <a:t>Be very careful with proof by contradiction – without a clear target, you can easily end up in a loop of trying random things and getting nowhere.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936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0C96-3336-4D38-8676-EBE9835C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Another Proof By Contradiction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FB719-0738-4AE2-AABF-860213B59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Claim: There are infinitely many primes.</a:t>
            </a:r>
          </a:p>
          <a:p>
            <a:r>
              <a:rPr lang="en-US" dirty="0"/>
              <a:t>Proof: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66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0C96-3336-4D38-8676-EBE9835C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Another 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FB719-0738-4AE2-AABF-860213B59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Claim: There are infinitely many primes.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contradiction, that there are only finitely many primes. Call them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But [] is a contradiction! So there must be infinitely many primes.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FB719-0738-4AE2-AABF-860213B59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156" b="-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523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0C96-3336-4D38-8676-EBE9835C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Another 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FB719-0738-4AE2-AABF-860213B59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Claim: There are infinitely many primes.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contradiction, that there are only finitely many primes. Call them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Consider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⋅⋯⋅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prime</a:t>
                </a:r>
              </a:p>
              <a:p>
                <a:endParaRPr lang="en-US" dirty="0"/>
              </a:p>
              <a:p>
                <a:r>
                  <a:rPr lang="en-US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composite</a:t>
                </a:r>
              </a:p>
              <a:p>
                <a:endParaRPr lang="en-US" dirty="0"/>
              </a:p>
              <a:p>
                <a:r>
                  <a:rPr lang="en-US" dirty="0"/>
                  <a:t>But [] is a contradiction! So there must be infinitely many primes.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FB719-0738-4AE2-AABF-860213B59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830" b="-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062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0C96-3336-4D38-8676-EBE9835C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Another 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FB719-0738-4AE2-AABF-860213B59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Claim: There are infinitely many primes.</a:t>
                </a:r>
              </a:p>
              <a:p>
                <a:r>
                  <a:rPr lang="en-US" dirty="0"/>
                  <a:t>Proof:</a:t>
                </a:r>
              </a:p>
              <a:p>
                <a:r>
                  <a:rPr lang="en-US" dirty="0"/>
                  <a:t>Suppose for the sake of contradiction, that there are only finitely many primes. Call them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Consider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⋅⋯⋅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prime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But every prime was supposed to be on the list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 A contradiction!</a:t>
                </a:r>
              </a:p>
              <a:p>
                <a:r>
                  <a:rPr lang="en-US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composite</a:t>
                </a:r>
              </a:p>
              <a:p>
                <a:r>
                  <a:rPr lang="en-US" dirty="0"/>
                  <a:t>   Some prime on the list (say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divides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. That’s a contradiction!</a:t>
                </a:r>
              </a:p>
              <a:p>
                <a:r>
                  <a:rPr lang="en-US" dirty="0"/>
                  <a:t>In either case we have a contradiction! So there must be infinitely many primes.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FB719-0738-4AE2-AABF-860213B59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382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Just the Skeleton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“For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even.”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4" t="-2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1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Just the Skeleton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“For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even.”</a:t>
                </a:r>
              </a:p>
              <a:p>
                <a:endParaRPr lang="en-US" dirty="0"/>
              </a:p>
              <a:p>
                <a:r>
                  <a:rPr lang="en-US" dirty="0"/>
                  <a:t>Suppose for the sake of contradiction, there is an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odd.</a:t>
                </a:r>
              </a:p>
              <a:p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r>
                  <a:rPr lang="en-US" dirty="0"/>
                  <a:t>[] is a contradiction, so 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even,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even.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617" r="-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536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Just the Skeleton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“There is not an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such that 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4" t="-2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404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Just the Skeleton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“There is not an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such that 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Suppose, for the sake of contradiction, that there is an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such that 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r>
                  <a:rPr lang="en-US" dirty="0"/>
                  <a:t>[] is a contradiction! So there is not an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such that 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3504" r="-12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32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Contradiction vs. Contraposition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Would this be a proof by contradiction or proof by contraposition?</a:t>
            </a:r>
          </a:p>
          <a:p>
            <a:r>
              <a:rPr lang="en-US"/>
              <a:t>Proof by contraposition is preferred.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673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Contradiction vs. Contraposition?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/>
              <a:t>Theorem: Prove that if </a:t>
            </a:r>
            <a:r>
              <a:rPr lang="en-US" sz="2600" i="1"/>
              <a:t>x</a:t>
            </a:r>
            <a:r>
              <a:rPr lang="en-US" sz="2600"/>
              <a:t> is irrational, then  –</a:t>
            </a:r>
            <a:r>
              <a:rPr lang="en-US" sz="2600" i="1"/>
              <a:t>x</a:t>
            </a:r>
            <a:r>
              <a:rPr lang="en-US" sz="2600"/>
              <a:t> is also irrational.</a:t>
            </a:r>
          </a:p>
          <a:p>
            <a:r>
              <a:rPr lang="en-US" sz="2600"/>
              <a:t>Proof:</a:t>
            </a:r>
          </a:p>
          <a:p>
            <a:pPr lvl="1"/>
            <a:r>
              <a:rPr lang="en-US" sz="2400"/>
              <a:t>Suppose that </a:t>
            </a:r>
            <a:r>
              <a:rPr lang="en-US" sz="2400" i="1"/>
              <a:t>x</a:t>
            </a:r>
            <a:r>
              <a:rPr lang="en-US" sz="2400"/>
              <a:t> is irrational and that –</a:t>
            </a:r>
            <a:r>
              <a:rPr lang="en-US" sz="2400" i="1"/>
              <a:t>x</a:t>
            </a:r>
            <a:r>
              <a:rPr lang="en-US" sz="2400"/>
              <a:t> is rational.</a:t>
            </a:r>
          </a:p>
          <a:p>
            <a:pPr lvl="1"/>
            <a:r>
              <a:rPr lang="en-US" sz="2400"/>
              <a:t>Let –</a:t>
            </a:r>
            <a:r>
              <a:rPr lang="en-US" sz="2400" i="1"/>
              <a:t>x</a:t>
            </a:r>
            <a:r>
              <a:rPr lang="en-US" sz="2400"/>
              <a:t> = </a:t>
            </a:r>
            <a:r>
              <a:rPr lang="en-US" sz="2400" i="1"/>
              <a:t>a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, where </a:t>
            </a:r>
            <a:r>
              <a:rPr lang="en-US" sz="2400" i="1"/>
              <a:t>a</a:t>
            </a:r>
            <a:r>
              <a:rPr lang="en-US" sz="2400"/>
              <a:t> and </a:t>
            </a:r>
            <a:r>
              <a:rPr lang="en-US" sz="2400" i="1"/>
              <a:t>b</a:t>
            </a:r>
            <a:r>
              <a:rPr lang="en-US" sz="2400"/>
              <a:t> are integers.</a:t>
            </a:r>
          </a:p>
          <a:p>
            <a:pPr lvl="1"/>
            <a:r>
              <a:rPr lang="en-US" sz="2400"/>
              <a:t>Then </a:t>
            </a:r>
            <a:r>
              <a:rPr lang="en-US" sz="2400" i="1"/>
              <a:t>x</a:t>
            </a:r>
            <a:r>
              <a:rPr lang="en-US" sz="2400"/>
              <a:t> = –(</a:t>
            </a:r>
            <a:r>
              <a:rPr lang="en-US" sz="2400" i="1"/>
              <a:t>a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) = (–</a:t>
            </a:r>
            <a:r>
              <a:rPr lang="en-US" sz="2400" i="1"/>
              <a:t>a</a:t>
            </a:r>
            <a:r>
              <a:rPr lang="en-US" sz="2400"/>
              <a:t>)/</a:t>
            </a:r>
            <a:r>
              <a:rPr lang="en-US" sz="2400" i="1"/>
              <a:t>b</a:t>
            </a:r>
            <a:r>
              <a:rPr lang="en-US" sz="2400"/>
              <a:t>, which is rational.</a:t>
            </a:r>
          </a:p>
          <a:p>
            <a:pPr lvl="1"/>
            <a:r>
              <a:rPr lang="en-US" sz="2400"/>
              <a:t>This is a contradiction.</a:t>
            </a:r>
          </a:p>
          <a:p>
            <a:pPr lvl="1"/>
            <a:r>
              <a:rPr lang="en-US" sz="2400"/>
              <a:t>Therefore, if </a:t>
            </a:r>
            <a:r>
              <a:rPr lang="en-US" sz="2400" i="1"/>
              <a:t>x</a:t>
            </a:r>
            <a:r>
              <a:rPr lang="en-US" sz="2400"/>
              <a:t> is irrational, then –</a:t>
            </a:r>
            <a:r>
              <a:rPr lang="en-US" sz="2400" i="1"/>
              <a:t>x</a:t>
            </a:r>
            <a:r>
              <a:rPr lang="en-US" sz="2400"/>
              <a:t> is also irrational.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042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398B-366F-4F09-9999-A727922BC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What’s the difference?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F120-A3FC-4FC6-ABF5-DE47593E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30" y="1463858"/>
            <a:ext cx="8390444" cy="8602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What’s the difference between proof by contrapositive and proof by contradiction?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BF34316-6137-4A5C-8D20-A84606D464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5239" y="2510014"/>
              <a:ext cx="11273859" cy="155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57953">
                      <a:extLst>
                        <a:ext uri="{9D8B030D-6E8A-4147-A177-3AD203B41FA5}">
                          <a16:colId xmlns:a16="http://schemas.microsoft.com/office/drawing/2014/main" val="1408864853"/>
                        </a:ext>
                      </a:extLst>
                    </a:gridCol>
                    <a:gridCol w="3757953">
                      <a:extLst>
                        <a:ext uri="{9D8B030D-6E8A-4147-A177-3AD203B41FA5}">
                          <a16:colId xmlns:a16="http://schemas.microsoft.com/office/drawing/2014/main" val="3867810082"/>
                        </a:ext>
                      </a:extLst>
                    </a:gridCol>
                    <a:gridCol w="3757953">
                      <a:extLst>
                        <a:ext uri="{9D8B030D-6E8A-4147-A177-3AD203B41FA5}">
                          <a16:colId xmlns:a16="http://schemas.microsoft.com/office/drawing/2014/main" val="77124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Show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contradiction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contrapositive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8075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Starting 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≡(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64375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Target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Something 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7959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BF34316-6137-4A5C-8D20-A84606D464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1673953317"/>
                  </p:ext>
                </p:extLst>
              </p:nvPr>
            </p:nvGraphicFramePr>
            <p:xfrm>
              <a:off x="431430" y="2510014"/>
              <a:ext cx="8455395" cy="2407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1846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408864853"/>
                        </a:ext>
                      </a:extLst>
                    </a:gridCol>
                    <a:gridCol w="281846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867810082"/>
                        </a:ext>
                      </a:extLst>
                    </a:gridCol>
                    <a:gridCol w="281846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771249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>
                        <a:blipFill>
                          <a:blip r:embed="rId2"/>
                          <a:stretch>
                            <a:fillRect l="-162" t="-11765" r="-200486" b="-2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contradiction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contrapositive</a:t>
                          </a:r>
                        </a:p>
                      </a:txBody>
                      <a:tcPr marL="68580" marR="68580"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9478075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Starting Point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>
                        <a:blipFill>
                          <a:blip r:embed="rId2"/>
                          <a:stretch>
                            <a:fillRect l="-100325" t="-110465" r="-100812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>
                        <a:blipFill>
                          <a:blip r:embed="rId2"/>
                          <a:stretch>
                            <a:fillRect l="-200000" t="-110465" r="-648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6764375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Target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Something false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>
                        <a:blipFill>
                          <a:blip r:embed="rId2"/>
                          <a:stretch>
                            <a:fillRect l="-200000" t="-212941" r="-648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2707959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84194164-5B71-4DDC-B5C6-7E8DDDCDE46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5239" y="4466408"/>
              <a:ext cx="11273859" cy="155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57953">
                      <a:extLst>
                        <a:ext uri="{9D8B030D-6E8A-4147-A177-3AD203B41FA5}">
                          <a16:colId xmlns:a16="http://schemas.microsoft.com/office/drawing/2014/main" val="1408864853"/>
                        </a:ext>
                      </a:extLst>
                    </a:gridCol>
                    <a:gridCol w="3757953">
                      <a:extLst>
                        <a:ext uri="{9D8B030D-6E8A-4147-A177-3AD203B41FA5}">
                          <a16:colId xmlns:a16="http://schemas.microsoft.com/office/drawing/2014/main" val="3867810082"/>
                        </a:ext>
                      </a:extLst>
                    </a:gridCol>
                    <a:gridCol w="3757953">
                      <a:extLst>
                        <a:ext uri="{9D8B030D-6E8A-4147-A177-3AD203B41FA5}">
                          <a16:colId xmlns:a16="http://schemas.microsoft.com/office/drawing/2014/main" val="77124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Show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contradiction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contrapositive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8075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Starting 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         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64375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Target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Something 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baseline="0" dirty="0"/>
                            <a:t>                ---</a:t>
                          </a:r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7959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4194164-5B71-4DDC-B5C6-7E8DDDCDE4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368802130"/>
                  </p:ext>
                </p:extLst>
              </p:nvPr>
            </p:nvGraphicFramePr>
            <p:xfrm>
              <a:off x="431430" y="4466408"/>
              <a:ext cx="8455395" cy="2407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1846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408864853"/>
                        </a:ext>
                      </a:extLst>
                    </a:gridCol>
                    <a:gridCol w="281846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867810082"/>
                        </a:ext>
                      </a:extLst>
                    </a:gridCol>
                    <a:gridCol w="281846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771249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>
                        <a:blipFill>
                          <a:blip r:embed="rId3"/>
                          <a:stretch>
                            <a:fillRect l="-162" t="-11765" r="-200486" b="-2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contradiction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Proof by contrapositive</a:t>
                          </a:r>
                        </a:p>
                      </a:txBody>
                      <a:tcPr marL="68580" marR="68580"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9478075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Starting Point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>
                        <a:blipFill>
                          <a:blip r:embed="rId3"/>
                          <a:stretch>
                            <a:fillRect l="-100325" t="-110465" r="-100812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         ---</a:t>
                          </a:r>
                        </a:p>
                      </a:txBody>
                      <a:tcPr marL="68580" marR="68580"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6764375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Target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Something false</a:t>
                          </a: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baseline="0" dirty="0"/>
                            <a:t>                ---</a:t>
                          </a:r>
                          <a:endParaRPr lang="en-US" sz="2800" dirty="0"/>
                        </a:p>
                      </a:txBody>
                      <a:tcPr marL="68580" marR="68580"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2707959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404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Counterexamples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 disprove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  we simply need to find one number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/>
              <a:t> in the domain of discourse that makes  false.</a:t>
            </a:r>
          </a:p>
          <a:p>
            <a:r>
              <a:rPr lang="en-US" altLang="en-US"/>
              <a:t>Such a value of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/>
              <a:t> is called a </a:t>
            </a:r>
            <a:r>
              <a:rPr lang="en-US" altLang="en-US">
                <a:solidFill>
                  <a:srgbClr val="0066CC"/>
                </a:solidFill>
              </a:rPr>
              <a:t>counterexample</a:t>
            </a:r>
          </a:p>
        </p:txBody>
      </p:sp>
      <p:graphicFrame>
        <p:nvGraphicFramePr>
          <p:cNvPr id="16388" name="Object 2"/>
          <p:cNvGraphicFramePr>
            <a:graphicFrameLocks noChangeAspect="1"/>
          </p:cNvGraphicFramePr>
          <p:nvPr/>
        </p:nvGraphicFramePr>
        <p:xfrm>
          <a:off x="3775075" y="2395538"/>
          <a:ext cx="11938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253890" progId="">
                  <p:embed/>
                </p:oleObj>
              </mc:Choice>
              <mc:Fallback>
                <p:oleObj name="Equation" r:id="rId2" imgW="583947" imgH="253890" progId="">
                  <p:embed/>
                  <p:pic>
                    <p:nvPicPr>
                      <p:cNvPr id="1638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5" y="2395538"/>
                        <a:ext cx="1193800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7499350" y="3565525"/>
          <a:ext cx="7524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140" imgH="253890" progId="">
                  <p:embed/>
                </p:oleObj>
              </mc:Choice>
              <mc:Fallback>
                <p:oleObj name="Equation" r:id="rId4" imgW="368140" imgH="253890" progId="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9350" y="3565525"/>
                        <a:ext cx="752475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612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Example 3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/>
        </p:nvGraphicFramePr>
        <p:xfrm>
          <a:off x="885825" y="1874838"/>
          <a:ext cx="33178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500" imgH="228600" progId="">
                  <p:embed/>
                </p:oleObj>
              </mc:Choice>
              <mc:Fallback>
                <p:oleObj name="Equation" r:id="rId2" imgW="1460500" imgH="228600" progId="">
                  <p:embed/>
                  <p:pic>
                    <p:nvPicPr>
                      <p:cNvPr id="174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1874838"/>
                        <a:ext cx="3317875" cy="5175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88" y="2535238"/>
          <a:ext cx="7786688" cy="3686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3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6175">
                <a:tc>
                  <a:txBody>
                    <a:bodyPr/>
                    <a:lstStyle/>
                    <a:p>
                      <a:r>
                        <a:rPr lang="en-US" sz="1800" dirty="0"/>
                        <a:t>Analysis</a:t>
                      </a:r>
                    </a:p>
                  </a:txBody>
                  <a:tcPr marL="91442" marR="91442"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statement is false</a:t>
                      </a:r>
                    </a:p>
                  </a:txBody>
                  <a:tcPr marL="91442" marR="91442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803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>
                <a:solidFill>
                  <a:srgbClr val="FF0000"/>
                </a:solidFill>
              </a:rPr>
              <a:t>Example 4</a:t>
            </a:r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776288" y="1836738"/>
          <a:ext cx="49641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203200" progId="">
                  <p:embed/>
                </p:oleObj>
              </mc:Choice>
              <mc:Fallback>
                <p:oleObj name="Equation" r:id="rId2" imgW="2184400" imgH="203200" progId="">
                  <p:embed/>
                  <p:pic>
                    <p:nvPicPr>
                      <p:cNvPr id="184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1836738"/>
                        <a:ext cx="4964112" cy="4619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289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AB6AB5-61D6-EA90-F7CB-8F5AC9A4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90725"/>
            <a:ext cx="7772400" cy="1362075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Automata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4F03-FF1A-C977-DE6E-AA44B1BB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9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50FA13-DD26-4022-9543-FB6577B0D621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What is Automata Theory?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i="1" dirty="0"/>
              <a:t>Study of abstract computing devices, or “machines”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Automaton = an abstract computing device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u="sng" dirty="0">
                <a:solidFill>
                  <a:schemeClr val="bg2">
                    <a:lumMod val="50000"/>
                  </a:schemeClr>
                </a:solidFill>
              </a:rPr>
              <a:t>Note: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A “device” need not even be a physical hardware!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0070C0"/>
                </a:solidFill>
              </a:rPr>
              <a:t>A fundamental question in computer science: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070C0"/>
                </a:solidFill>
              </a:rPr>
              <a:t>Find out what different models of machines can do and cannot do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i="1" dirty="0"/>
              <a:t>theory of computation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Computability vs. Complexity</a:t>
            </a:r>
            <a:endParaRPr lang="en-US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F688DB-4E48-4AE6-82C7-D2599A3234E4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Alan Turing (1912-1954)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17713"/>
            <a:ext cx="5065713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Father of Modern Computer Science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English mathematician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Studied abstract machines called </a:t>
            </a:r>
            <a:r>
              <a:rPr lang="en-US" sz="2400" b="1" i="1" dirty="0">
                <a:solidFill>
                  <a:srgbClr val="FF0000"/>
                </a:solidFill>
              </a:rPr>
              <a:t>Turing machines</a:t>
            </a:r>
            <a:r>
              <a:rPr lang="en-US" sz="2400" i="1" dirty="0"/>
              <a:t> </a:t>
            </a:r>
            <a:r>
              <a:rPr lang="en-US" sz="2400" dirty="0"/>
              <a:t>even before computers existed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Heard of the Turing test?</a:t>
            </a: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2133600"/>
            <a:ext cx="2649538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4CDEE9-96C7-47B4-ADBA-85E4C4855C5C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Theory of Computation: A Historical Perspective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965325" y="2333625"/>
            <a:ext cx="101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1930s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328988" y="2286000"/>
            <a:ext cx="53260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Alan Turing studies </a:t>
            </a:r>
            <a:r>
              <a:rPr lang="en-US">
                <a:solidFill>
                  <a:srgbClr val="FF0000"/>
                </a:solidFill>
              </a:rPr>
              <a:t>Turing machines</a:t>
            </a:r>
          </a:p>
          <a:p>
            <a:pPr>
              <a:buFontTx/>
              <a:buChar char="•"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Decidability</a:t>
            </a:r>
          </a:p>
          <a:p>
            <a:pPr>
              <a:buFontTx/>
              <a:buChar char="•"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Halting problem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371600" y="3505200"/>
            <a:ext cx="179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1940-1950s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268663" y="3533775"/>
            <a:ext cx="51879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“</a:t>
            </a:r>
            <a:r>
              <a:rPr lang="en-US">
                <a:solidFill>
                  <a:srgbClr val="FF0000"/>
                </a:solidFill>
              </a:rPr>
              <a:t>Finite automata</a:t>
            </a:r>
            <a:r>
              <a:rPr lang="en-US"/>
              <a:t>” machines studied</a:t>
            </a:r>
          </a:p>
          <a:p>
            <a:pPr>
              <a:buFontTx/>
              <a:buChar char="•"/>
            </a:pPr>
            <a:r>
              <a:rPr lang="en-US"/>
              <a:t>  Noam Chomsky proposes the </a:t>
            </a:r>
            <a:br>
              <a:rPr lang="en-US"/>
            </a:br>
            <a:r>
              <a:rPr lang="en-US"/>
              <a:t>   “</a:t>
            </a:r>
            <a:r>
              <a:rPr lang="en-US">
                <a:solidFill>
                  <a:srgbClr val="FF0000"/>
                </a:solidFill>
              </a:rPr>
              <a:t>Chomsky Hierarchy</a:t>
            </a:r>
            <a:r>
              <a:rPr lang="en-US"/>
              <a:t>” for formal </a:t>
            </a:r>
            <a:br>
              <a:rPr lang="en-US"/>
            </a:br>
            <a:r>
              <a:rPr lang="en-US"/>
              <a:t>    languages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1887538" y="5168900"/>
            <a:ext cx="862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1969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3251200" y="5121275"/>
            <a:ext cx="547687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Cook introduces “intractable” problems</a:t>
            </a:r>
            <a:br>
              <a:rPr lang="en-US"/>
            </a:br>
            <a:r>
              <a:rPr lang="en-US"/>
              <a:t> or “</a:t>
            </a:r>
            <a:r>
              <a:rPr lang="en-US">
                <a:solidFill>
                  <a:srgbClr val="FF0000"/>
                </a:solidFill>
              </a:rPr>
              <a:t>NP-Hard</a:t>
            </a:r>
            <a:r>
              <a:rPr lang="en-US"/>
              <a:t>” problems</a:t>
            </a:r>
          </a:p>
        </p:txBody>
      </p:sp>
      <p:sp>
        <p:nvSpPr>
          <p:cNvPr id="16394" name="Text Box 11"/>
          <p:cNvSpPr txBox="1">
            <a:spLocks noChangeArrowheads="1"/>
          </p:cNvSpPr>
          <p:nvPr/>
        </p:nvSpPr>
        <p:spPr bwMode="auto">
          <a:xfrm>
            <a:off x="1905000" y="5867400"/>
            <a:ext cx="963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1970-</a:t>
            </a:r>
          </a:p>
        </p:txBody>
      </p:sp>
      <p:sp>
        <p:nvSpPr>
          <p:cNvPr id="16395" name="Text Box 12"/>
          <p:cNvSpPr txBox="1">
            <a:spLocks noChangeArrowheads="1"/>
          </p:cNvSpPr>
          <p:nvPr/>
        </p:nvSpPr>
        <p:spPr bwMode="auto">
          <a:xfrm>
            <a:off x="3268663" y="5819775"/>
            <a:ext cx="591343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Modern computer science: </a:t>
            </a:r>
            <a:r>
              <a:rPr lang="en-US">
                <a:solidFill>
                  <a:srgbClr val="FF0000"/>
                </a:solidFill>
              </a:rPr>
              <a:t>compilers</a:t>
            </a:r>
            <a:r>
              <a:rPr lang="en-US"/>
              <a:t>, 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computational &amp; complexity theory</a:t>
            </a:r>
            <a:r>
              <a:rPr lang="en-US"/>
              <a:t> evolve</a:t>
            </a:r>
          </a:p>
        </p:txBody>
      </p:sp>
      <p:sp>
        <p:nvSpPr>
          <p:cNvPr id="16396" name="Line 13"/>
          <p:cNvSpPr>
            <a:spLocks noChangeShapeType="1"/>
          </p:cNvSpPr>
          <p:nvPr/>
        </p:nvSpPr>
        <p:spPr bwMode="auto">
          <a:xfrm>
            <a:off x="1143000" y="34290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14"/>
          <p:cNvSpPr>
            <a:spLocks noChangeShapeType="1"/>
          </p:cNvSpPr>
          <p:nvPr/>
        </p:nvSpPr>
        <p:spPr bwMode="auto">
          <a:xfrm>
            <a:off x="1066800" y="50292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Line 15"/>
          <p:cNvSpPr>
            <a:spLocks noChangeShapeType="1"/>
          </p:cNvSpPr>
          <p:nvPr/>
        </p:nvSpPr>
        <p:spPr bwMode="auto">
          <a:xfrm>
            <a:off x="1066800" y="58674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Line 16"/>
          <p:cNvSpPr>
            <a:spLocks noChangeShapeType="1"/>
          </p:cNvSpPr>
          <p:nvPr/>
        </p:nvSpPr>
        <p:spPr bwMode="auto">
          <a:xfrm>
            <a:off x="3124200" y="22098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795F6D-478D-4DC4-BD78-EA57388555B7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Languages &amp; Grammars</a:t>
            </a:r>
          </a:p>
        </p:txBody>
      </p:sp>
      <p:pic>
        <p:nvPicPr>
          <p:cNvPr id="17412" name="Picture 4" descr="Lang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981200"/>
            <a:ext cx="3962400" cy="431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81000" y="2362200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Or “</a:t>
            </a:r>
            <a:r>
              <a:rPr lang="en-US" sz="1800" b="1">
                <a:solidFill>
                  <a:schemeClr val="hlink"/>
                </a:solidFill>
              </a:rPr>
              <a:t>words</a:t>
            </a:r>
            <a:r>
              <a:rPr lang="en-US" sz="1800"/>
              <a:t>”</a:t>
            </a: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838200" y="2667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954088" y="6384925"/>
            <a:ext cx="3008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Image source: Nowak et al. Nature, vol 417, 2002 </a:t>
            </a:r>
          </a:p>
        </p:txBody>
      </p:sp>
      <p:sp>
        <p:nvSpPr>
          <p:cNvPr id="17416" name="Rectangle 9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u="sng"/>
              <a:t>Languages</a:t>
            </a:r>
            <a:r>
              <a:rPr lang="en-US" sz="2000"/>
              <a:t>: “</a:t>
            </a:r>
            <a:r>
              <a:rPr lang="en-US" sz="2000" i="1"/>
              <a:t>A language is a collection of sentences of finite length all constructed from a finite alphabet of symbols</a:t>
            </a:r>
            <a:r>
              <a:rPr lang="en-US" sz="2000"/>
              <a:t>”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u="sng"/>
              <a:t>Grammars</a:t>
            </a:r>
            <a:r>
              <a:rPr lang="en-US" sz="2000"/>
              <a:t>: “</a:t>
            </a:r>
            <a:r>
              <a:rPr lang="en-US" sz="2000" i="1"/>
              <a:t>A grammar can be regarded as a device that enumerates the sentences of a language</a:t>
            </a:r>
            <a:r>
              <a:rPr lang="en-US" sz="2000"/>
              <a:t>” - nothing more, nothing less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 sz="2000" i="1"/>
              <a:t>N. Chomsky, Information and Control, Vol 2, 1959</a:t>
            </a:r>
            <a:endParaRPr lang="en-US" sz="20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A22659-22E8-4DB5-972E-1E7538198E5F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The Chomsky </a:t>
            </a:r>
            <a:r>
              <a:rPr lang="en-US" dirty="0" err="1">
                <a:solidFill>
                  <a:srgbClr val="FF0000"/>
                </a:solidFill>
              </a:rPr>
              <a:t>Hierachy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1219200" y="3124200"/>
            <a:ext cx="1143000" cy="1600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Regular</a:t>
            </a:r>
          </a:p>
          <a:p>
            <a:pPr algn="ctr"/>
            <a:r>
              <a:rPr lang="en-US" sz="1800"/>
              <a:t>(DFA)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762000" y="2895600"/>
            <a:ext cx="3276600" cy="2514600"/>
          </a:xfrm>
          <a:prstGeom prst="ellipse">
            <a:avLst/>
          </a:prstGeom>
          <a:solidFill>
            <a:schemeClr val="accent1">
              <a:alpha val="9019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Context-</a:t>
            </a:r>
            <a:br>
              <a:rPr lang="en-US"/>
            </a:br>
            <a:r>
              <a:rPr lang="en-US"/>
              <a:t>free</a:t>
            </a:r>
          </a:p>
          <a:p>
            <a:pPr algn="r"/>
            <a:r>
              <a:rPr lang="en-US"/>
              <a:t>(PDA)</a:t>
            </a:r>
          </a:p>
        </p:txBody>
      </p:sp>
      <p:sp>
        <p:nvSpPr>
          <p:cNvPr id="18438" name="Oval 7"/>
          <p:cNvSpPr>
            <a:spLocks noChangeArrowheads="1"/>
          </p:cNvSpPr>
          <p:nvPr/>
        </p:nvSpPr>
        <p:spPr bwMode="auto">
          <a:xfrm>
            <a:off x="381000" y="2667000"/>
            <a:ext cx="5943600" cy="3352800"/>
          </a:xfrm>
          <a:prstGeom prst="ellipse">
            <a:avLst/>
          </a:prstGeom>
          <a:solidFill>
            <a:schemeClr val="accent1">
              <a:alpha val="18039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Context-</a:t>
            </a:r>
            <a:br>
              <a:rPr lang="en-US"/>
            </a:br>
            <a:r>
              <a:rPr lang="en-US"/>
              <a:t>sensitive </a:t>
            </a:r>
            <a:br>
              <a:rPr lang="en-US"/>
            </a:br>
            <a:r>
              <a:rPr lang="en-US"/>
              <a:t>(LBA)</a:t>
            </a:r>
          </a:p>
        </p:txBody>
      </p:sp>
      <p:sp>
        <p:nvSpPr>
          <p:cNvPr id="18439" name="Oval 9"/>
          <p:cNvSpPr>
            <a:spLocks noChangeArrowheads="1"/>
          </p:cNvSpPr>
          <p:nvPr/>
        </p:nvSpPr>
        <p:spPr bwMode="auto">
          <a:xfrm>
            <a:off x="228600" y="2362200"/>
            <a:ext cx="8915400" cy="4267200"/>
          </a:xfrm>
          <a:prstGeom prst="ellipse">
            <a:avLst/>
          </a:prstGeom>
          <a:solidFill>
            <a:schemeClr val="accent1">
              <a:alpha val="2196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Recursively-</a:t>
            </a:r>
            <a:br>
              <a:rPr lang="en-US"/>
            </a:br>
            <a:r>
              <a:rPr lang="en-US"/>
              <a:t>enumerable </a:t>
            </a:r>
            <a:br>
              <a:rPr lang="en-US"/>
            </a:br>
            <a:r>
              <a:rPr lang="en-US"/>
              <a:t>(TM)</a:t>
            </a:r>
          </a:p>
        </p:txBody>
      </p:sp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1279525" y="1800225"/>
            <a:ext cx="786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 containment hierarchy of classes of formal languages</a:t>
            </a:r>
          </a:p>
        </p:txBody>
      </p:sp>
      <p:pic>
        <p:nvPicPr>
          <p:cNvPr id="1844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228600"/>
            <a:ext cx="130016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1EA0-C00C-EF59-89C8-6C6D18C1D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14600"/>
            <a:ext cx="7703820" cy="268605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Computational models are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mathematical abstractions used to understand, describe, and analyze the functioning of computational systems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provides a theoretical framework for studying algorithms, complexity, and the limits of computation.</a:t>
            </a:r>
          </a:p>
          <a:p>
            <a:pPr>
              <a:lnSpc>
                <a:spcPct val="90000"/>
              </a:lnSpc>
            </a:pPr>
            <a:endParaRPr lang="en-US" sz="2800" i="1" dirty="0"/>
          </a:p>
          <a:p>
            <a:pPr>
              <a:lnSpc>
                <a:spcPct val="90000"/>
              </a:lnSpc>
            </a:pPr>
            <a:endParaRPr lang="en-IN" sz="28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AAE69-7759-20A1-381F-45781A1ADA59}"/>
              </a:ext>
            </a:extLst>
          </p:cNvPr>
          <p:cNvSpPr txBox="1"/>
          <p:nvPr/>
        </p:nvSpPr>
        <p:spPr>
          <a:xfrm>
            <a:off x="762000" y="685800"/>
            <a:ext cx="6934200" cy="1446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COMPUTATIONAL MODELS</a:t>
            </a:r>
          </a:p>
        </p:txBody>
      </p:sp>
    </p:spTree>
    <p:extLst>
      <p:ext uri="{BB962C8B-B14F-4D97-AF65-F5344CB8AC3E}">
        <p14:creationId xmlns:p14="http://schemas.microsoft.com/office/powerpoint/2010/main" val="5130574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EDE4-9859-D56E-792E-DF384AE1E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91590"/>
            <a:ext cx="7741920" cy="396621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75" dirty="0"/>
              <a:t>A computational model specifies a mechanism for computation, describing how input data is processed and transformed into output through a set of rules or operations. These models are used to:</a:t>
            </a:r>
          </a:p>
          <a:p>
            <a:pPr marL="807244" indent="-286941" algn="just">
              <a:lnSpc>
                <a:spcPct val="150000"/>
              </a:lnSpc>
            </a:pPr>
            <a:r>
              <a:rPr lang="en-US" sz="1875" b="1" dirty="0"/>
              <a:t>Represent algorithms and their execution.</a:t>
            </a:r>
          </a:p>
          <a:p>
            <a:pPr marL="807244" indent="-286941" algn="just">
              <a:lnSpc>
                <a:spcPct val="150000"/>
              </a:lnSpc>
            </a:pPr>
            <a:r>
              <a:rPr lang="en-US" sz="1875" b="1" dirty="0"/>
              <a:t>Analyze computational problems and their solvability.</a:t>
            </a:r>
          </a:p>
          <a:p>
            <a:pPr marL="807244" indent="-286941" algn="just">
              <a:lnSpc>
                <a:spcPct val="150000"/>
              </a:lnSpc>
            </a:pPr>
            <a:r>
              <a:rPr lang="en-US" sz="1875" b="1" dirty="0"/>
              <a:t>Study computational complexity.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636F2-6159-C063-2DCB-F8EA4509FA99}"/>
              </a:ext>
            </a:extLst>
          </p:cNvPr>
          <p:cNvSpPr txBox="1"/>
          <p:nvPr/>
        </p:nvSpPr>
        <p:spPr>
          <a:xfrm>
            <a:off x="2362200" y="533400"/>
            <a:ext cx="4572000" cy="464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5619612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C6A82-FA4A-5BE9-5C62-477362ACE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50" y="2580858"/>
            <a:ext cx="7200900" cy="2686050"/>
          </a:xfrm>
        </p:spPr>
        <p:txBody>
          <a:bodyPr>
            <a:normAutofit/>
          </a:bodyPr>
          <a:lstStyle/>
          <a:p>
            <a:pPr marL="670322" indent="-286941">
              <a:lnSpc>
                <a:spcPct val="150000"/>
              </a:lnSpc>
            </a:pPr>
            <a:r>
              <a:rPr lang="en-IN" sz="2100" b="1" dirty="0"/>
              <a:t>Finite Automata</a:t>
            </a:r>
          </a:p>
          <a:p>
            <a:pPr marL="670322" indent="-286941">
              <a:lnSpc>
                <a:spcPct val="150000"/>
              </a:lnSpc>
            </a:pPr>
            <a:r>
              <a:rPr lang="en-IN" sz="2100" b="1" dirty="0"/>
              <a:t>Pushdown Automata</a:t>
            </a:r>
          </a:p>
          <a:p>
            <a:pPr marL="670322" indent="-286941">
              <a:lnSpc>
                <a:spcPct val="150000"/>
              </a:lnSpc>
            </a:pPr>
            <a:r>
              <a:rPr lang="en-IN" sz="2100" b="1" dirty="0"/>
              <a:t>Turing Machines</a:t>
            </a:r>
          </a:p>
          <a:p>
            <a:pPr marL="670322" indent="-286941">
              <a:lnSpc>
                <a:spcPct val="150000"/>
              </a:lnSpc>
            </a:pPr>
            <a:r>
              <a:rPr lang="en-IN" sz="2100" b="1" dirty="0"/>
              <a:t>Lambda Calculus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0E487-E730-417C-D5A6-28022A022B9E}"/>
              </a:ext>
            </a:extLst>
          </p:cNvPr>
          <p:cNvSpPr txBox="1"/>
          <p:nvPr/>
        </p:nvSpPr>
        <p:spPr>
          <a:xfrm>
            <a:off x="685800" y="457200"/>
            <a:ext cx="7642860" cy="2123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Classification of Computational Models</a:t>
            </a:r>
          </a:p>
        </p:txBody>
      </p:sp>
    </p:spTree>
    <p:extLst>
      <p:ext uri="{BB962C8B-B14F-4D97-AF65-F5344CB8AC3E}">
        <p14:creationId xmlns:p14="http://schemas.microsoft.com/office/powerpoint/2010/main" val="27898221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485A-BFD8-DDB1-E889-86DB8B1E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76350"/>
            <a:ext cx="7200900" cy="4411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b="1" dirty="0"/>
              <a:t>Register Machines:</a:t>
            </a:r>
            <a:endParaRPr lang="en-IN" sz="1800" dirty="0"/>
          </a:p>
          <a:p>
            <a:pPr marL="557213" lvl="1" indent="-21431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dirty="0"/>
              <a:t>Simulate CPU operations with simple instructions.</a:t>
            </a:r>
          </a:p>
          <a:p>
            <a:pPr marL="557213" lvl="1" indent="-21431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dirty="0"/>
              <a:t>Basis for assembly languages.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b="1" dirty="0"/>
              <a:t>Neural Networks:</a:t>
            </a:r>
            <a:endParaRPr lang="en-IN" sz="1800" dirty="0"/>
          </a:p>
          <a:p>
            <a:pPr marL="557213" lvl="1" indent="-21431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dirty="0"/>
              <a:t>Inspired by biological systems.</a:t>
            </a:r>
          </a:p>
          <a:p>
            <a:pPr marL="557213" lvl="1" indent="-21431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dirty="0"/>
              <a:t>Used in AI for image recognition, natural language processing.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b="1" dirty="0"/>
              <a:t>Quantum Computers:</a:t>
            </a:r>
            <a:endParaRPr lang="en-IN" sz="1800" dirty="0"/>
          </a:p>
          <a:p>
            <a:pPr marL="557213" lvl="1" indent="-21431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dirty="0"/>
              <a:t>Leverage quantum superposition and entanglement.</a:t>
            </a:r>
          </a:p>
          <a:p>
            <a:pPr marL="557213" lvl="1" indent="-21431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800" dirty="0"/>
              <a:t>Solve problems like factorization and search efficiently.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4F1CA-7919-6A7E-2DB8-9BF8D4B96CE4}"/>
              </a:ext>
            </a:extLst>
          </p:cNvPr>
          <p:cNvSpPr txBox="1"/>
          <p:nvPr/>
        </p:nvSpPr>
        <p:spPr>
          <a:xfrm>
            <a:off x="781050" y="0"/>
            <a:ext cx="7696200" cy="2123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Practical Computational Models</a:t>
            </a:r>
          </a:p>
        </p:txBody>
      </p:sp>
    </p:spTree>
    <p:extLst>
      <p:ext uri="{BB962C8B-B14F-4D97-AF65-F5344CB8AC3E}">
        <p14:creationId xmlns:p14="http://schemas.microsoft.com/office/powerpoint/2010/main" val="24087553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2AC9-E246-3DCB-8B28-2EE10A319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209800"/>
            <a:ext cx="7200900" cy="409956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800" b="1" dirty="0"/>
              <a:t>Compiler Design:</a:t>
            </a:r>
            <a:r>
              <a:rPr lang="en-IN" sz="1800" dirty="0"/>
              <a:t> Automata and grammars for parsing.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800" b="1" dirty="0"/>
              <a:t>Cryptography:</a:t>
            </a:r>
            <a:r>
              <a:rPr lang="en-IN" sz="1800" dirty="0"/>
              <a:t> Turing Machines for secure computations.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800" b="1" dirty="0"/>
              <a:t>AI and Machine Learning:</a:t>
            </a:r>
            <a:r>
              <a:rPr lang="en-IN" sz="1800" dirty="0"/>
              <a:t> Neural networks for decision-making.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800" b="1" dirty="0"/>
              <a:t>Algorithm Design:</a:t>
            </a:r>
            <a:r>
              <a:rPr lang="en-IN" sz="1800" dirty="0"/>
              <a:t> Frameworks for developing efficient algorithms.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867C6-3B0D-DD2C-30D9-DBCD3A91078D}"/>
              </a:ext>
            </a:extLst>
          </p:cNvPr>
          <p:cNvSpPr txBox="1"/>
          <p:nvPr/>
        </p:nvSpPr>
        <p:spPr>
          <a:xfrm>
            <a:off x="914400" y="152401"/>
            <a:ext cx="6858000" cy="1676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Real-World Applications of Computational Models</a:t>
            </a:r>
          </a:p>
        </p:txBody>
      </p:sp>
    </p:spTree>
    <p:extLst>
      <p:ext uri="{BB962C8B-B14F-4D97-AF65-F5344CB8AC3E}">
        <p14:creationId xmlns:p14="http://schemas.microsoft.com/office/powerpoint/2010/main" val="27622431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Different kinds of automata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This was only one example of a </a:t>
            </a:r>
            <a:r>
              <a:rPr lang="en-US" altLang="en-US" dirty="0">
                <a:solidFill>
                  <a:srgbClr val="6699FF"/>
                </a:solidFill>
                <a:ea typeface="ＭＳ Ｐゴシック" panose="020B0600070205080204" pitchFamily="34" charset="-128"/>
              </a:rPr>
              <a:t>computational device</a:t>
            </a:r>
            <a:r>
              <a:rPr lang="en-US" altLang="en-US" dirty="0">
                <a:ea typeface="ＭＳ Ｐゴシック" panose="020B0600070205080204" pitchFamily="34" charset="-128"/>
              </a:rPr>
              <a:t>, and there are others…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We will look at different devices, and look at these kinds of questions: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What kinds of </a:t>
            </a:r>
            <a:r>
              <a:rPr lang="en-US" altLang="en-US" dirty="0">
                <a:solidFill>
                  <a:srgbClr val="6699FF"/>
                </a:solidFill>
                <a:ea typeface="ＭＳ Ｐゴシック" panose="020B0600070205080204" pitchFamily="34" charset="-128"/>
              </a:rPr>
              <a:t>problems </a:t>
            </a:r>
            <a:r>
              <a:rPr lang="en-US" altLang="en-US" dirty="0">
                <a:ea typeface="ＭＳ Ｐゴシック" panose="020B0600070205080204" pitchFamily="34" charset="-128"/>
              </a:rPr>
              <a:t>can a given type of device </a:t>
            </a:r>
            <a:r>
              <a:rPr lang="en-US" altLang="en-US" dirty="0">
                <a:solidFill>
                  <a:srgbClr val="6699FF"/>
                </a:solidFill>
                <a:ea typeface="ＭＳ Ｐゴシック" panose="020B0600070205080204" pitchFamily="34" charset="-128"/>
              </a:rPr>
              <a:t>solve</a:t>
            </a:r>
            <a:r>
              <a:rPr lang="en-US" altLang="en-US" dirty="0">
                <a:ea typeface="ＭＳ Ｐゴシック" panose="020B0600070205080204" pitchFamily="34" charset="-128"/>
              </a:rPr>
              <a:t>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What things are </a:t>
            </a:r>
            <a:r>
              <a:rPr lang="en-US" altLang="en-US" dirty="0">
                <a:solidFill>
                  <a:srgbClr val="6699FF"/>
                </a:solidFill>
                <a:ea typeface="ＭＳ Ｐゴシック" panose="020B0600070205080204" pitchFamily="34" charset="-128"/>
              </a:rPr>
              <a:t>impossible</a:t>
            </a:r>
            <a:r>
              <a:rPr lang="en-US" altLang="en-US" dirty="0">
                <a:ea typeface="ＭＳ Ｐゴシック" panose="020B0600070205080204" pitchFamily="34" charset="-128"/>
              </a:rPr>
              <a:t> for this kind of device?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Is one type of device </a:t>
            </a:r>
            <a:r>
              <a:rPr lang="en-US" altLang="en-US" dirty="0">
                <a:solidFill>
                  <a:srgbClr val="6699FF"/>
                </a:solidFill>
                <a:ea typeface="ＭＳ Ｐゴシック" panose="020B0600070205080204" pitchFamily="34" charset="-128"/>
              </a:rPr>
              <a:t>more powerful </a:t>
            </a:r>
            <a:r>
              <a:rPr lang="en-US" altLang="en-US" dirty="0">
                <a:ea typeface="ＭＳ Ｐゴシック" panose="020B0600070205080204" pitchFamily="34" charset="-128"/>
              </a:rPr>
              <a:t>than another?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738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Some devices we will see</a:t>
            </a:r>
          </a:p>
        </p:txBody>
      </p:sp>
      <p:graphicFrame>
        <p:nvGraphicFramePr>
          <p:cNvPr id="94264" name="Group 5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561527"/>
              </p:ext>
            </p:extLst>
          </p:nvPr>
        </p:nvGraphicFramePr>
        <p:xfrm>
          <a:off x="395288" y="1196975"/>
          <a:ext cx="8353425" cy="4989450"/>
        </p:xfrm>
        <a:graphic>
          <a:graphicData uri="http://schemas.openxmlformats.org/drawingml/2006/table">
            <a:tbl>
              <a:tblPr/>
              <a:tblGrid>
                <a:gridCol w="2592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1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80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Finite automata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Devices with a finite amount of memory.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Used to model “small” computers.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30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Push-down automata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Devices with infinite memory that can be accessed in a restricted way.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Used to model parsers, etc.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50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Turing Machines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Devices with infinite memory.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Used to model any computer.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793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Time-bounded Turing Machines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Infinite memory, but bounded running time.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ＭＳ Ｐゴシック" panose="020B0600070205080204" pitchFamily="34" charset="-128"/>
                        </a:rPr>
                        <a:t>Used to model any computer program that runs in a “reasonable” amount of time.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3915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Some Utilities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353425" cy="185578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Turing Machines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This is a </a:t>
            </a:r>
            <a:r>
              <a:rPr lang="en-US" altLang="en-US">
                <a:solidFill>
                  <a:schemeClr val="accent2"/>
                </a:solidFill>
                <a:ea typeface="ＭＳ Ｐゴシック" panose="020B0600070205080204" pitchFamily="34" charset="-128"/>
              </a:rPr>
              <a:t>general model of a computer</a:t>
            </a:r>
            <a:r>
              <a:rPr lang="en-US" altLang="en-US">
                <a:ea typeface="ＭＳ Ｐゴシック" panose="020B0600070205080204" pitchFamily="34" charset="-128"/>
              </a:rPr>
              <a:t>, capturing anything we could ever hope to compute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But there are many things that </a:t>
            </a:r>
            <a:r>
              <a:rPr lang="en-US" altLang="en-US">
                <a:solidFill>
                  <a:schemeClr val="accent2"/>
                </a:solidFill>
                <a:ea typeface="ＭＳ Ｐゴシック" panose="020B0600070205080204" pitchFamily="34" charset="-128"/>
              </a:rPr>
              <a:t>computers cannot do</a:t>
            </a:r>
            <a:r>
              <a:rPr lang="en-US" altLang="en-US"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619250" y="3208338"/>
            <a:ext cx="6175375" cy="8302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>
                <a:latin typeface="Gill Sans MT" panose="020B0502020104020203" pitchFamily="34" charset="0"/>
              </a:rPr>
              <a:t>Given the code of a computer program, can you</a:t>
            </a:r>
          </a:p>
          <a:p>
            <a:r>
              <a:rPr lang="en-US" altLang="en-US" dirty="0">
                <a:latin typeface="Gill Sans MT" panose="020B0502020104020203" pitchFamily="34" charset="0"/>
              </a:rPr>
              <a:t>tell if it prints “</a:t>
            </a:r>
            <a:r>
              <a:rPr lang="en-US" altLang="en-US" dirty="0">
                <a:latin typeface="Courier New" panose="02070309020205020404" pitchFamily="49" charset="0"/>
              </a:rPr>
              <a:t>computer</a:t>
            </a:r>
            <a:r>
              <a:rPr lang="en-US" altLang="en-US" dirty="0">
                <a:latin typeface="Gill Sans MT" panose="020B0502020104020203" pitchFamily="34" charset="0"/>
              </a:rPr>
              <a:t>”?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14400" y="4114800"/>
            <a:ext cx="5029200" cy="272382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t,_,a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)char *a;{return!0&lt;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t?t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&lt;3?main(-79,-13,a+main(-87,1-_,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main(-86,0,a+1)+a)):1,t&lt;_?main(t+1,_,a):3,main(-94,-27+t,a)&amp;&amp;t==2?_&lt;13?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main(2,_+1,"%s %d %d\n"):9:16:t&lt;0?t&lt;-72?main(_,t,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"@n'+,#'/*{}w+/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w#cdnr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/+,{}r/*de}+,/*{*+,/w{%+,/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w#q#n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+,/#{l,+,/n{n+,/+#n+,/#\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;#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q#n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+,/+k#;*+,/'r :'d*'3,}{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w+K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w'K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:'+}e#';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#'l \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q#'+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d'K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#!/+k#;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q#'r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#}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w'r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]'/#;#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q#n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'){)#}w'){){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]'/+#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n';d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;# \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]!/n{n#'; r{#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w'r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]'/#{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l,+'K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{;[{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w#q#n'wk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 \</a:t>
            </a:r>
          </a:p>
          <a:p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iwk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{KK{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]!/w{%'l##w#'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 :{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]'/*{q#'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ld;r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'}{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nlwb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!/*de}'c \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;;{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'-{}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]'/+,}##'*}#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,',#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]'/+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kd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'+e}+;#'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rdq#w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! nr'/ ') }+}{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#'{n' ')# \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}'+}##(!!/")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:t&lt;-50?_==*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a?putchar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(31[a]):main(-65,_,a+1):main((*a=='/')+t,_,a+1)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:0&lt;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t?main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(2,2,"%s"):*a=='/'||main(0,main(-61,*a,</a:t>
            </a:r>
          </a:p>
          <a:p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"!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ek;dc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i@bK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'(q)-[w]*%n+r3#l,{}:\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nuwloca-O;m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US" alt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vpbks,fxntdCeghiry</a:t>
            </a:r>
            <a:r>
              <a:rPr lang="en-US" alt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"),a+1);}</a:t>
            </a:r>
          </a:p>
        </p:txBody>
      </p:sp>
      <p:sp>
        <p:nvSpPr>
          <p:cNvPr id="33798" name="Right Arrow 6"/>
          <p:cNvSpPr>
            <a:spLocks noChangeArrowheads="1"/>
          </p:cNvSpPr>
          <p:nvPr/>
        </p:nvSpPr>
        <p:spPr bwMode="auto">
          <a:xfrm>
            <a:off x="6096000" y="51816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7010400" y="5117068"/>
            <a:ext cx="1600200" cy="369332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>
                <a:latin typeface="Courier New" panose="02070309020205020404" pitchFamily="49" charset="0"/>
              </a:rPr>
              <a:t>computer</a:t>
            </a:r>
            <a:endParaRPr lang="en-US" altLang="en-US" sz="1800" dirty="0"/>
          </a:p>
        </p:txBody>
      </p:sp>
      <p:sp>
        <p:nvSpPr>
          <p:cNvPr id="33800" name="TextBox 8"/>
          <p:cNvSpPr txBox="1">
            <a:spLocks noChangeArrowheads="1"/>
          </p:cNvSpPr>
          <p:nvPr/>
        </p:nvSpPr>
        <p:spPr bwMode="auto">
          <a:xfrm>
            <a:off x="6237288" y="4733925"/>
            <a:ext cx="385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692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Some Utilities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Time-bounded Turing Machines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Many problems are possible to solve on a computer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in principle</a:t>
            </a:r>
            <a:r>
              <a:rPr lang="en-US" altLang="en-US" dirty="0">
                <a:ea typeface="ＭＳ Ｐゴシック" panose="020B0600070205080204" pitchFamily="34" charset="-128"/>
              </a:rPr>
              <a:t>, but take too much time in practice</a:t>
            </a:r>
          </a:p>
          <a:p>
            <a:pPr lvl="1"/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Traveling salesman</a:t>
            </a:r>
            <a:r>
              <a:rPr lang="en-US" altLang="en-US" dirty="0">
                <a:ea typeface="ＭＳ Ｐゴシック" panose="020B0600070205080204" pitchFamily="34" charset="-128"/>
              </a:rPr>
              <a:t>: Given a list of cities, find the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shortest way</a:t>
            </a:r>
            <a:r>
              <a:rPr lang="en-US" altLang="en-US" dirty="0">
                <a:ea typeface="ＭＳ Ｐゴシック" panose="020B0600070205080204" pitchFamily="34" charset="-128"/>
              </a:rPr>
              <a:t> to visit them and come back home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Easy in principle: Try the cities in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every possible order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Hard in practice: For 100 cities, this would take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100+ years</a:t>
            </a:r>
            <a:r>
              <a:rPr lang="en-US" altLang="en-US" dirty="0">
                <a:ea typeface="ＭＳ Ｐゴシック" panose="020B0600070205080204" pitchFamily="34" charset="-128"/>
              </a:rPr>
              <a:t> even on the fastest computer!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55021" y="3200400"/>
            <a:ext cx="3744912" cy="1635541"/>
            <a:chOff x="2255021" y="3200400"/>
            <a:chExt cx="3744912" cy="1635541"/>
          </a:xfrm>
        </p:grpSpPr>
        <p:sp>
          <p:nvSpPr>
            <p:cNvPr id="34820" name="Oval 4"/>
            <p:cNvSpPr>
              <a:spLocks noChangeArrowheads="1"/>
            </p:cNvSpPr>
            <p:nvPr/>
          </p:nvSpPr>
          <p:spPr bwMode="auto">
            <a:xfrm>
              <a:off x="4645025" y="4497387"/>
              <a:ext cx="71438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1" name="Oval 5"/>
            <p:cNvSpPr>
              <a:spLocks noChangeArrowheads="1"/>
            </p:cNvSpPr>
            <p:nvPr/>
          </p:nvSpPr>
          <p:spPr bwMode="auto">
            <a:xfrm>
              <a:off x="4716463" y="3416300"/>
              <a:ext cx="71437" cy="714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2" name="Oval 6"/>
            <p:cNvSpPr>
              <a:spLocks noChangeArrowheads="1"/>
            </p:cNvSpPr>
            <p:nvPr/>
          </p:nvSpPr>
          <p:spPr bwMode="auto">
            <a:xfrm>
              <a:off x="5148263" y="4137025"/>
              <a:ext cx="71437" cy="714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3" name="Oval 7"/>
            <p:cNvSpPr>
              <a:spLocks noChangeArrowheads="1"/>
            </p:cNvSpPr>
            <p:nvPr/>
          </p:nvSpPr>
          <p:spPr bwMode="auto">
            <a:xfrm>
              <a:off x="4068763" y="3992562"/>
              <a:ext cx="71437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4" name="Oval 8"/>
            <p:cNvSpPr>
              <a:spLocks noChangeArrowheads="1"/>
            </p:cNvSpPr>
            <p:nvPr/>
          </p:nvSpPr>
          <p:spPr bwMode="auto">
            <a:xfrm>
              <a:off x="4500563" y="4281487"/>
              <a:ext cx="71437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5" name="Text Box 9"/>
            <p:cNvSpPr txBox="1">
              <a:spLocks noChangeArrowheads="1"/>
            </p:cNvSpPr>
            <p:nvPr/>
          </p:nvSpPr>
          <p:spPr bwMode="auto">
            <a:xfrm>
              <a:off x="4723049" y="4497387"/>
              <a:ext cx="94609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Chennai</a:t>
              </a:r>
            </a:p>
          </p:txBody>
        </p:sp>
        <p:sp>
          <p:nvSpPr>
            <p:cNvPr id="34826" name="Text Box 10"/>
            <p:cNvSpPr txBox="1">
              <a:spLocks noChangeArrowheads="1"/>
            </p:cNvSpPr>
            <p:nvPr/>
          </p:nvSpPr>
          <p:spPr bwMode="auto">
            <a:xfrm>
              <a:off x="4716463" y="3200400"/>
              <a:ext cx="64953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Delhi</a:t>
              </a:r>
            </a:p>
          </p:txBody>
        </p:sp>
        <p:sp>
          <p:nvSpPr>
            <p:cNvPr id="34827" name="Text Box 11"/>
            <p:cNvSpPr txBox="1">
              <a:spLocks noChangeArrowheads="1"/>
            </p:cNvSpPr>
            <p:nvPr/>
          </p:nvSpPr>
          <p:spPr bwMode="auto">
            <a:xfrm>
              <a:off x="5132388" y="3903662"/>
              <a:ext cx="8675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Kolkata</a:t>
              </a:r>
            </a:p>
          </p:txBody>
        </p:sp>
        <p:sp>
          <p:nvSpPr>
            <p:cNvPr id="34828" name="Text Box 12"/>
            <p:cNvSpPr txBox="1">
              <a:spLocks noChangeArrowheads="1"/>
            </p:cNvSpPr>
            <p:nvPr/>
          </p:nvSpPr>
          <p:spPr bwMode="auto">
            <a:xfrm>
              <a:off x="3636963" y="3675062"/>
              <a:ext cx="8002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Jaypur</a:t>
              </a:r>
              <a:endParaRPr lang="en-US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9" name="Text Box 13"/>
            <p:cNvSpPr txBox="1">
              <a:spLocks noChangeArrowheads="1"/>
            </p:cNvSpPr>
            <p:nvPr/>
          </p:nvSpPr>
          <p:spPr bwMode="auto">
            <a:xfrm>
              <a:off x="3810000" y="4208462"/>
              <a:ext cx="82105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Bhopal</a:t>
              </a:r>
            </a:p>
          </p:txBody>
        </p:sp>
        <p:sp>
          <p:nvSpPr>
            <p:cNvPr id="34830" name="Line 14"/>
            <p:cNvSpPr>
              <a:spLocks noChangeShapeType="1"/>
            </p:cNvSpPr>
            <p:nvPr/>
          </p:nvSpPr>
          <p:spPr bwMode="auto">
            <a:xfrm flipV="1">
              <a:off x="4716463" y="4208462"/>
              <a:ext cx="43180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1" name="Line 15"/>
            <p:cNvSpPr>
              <a:spLocks noChangeShapeType="1"/>
            </p:cNvSpPr>
            <p:nvPr/>
          </p:nvSpPr>
          <p:spPr bwMode="auto">
            <a:xfrm flipH="1" flipV="1">
              <a:off x="4789488" y="3489325"/>
              <a:ext cx="35877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2" name="Line 16"/>
            <p:cNvSpPr>
              <a:spLocks noChangeShapeType="1"/>
            </p:cNvSpPr>
            <p:nvPr/>
          </p:nvSpPr>
          <p:spPr bwMode="auto">
            <a:xfrm flipH="1">
              <a:off x="4140200" y="3489325"/>
              <a:ext cx="576263" cy="503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 flipH="1">
              <a:off x="3565525" y="4065587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4" name="Oval 18"/>
            <p:cNvSpPr>
              <a:spLocks noChangeArrowheads="1"/>
            </p:cNvSpPr>
            <p:nvPr/>
          </p:nvSpPr>
          <p:spPr bwMode="auto">
            <a:xfrm>
              <a:off x="3492500" y="4065587"/>
              <a:ext cx="71438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>
              <a:off x="3565525" y="4137025"/>
              <a:ext cx="935038" cy="14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6" name="Line 20"/>
            <p:cNvSpPr>
              <a:spLocks noChangeShapeType="1"/>
            </p:cNvSpPr>
            <p:nvPr/>
          </p:nvSpPr>
          <p:spPr bwMode="auto">
            <a:xfrm>
              <a:off x="4573588" y="4352925"/>
              <a:ext cx="71437" cy="14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37" name="Text Box 21"/>
            <p:cNvSpPr txBox="1">
              <a:spLocks noChangeArrowheads="1"/>
            </p:cNvSpPr>
            <p:nvPr/>
          </p:nvSpPr>
          <p:spPr bwMode="auto">
            <a:xfrm>
              <a:off x="2255021" y="3976885"/>
              <a:ext cx="16311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Ahmedabad</a:t>
              </a:r>
            </a:p>
          </p:txBody>
        </p:sp>
      </p:grp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404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Preliminaries of automata theory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How do we formalize the question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First, we need a way of describing the problems that we are interested in solving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209800" y="2452687"/>
            <a:ext cx="4786313" cy="5191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>
                <a:latin typeface="Gill Sans MT" panose="020B0502020104020203" pitchFamily="34" charset="0"/>
              </a:rPr>
              <a:t>Can </a:t>
            </a:r>
            <a:r>
              <a:rPr lang="en-US" altLang="en-US" sz="2800">
                <a:solidFill>
                  <a:schemeClr val="accent2"/>
                </a:solidFill>
                <a:latin typeface="Gill Sans MT" panose="020B0502020104020203" pitchFamily="34" charset="0"/>
              </a:rPr>
              <a:t>device A</a:t>
            </a:r>
            <a:r>
              <a:rPr lang="en-US" altLang="en-US" sz="2800">
                <a:latin typeface="Gill Sans MT" panose="020B0502020104020203" pitchFamily="34" charset="0"/>
              </a:rPr>
              <a:t> solve </a:t>
            </a:r>
            <a:r>
              <a:rPr lang="en-US" altLang="en-US" sz="2800">
                <a:solidFill>
                  <a:schemeClr val="accent2"/>
                </a:solidFill>
                <a:latin typeface="Gill Sans MT" panose="020B0502020104020203" pitchFamily="34" charset="0"/>
              </a:rPr>
              <a:t>problem B</a:t>
            </a:r>
            <a:r>
              <a:rPr lang="en-US" altLang="en-US" sz="2800">
                <a:latin typeface="Gill Sans MT" panose="020B0502020104020203" pitchFamily="34" charset="0"/>
              </a:rPr>
              <a:t>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938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Problems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Examples of problems we will consider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Given a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word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a</a:t>
            </a:r>
            <a:r>
              <a:rPr lang="en-US" altLang="en-US" dirty="0">
                <a:ea typeface="ＭＳ Ｐゴシック" panose="020B0600070205080204" pitchFamily="34" charset="-128"/>
              </a:rPr>
              <a:t>, does it contain the </a:t>
            </a:r>
            <a:r>
              <a:rPr lang="en-US" altLang="en-US" dirty="0" err="1">
                <a:ea typeface="ＭＳ Ｐゴシック" panose="020B0600070205080204" pitchFamily="34" charset="-128"/>
              </a:rPr>
              <a:t>subword</a:t>
            </a:r>
            <a:r>
              <a:rPr lang="en-US" altLang="en-US" dirty="0">
                <a:ea typeface="ＭＳ Ｐゴシック" panose="020B0600070205080204" pitchFamily="34" charset="-128"/>
              </a:rPr>
              <a:t> “</a:t>
            </a:r>
            <a:r>
              <a:rPr lang="en-US" altLang="en-US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comp</a:t>
            </a:r>
            <a:r>
              <a:rPr lang="en-US" altLang="en-US" dirty="0">
                <a:ea typeface="ＭＳ Ｐゴシック" panose="020B0600070205080204" pitchFamily="34" charset="-128"/>
              </a:rPr>
              <a:t>”?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Given a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number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b</a:t>
            </a:r>
            <a:r>
              <a:rPr lang="en-US" altLang="en-US" dirty="0">
                <a:ea typeface="ＭＳ Ｐゴシック" panose="020B0600070205080204" pitchFamily="34" charset="-128"/>
              </a:rPr>
              <a:t>, is it divisible by 11?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Given a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pair of words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a</a:t>
            </a:r>
            <a:r>
              <a:rPr lang="en-US" altLang="en-US" dirty="0">
                <a:ea typeface="ＭＳ Ｐゴシック" panose="020B0600070205080204" pitchFamily="34" charset="-128"/>
              </a:rPr>
              <a:t> and </a:t>
            </a:r>
            <a:r>
              <a:rPr lang="en-US" altLang="en-US" i="1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b</a:t>
            </a:r>
            <a:r>
              <a:rPr lang="en-US" altLang="en-US" dirty="0">
                <a:ea typeface="ＭＳ Ｐゴシック" panose="020B0600070205080204" pitchFamily="34" charset="-128"/>
              </a:rPr>
              <a:t>, are they the same?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Given an expression with brackets, e.g.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(()())</a:t>
            </a:r>
            <a:r>
              <a:rPr lang="en-US" altLang="en-US" dirty="0">
                <a:ea typeface="ＭＳ Ｐゴシック" panose="020B0600070205080204" pitchFamily="34" charset="-128"/>
              </a:rPr>
              <a:t>, does every left bracket match with a subsequent right bracket?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All of these have “yes/no” answers. 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There are other types of problems, like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“Find this”</a:t>
            </a:r>
            <a:r>
              <a:rPr lang="en-US" altLang="en-US" dirty="0">
                <a:ea typeface="ＭＳ Ｐゴシック" panose="020B0600070205080204" pitchFamily="34" charset="-128"/>
              </a:rPr>
              <a:t> or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“How many of that”</a:t>
            </a:r>
            <a:r>
              <a:rPr lang="en-US" altLang="en-US" dirty="0">
                <a:ea typeface="ＭＳ Ｐゴシック" panose="020B0600070205080204" pitchFamily="34" charset="-128"/>
              </a:rPr>
              <a:t> but we won’t look at them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Let’s solve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343025"/>
            <a:ext cx="7391400" cy="5306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0550" y="609600"/>
            <a:ext cx="8096250" cy="560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7460" y="676275"/>
            <a:ext cx="7999340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Next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write a program that prints all numbers from 1 to 10 ?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Next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write a program that prints all numbers from 1 to 10 ?</a:t>
            </a:r>
          </a:p>
          <a:p>
            <a:r>
              <a:rPr lang="en-US" dirty="0"/>
              <a:t>Can we write a program that prints all numbers from 1 to ∞ ?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Next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write a program that prints all numbers from 1 to 10 ?</a:t>
            </a:r>
          </a:p>
          <a:p>
            <a:r>
              <a:rPr lang="en-US" dirty="0"/>
              <a:t>Can we write a program that prints all numbers from 1 to ∞ ?</a:t>
            </a:r>
          </a:p>
          <a:p>
            <a:r>
              <a:rPr lang="en-US" dirty="0"/>
              <a:t>Can we write a program that prints all numbers from 1 to 2 ?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Relevant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any problem which is beyond computation?</a:t>
            </a:r>
          </a:p>
          <a:p>
            <a:r>
              <a:rPr lang="en-US" dirty="0"/>
              <a:t>Can we prove our assumption and build our own theory with proof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Algorithm</a:t>
            </a:r>
          </a:p>
        </p:txBody>
      </p:sp>
      <p:sp>
        <p:nvSpPr>
          <p:cNvPr id="276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/>
            <a:r>
              <a:rPr lang="en-US" altLang="en-US">
                <a:ea typeface="Cordia New"/>
                <a:cs typeface="Cordia New"/>
              </a:rPr>
              <a:t>A finite sequence of simple instructions that is guaranteed to halt in a finite amount of time.</a:t>
            </a:r>
          </a:p>
          <a:p>
            <a:pPr eaLnBrk="1" hangingPunct="1">
              <a:buFontTx/>
              <a:buNone/>
            </a:pPr>
            <a:endParaRPr lang="en-US" altLang="en-US">
              <a:ea typeface="Cordia New"/>
              <a:cs typeface="Cordia New"/>
            </a:endParaRPr>
          </a:p>
          <a:p>
            <a:pPr lvl="1" eaLnBrk="1" hangingPunct="1">
              <a:buFontTx/>
              <a:buNone/>
            </a:pPr>
            <a:endParaRPr lang="en-US" altLang="en-US">
              <a:ea typeface="Cordia New"/>
              <a:cs typeface="Cordia New"/>
            </a:endParaRPr>
          </a:p>
          <a:p>
            <a:pPr lvl="2" eaLnBrk="1" hangingPunct="1">
              <a:buFontTx/>
              <a:buNone/>
            </a:pPr>
            <a:endParaRPr lang="en-US" altLang="en-US">
              <a:ea typeface="Cordia New"/>
              <a:cs typeface="Cordia New"/>
            </a:endParaRPr>
          </a:p>
          <a:p>
            <a:pPr lvl="1" eaLnBrk="1" hangingPunct="1">
              <a:buFontTx/>
              <a:buNone/>
            </a:pPr>
            <a:r>
              <a:rPr lang="en-US" altLang="en-US">
                <a:ea typeface="Cordia New"/>
                <a:cs typeface="Cordia New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Algorithm</a:t>
            </a: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>
                <a:ea typeface="Cordia New"/>
                <a:cs typeface="Cordia New"/>
              </a:rPr>
              <a:t>A finite sequence of simple instructions that is guaranteed to halt in a finite amount of time.</a:t>
            </a:r>
          </a:p>
          <a:p>
            <a:pPr eaLnBrk="1" hangingPunct="1"/>
            <a:r>
              <a:rPr lang="en-US" altLang="en-US">
                <a:ea typeface="Cordia New"/>
                <a:cs typeface="Cordia New"/>
              </a:rPr>
              <a:t>This is a very abstract definition, since:</a:t>
            </a:r>
          </a:p>
          <a:p>
            <a:pPr lvl="1" eaLnBrk="1" hangingPunct="1"/>
            <a:r>
              <a:rPr lang="en-US" altLang="en-US">
                <a:ea typeface="Cordia New"/>
                <a:cs typeface="Cordia New"/>
              </a:rPr>
              <a:t>We didn’t specify the nature of this simple instructions. </a:t>
            </a:r>
          </a:p>
          <a:p>
            <a:pPr lvl="2" eaLnBrk="1" hangingPunct="1"/>
            <a:r>
              <a:rPr lang="en-US" altLang="en-US">
                <a:ea typeface="Cordia New"/>
                <a:cs typeface="Cordia New"/>
              </a:rPr>
              <a:t>For example an instruction can be “increment a number by one” or “Calculate the triple integral”</a:t>
            </a:r>
          </a:p>
          <a:p>
            <a:pPr lvl="1" eaLnBrk="1" hangingPunct="1">
              <a:buFontTx/>
              <a:buNone/>
            </a:pPr>
            <a:endParaRPr lang="en-US" altLang="en-US">
              <a:ea typeface="Cordia New"/>
              <a:cs typeface="Cordia New"/>
            </a:endParaRPr>
          </a:p>
          <a:p>
            <a:pPr lvl="2" eaLnBrk="1" hangingPunct="1">
              <a:buFontTx/>
              <a:buNone/>
            </a:pPr>
            <a:endParaRPr lang="en-US" altLang="en-US">
              <a:ea typeface="Cordia New"/>
              <a:cs typeface="Cordia New"/>
            </a:endParaRPr>
          </a:p>
          <a:p>
            <a:pPr lvl="1" eaLnBrk="1" hangingPunct="1">
              <a:buFontTx/>
              <a:buNone/>
            </a:pPr>
            <a:r>
              <a:rPr lang="en-US" altLang="en-US">
                <a:ea typeface="Cordia New"/>
                <a:cs typeface="Cordia New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Algorithm</a:t>
            </a:r>
          </a:p>
        </p:txBody>
      </p:sp>
      <p:sp>
        <p:nvSpPr>
          <p:cNvPr id="317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>
                <a:ea typeface="Cordia New"/>
                <a:cs typeface="Cordia New"/>
              </a:rPr>
              <a:t>A finite sequence of simple instructions that is guaranteed to halt in a finite amount of time.</a:t>
            </a:r>
          </a:p>
          <a:p>
            <a:pPr eaLnBrk="1" hangingPunct="1"/>
            <a:r>
              <a:rPr lang="en-US" altLang="en-US">
                <a:ea typeface="Cordia New"/>
                <a:cs typeface="Cordia New"/>
              </a:rPr>
              <a:t>This is a very abstract definition, since:</a:t>
            </a:r>
          </a:p>
          <a:p>
            <a:pPr lvl="1" eaLnBrk="1" hangingPunct="1"/>
            <a:r>
              <a:rPr lang="en-US" altLang="en-US">
                <a:ea typeface="Cordia New"/>
                <a:cs typeface="Cordia New"/>
              </a:rPr>
              <a:t>We didn’t specify the nature of this simple instructions. </a:t>
            </a:r>
          </a:p>
          <a:p>
            <a:pPr lvl="2" eaLnBrk="1" hangingPunct="1"/>
            <a:r>
              <a:rPr lang="en-US" altLang="en-US">
                <a:ea typeface="Cordia New"/>
                <a:cs typeface="Cordia New"/>
              </a:rPr>
              <a:t>For example an instruction can be “increment a number by one” or “Calculate the triple integral”</a:t>
            </a:r>
          </a:p>
          <a:p>
            <a:pPr lvl="1" eaLnBrk="1" hangingPunct="1"/>
            <a:r>
              <a:rPr lang="en-US" altLang="en-US">
                <a:ea typeface="Cordia New"/>
                <a:cs typeface="Cordia New"/>
              </a:rPr>
              <a:t>We didn’t specify the entity which can execute these instructions.</a:t>
            </a:r>
          </a:p>
          <a:p>
            <a:pPr lvl="2" eaLnBrk="1" hangingPunct="1">
              <a:buFontTx/>
              <a:buNone/>
            </a:pPr>
            <a:endParaRPr lang="en-US" altLang="en-US">
              <a:ea typeface="Cordia New"/>
              <a:cs typeface="Cordia New"/>
            </a:endParaRPr>
          </a:p>
          <a:p>
            <a:pPr lvl="1" eaLnBrk="1" hangingPunct="1">
              <a:buFontTx/>
              <a:buNone/>
            </a:pPr>
            <a:r>
              <a:rPr lang="en-US" altLang="en-US">
                <a:ea typeface="Cordia New"/>
                <a:cs typeface="Cordia New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Algorithm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n-ea"/>
                <a:cs typeface="Cordia New" pitchFamily="34" charset="-34"/>
              </a:rPr>
              <a:t>A finite sequence of simple instructions that is guaranteed to halt in a finite amount of time.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n-ea"/>
                <a:cs typeface="Cordia New" pitchFamily="34" charset="-34"/>
              </a:rPr>
              <a:t>This is a very abstract definition, since: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rgbClr val="FF0000"/>
                </a:solidFill>
                <a:ea typeface="+mn-ea"/>
              </a:rPr>
              <a:t>We didn’t specify the nature of this simple instructions</a:t>
            </a:r>
            <a:r>
              <a:rPr lang="en-US" altLang="en-US" sz="2400" dirty="0">
                <a:solidFill>
                  <a:schemeClr val="accent6">
                    <a:lumMod val="50000"/>
                    <a:lumOff val="50000"/>
                  </a:schemeClr>
                </a:solidFill>
                <a:ea typeface="+mn-ea"/>
              </a:rPr>
              <a:t>.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For example an instruction can be “increment a number by one” or “Calculate the triple integral”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rgbClr val="FF0000"/>
                </a:solidFill>
                <a:ea typeface="+mn-ea"/>
              </a:rPr>
              <a:t>We didn’t specify the entity which can execute these instructions</a:t>
            </a:r>
            <a:r>
              <a:rPr lang="en-US" altLang="en-US" sz="2400" dirty="0">
                <a:solidFill>
                  <a:schemeClr val="accent6">
                    <a:lumMod val="50000"/>
                    <a:lumOff val="50000"/>
                  </a:schemeClr>
                </a:solidFill>
                <a:ea typeface="+mn-ea"/>
              </a:rPr>
              <a:t>.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For example is this entity a person, a computer, …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If it is a computer what is the processor type? How much memory does it have? …. ? 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en-US" dirty="0">
                <a:ea typeface="+mn-ea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53C2D1-54A4-4F7C-A2DE-BB6A7DB7186A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Central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Alphabets and strings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353425" cy="316865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 common way to talk about words, numbers, pairs of words, etc. is by representing them as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strings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define strings, we start with an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alphabet</a:t>
            </a:r>
          </a:p>
          <a:p>
            <a:pPr lvl="1"/>
            <a:endParaRPr lang="en-US" altLang="en-US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Examples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712913" y="2981325"/>
            <a:ext cx="5767387" cy="5191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800">
                <a:latin typeface="Gill Sans MT" panose="020B0502020104020203" pitchFamily="34" charset="0"/>
              </a:rPr>
              <a:t>An </a:t>
            </a:r>
            <a:r>
              <a:rPr lang="en-US" altLang="en-US" sz="2800">
                <a:solidFill>
                  <a:schemeClr val="accent2"/>
                </a:solidFill>
                <a:latin typeface="Gill Sans MT" panose="020B0502020104020203" pitchFamily="34" charset="0"/>
              </a:rPr>
              <a:t>alphabet</a:t>
            </a:r>
            <a:r>
              <a:rPr lang="en-US" altLang="en-US" sz="2800">
                <a:latin typeface="Gill Sans MT" panose="020B0502020104020203" pitchFamily="34" charset="0"/>
              </a:rPr>
              <a:t> is a finite set of symbols.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403350" y="4292600"/>
            <a:ext cx="6446838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1</a:t>
            </a:r>
            <a:r>
              <a:rPr lang="en-US" altLang="en-US">
                <a:latin typeface="Garamond" panose="02020404030301010803" pitchFamily="18" charset="0"/>
              </a:rPr>
              <a:t> = {a, b, c, d, …, z}</a:t>
            </a:r>
            <a:r>
              <a:rPr lang="en-US" altLang="en-US">
                <a:latin typeface="Gill Sans MT" panose="020B0502020104020203" pitchFamily="34" charset="0"/>
              </a:rPr>
              <a:t>: the set of letters in English</a:t>
            </a:r>
          </a:p>
          <a:p>
            <a:pPr>
              <a:spcBef>
                <a:spcPct val="20000"/>
              </a:spcBef>
            </a:pP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2</a:t>
            </a:r>
            <a:r>
              <a:rPr lang="en-US" altLang="en-US">
                <a:latin typeface="Garamond" panose="02020404030301010803" pitchFamily="18" charset="0"/>
              </a:rPr>
              <a:t> = {0, 1, …, 9}</a:t>
            </a:r>
            <a:r>
              <a:rPr lang="en-US" altLang="en-US">
                <a:latin typeface="Gill Sans MT" panose="020B0502020104020203" pitchFamily="34" charset="0"/>
              </a:rPr>
              <a:t>: the set of (base 10) digits</a:t>
            </a:r>
          </a:p>
          <a:p>
            <a:pPr>
              <a:spcBef>
                <a:spcPct val="20000"/>
              </a:spcBef>
            </a:pP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3</a:t>
            </a:r>
            <a:r>
              <a:rPr lang="en-US" altLang="en-US">
                <a:latin typeface="Gill Sans MT" panose="020B0502020104020203" pitchFamily="34" charset="0"/>
              </a:rPr>
              <a:t> </a:t>
            </a:r>
            <a:r>
              <a:rPr lang="en-US" altLang="en-US">
                <a:latin typeface="Garamond" panose="02020404030301010803" pitchFamily="18" charset="0"/>
              </a:rPr>
              <a:t>= {a, b, …, z, #}</a:t>
            </a:r>
            <a:r>
              <a:rPr lang="en-US" altLang="en-US">
                <a:latin typeface="Gill Sans MT" panose="020B0502020104020203" pitchFamily="34" charset="0"/>
              </a:rPr>
              <a:t>: the set of letters plus the </a:t>
            </a:r>
            <a:br>
              <a:rPr lang="en-US" altLang="en-US">
                <a:latin typeface="Gill Sans MT" panose="020B0502020104020203" pitchFamily="34" charset="0"/>
              </a:rPr>
            </a:br>
            <a:r>
              <a:rPr lang="en-US" altLang="en-US">
                <a:latin typeface="Gill Sans MT" panose="020B0502020104020203" pitchFamily="34" charset="0"/>
              </a:rPr>
              <a:t>			special symbol </a:t>
            </a:r>
            <a:r>
              <a:rPr lang="en-US" altLang="en-US">
                <a:latin typeface="Garamond" panose="02020404030301010803" pitchFamily="18" charset="0"/>
              </a:rPr>
              <a:t>#</a:t>
            </a:r>
          </a:p>
          <a:p>
            <a:pPr>
              <a:spcBef>
                <a:spcPct val="20000"/>
              </a:spcBef>
            </a:pP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4</a:t>
            </a:r>
            <a:r>
              <a:rPr lang="en-US" altLang="en-US">
                <a:latin typeface="Garamond" panose="02020404030301010803" pitchFamily="18" charset="0"/>
              </a:rPr>
              <a:t> = {</a:t>
            </a:r>
            <a:r>
              <a:rPr lang="en-US" altLang="en-US">
                <a:latin typeface="Courier New" panose="02070309020205020404" pitchFamily="49" charset="0"/>
              </a:rPr>
              <a:t>(</a:t>
            </a:r>
            <a:r>
              <a:rPr lang="en-US" altLang="en-US">
                <a:latin typeface="Garamond" panose="02020404030301010803" pitchFamily="18" charset="0"/>
              </a:rPr>
              <a:t>, </a:t>
            </a:r>
            <a:r>
              <a:rPr lang="en-US" altLang="en-US">
                <a:latin typeface="Courier New" panose="02070309020205020404" pitchFamily="49" charset="0"/>
              </a:rPr>
              <a:t>)</a:t>
            </a:r>
            <a:r>
              <a:rPr lang="en-US" altLang="en-US">
                <a:latin typeface="Garamond" panose="02020404030301010803" pitchFamily="18" charset="0"/>
              </a:rPr>
              <a:t>}</a:t>
            </a:r>
            <a:r>
              <a:rPr lang="en-US" altLang="en-US">
                <a:latin typeface="Gill Sans MT" panose="020B0502020104020203" pitchFamily="34" charset="0"/>
              </a:rPr>
              <a:t>: the set of open and closed brackets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5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Strings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438400"/>
            <a:ext cx="8458200" cy="26670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empty string</a:t>
            </a:r>
            <a:r>
              <a:rPr lang="en-US" altLang="en-US" dirty="0">
                <a:ea typeface="ＭＳ Ｐゴシック" panose="020B0600070205080204" pitchFamily="34" charset="-128"/>
              </a:rPr>
              <a:t> will be denoted by </a:t>
            </a:r>
            <a:r>
              <a:rPr lang="en-US" altLang="en-US" dirty="0">
                <a:latin typeface="Symbol" panose="05050102010706020507" pitchFamily="18" charset="2"/>
                <a:ea typeface="ＭＳ Ｐゴシック" panose="020B0600070205080204" pitchFamily="34" charset="-128"/>
              </a:rPr>
              <a:t>e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Length of a string </a:t>
            </a:r>
            <a:r>
              <a:rPr lang="en-US" sz="2800" i="1" dirty="0"/>
              <a:t>w,</a:t>
            </a:r>
            <a:r>
              <a:rPr lang="en-US" sz="2800" dirty="0"/>
              <a:t> denoted by “|</a:t>
            </a:r>
            <a:r>
              <a:rPr lang="en-US" sz="2800" i="1" dirty="0"/>
              <a:t>w</a:t>
            </a:r>
            <a:r>
              <a:rPr lang="en-US" sz="2800" dirty="0"/>
              <a:t>|”, is equal to the </a:t>
            </a:r>
            <a:r>
              <a:rPr lang="en-US" sz="2400" i="1" dirty="0"/>
              <a:t>number of (non-</a:t>
            </a:r>
            <a:r>
              <a:rPr lang="en-US" sz="2400" dirty="0">
                <a:sym typeface="Symbol" pitchFamily="28" charset="2"/>
              </a:rPr>
              <a:t> </a:t>
            </a:r>
            <a:r>
              <a:rPr lang="en-US" sz="2400" i="1" dirty="0"/>
              <a:t>) characters in the string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i="1" dirty="0"/>
              <a:t>E.g., x = 010100  			|x| = 6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i="1" dirty="0"/>
              <a:t>x = 01</a:t>
            </a:r>
            <a:r>
              <a:rPr lang="en-US" sz="2000" dirty="0">
                <a:sym typeface="Symbol" pitchFamily="28" charset="2"/>
              </a:rPr>
              <a:t>  </a:t>
            </a:r>
            <a:r>
              <a:rPr lang="en-US" sz="2000" i="1" dirty="0"/>
              <a:t>0</a:t>
            </a:r>
            <a:r>
              <a:rPr lang="en-US" sz="2000" dirty="0">
                <a:sym typeface="Symbol" pitchFamily="28" charset="2"/>
              </a:rPr>
              <a:t>  </a:t>
            </a:r>
            <a:r>
              <a:rPr lang="en-US" sz="2000" i="1" dirty="0"/>
              <a:t>1</a:t>
            </a:r>
            <a:r>
              <a:rPr lang="en-US" sz="2000" dirty="0">
                <a:sym typeface="Symbol" pitchFamily="28" charset="2"/>
              </a:rPr>
              <a:t>  </a:t>
            </a:r>
            <a:r>
              <a:rPr lang="en-US" sz="2000" i="1" dirty="0"/>
              <a:t>00</a:t>
            </a:r>
            <a:r>
              <a:rPr lang="en-US" sz="2000" dirty="0">
                <a:sym typeface="Symbol" pitchFamily="28" charset="2"/>
              </a:rPr>
              <a:t> 		</a:t>
            </a:r>
            <a:r>
              <a:rPr lang="en-US" sz="2000" i="1" dirty="0"/>
              <a:t>|x| = ?</a:t>
            </a:r>
          </a:p>
          <a:p>
            <a:pPr marL="342900" lvl="1" indent="-342900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endParaRPr lang="en-US" sz="2400" i="1" dirty="0"/>
          </a:p>
          <a:p>
            <a:pPr marL="342900" lvl="1" indent="-342900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lang="en-US" sz="2400" i="1" dirty="0" err="1"/>
              <a:t>xy</a:t>
            </a:r>
            <a:r>
              <a:rPr lang="en-US" sz="2400" i="1" dirty="0"/>
              <a:t> = </a:t>
            </a:r>
            <a:r>
              <a:rPr lang="en-US" sz="2400" i="1" dirty="0" err="1"/>
              <a:t>c</a:t>
            </a:r>
            <a:r>
              <a:rPr lang="en-US" sz="2400" dirty="0" err="1"/>
              <a:t>oncatentation</a:t>
            </a:r>
            <a:r>
              <a:rPr lang="en-US" sz="2400" dirty="0"/>
              <a:t> of two strings </a:t>
            </a:r>
            <a:r>
              <a:rPr lang="en-US" sz="2400" i="1" dirty="0"/>
              <a:t>x </a:t>
            </a:r>
            <a:r>
              <a:rPr lang="en-US" sz="2400" dirty="0"/>
              <a:t>and </a:t>
            </a:r>
            <a:r>
              <a:rPr lang="en-US" sz="2400" i="1" dirty="0"/>
              <a:t>y </a:t>
            </a:r>
            <a:endParaRPr lang="en-US" sz="2400" dirty="0"/>
          </a:p>
          <a:p>
            <a:endParaRPr lang="en-US" altLang="en-US" dirty="0">
              <a:latin typeface="Symbol" panose="05050102010706020507" pitchFamily="18" charset="2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Examples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187450" y="1341438"/>
            <a:ext cx="6761163" cy="9461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 dirty="0">
                <a:latin typeface="Gill Sans MT" panose="020B0502020104020203" pitchFamily="34" charset="0"/>
              </a:rPr>
              <a:t>A </a:t>
            </a:r>
            <a:r>
              <a:rPr lang="en-US" altLang="en-US" sz="2800" dirty="0">
                <a:solidFill>
                  <a:schemeClr val="accent2"/>
                </a:solidFill>
                <a:latin typeface="Gill Sans MT" panose="020B0502020104020203" pitchFamily="34" charset="0"/>
              </a:rPr>
              <a:t>string</a:t>
            </a:r>
            <a:r>
              <a:rPr lang="en-US" altLang="en-US" sz="2800" dirty="0">
                <a:latin typeface="Gill Sans MT" panose="020B0502020104020203" pitchFamily="34" charset="0"/>
              </a:rPr>
              <a:t> over alphabet </a:t>
            </a:r>
            <a:r>
              <a:rPr lang="en-US" altLang="en-US" sz="2800" dirty="0">
                <a:latin typeface="Symbol" panose="05050102010706020507" pitchFamily="18" charset="2"/>
              </a:rPr>
              <a:t>S</a:t>
            </a:r>
            <a:r>
              <a:rPr lang="en-US" altLang="en-US" sz="2800" dirty="0">
                <a:latin typeface="Gill Sans MT" panose="020B0502020104020203" pitchFamily="34" charset="0"/>
              </a:rPr>
              <a:t> is a finite sequence</a:t>
            </a:r>
            <a:br>
              <a:rPr lang="en-US" altLang="en-US" sz="2800" dirty="0">
                <a:latin typeface="Gill Sans MT" panose="020B0502020104020203" pitchFamily="34" charset="0"/>
              </a:rPr>
            </a:br>
            <a:r>
              <a:rPr lang="en-US" altLang="en-US" sz="2800" dirty="0">
                <a:latin typeface="Gill Sans MT" panose="020B0502020104020203" pitchFamily="34" charset="0"/>
              </a:rPr>
              <a:t>of symbols in </a:t>
            </a:r>
            <a:r>
              <a:rPr lang="en-US" altLang="en-US" sz="2800" dirty="0">
                <a:latin typeface="Symbol" panose="05050102010706020507" pitchFamily="18" charset="2"/>
              </a:rPr>
              <a:t>S</a:t>
            </a:r>
            <a:r>
              <a:rPr lang="en-US" altLang="en-US" sz="2800" dirty="0"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908175" y="5010150"/>
            <a:ext cx="5507038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dirty="0" err="1">
                <a:latin typeface="Garamond" panose="02020404030301010803" pitchFamily="18" charset="0"/>
              </a:rPr>
              <a:t>abfbz</a:t>
            </a:r>
            <a:r>
              <a:rPr lang="en-US" altLang="en-US" dirty="0">
                <a:latin typeface="Garamond" panose="02020404030301010803" pitchFamily="18" charset="0"/>
              </a:rPr>
              <a:t> </a:t>
            </a:r>
            <a:r>
              <a:rPr lang="en-US" altLang="en-US" dirty="0">
                <a:latin typeface="Gill Sans MT" panose="020B0502020104020203" pitchFamily="34" charset="0"/>
              </a:rPr>
              <a:t>is a string over </a:t>
            </a:r>
            <a:r>
              <a:rPr lang="en-US" altLang="en-US" dirty="0"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latin typeface="Garamond" panose="02020404030301010803" pitchFamily="18" charset="0"/>
              </a:rPr>
              <a:t>1</a:t>
            </a:r>
            <a:r>
              <a:rPr lang="en-US" altLang="en-US" dirty="0">
                <a:latin typeface="Garamond" panose="02020404030301010803" pitchFamily="18" charset="0"/>
              </a:rPr>
              <a:t> = {a, b, c, d, …, z}</a:t>
            </a:r>
            <a:endParaRPr lang="en-US" altLang="en-US" dirty="0">
              <a:latin typeface="Gill Sans MT" panose="020B0502020104020203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en-US" dirty="0">
                <a:latin typeface="Garamond" panose="02020404030301010803" pitchFamily="18" charset="0"/>
              </a:rPr>
              <a:t>9021 </a:t>
            </a:r>
            <a:r>
              <a:rPr lang="en-US" altLang="en-US" dirty="0">
                <a:latin typeface="Gill Sans MT" panose="020B0502020104020203" pitchFamily="34" charset="0"/>
              </a:rPr>
              <a:t>is a string over </a:t>
            </a:r>
            <a:r>
              <a:rPr lang="en-US" altLang="en-US" dirty="0"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latin typeface="Garamond" panose="02020404030301010803" pitchFamily="18" charset="0"/>
              </a:rPr>
              <a:t>2</a:t>
            </a:r>
            <a:r>
              <a:rPr lang="en-US" altLang="en-US" dirty="0">
                <a:latin typeface="Garamond" panose="02020404030301010803" pitchFamily="18" charset="0"/>
              </a:rPr>
              <a:t> = {0, 1, …, 9}</a:t>
            </a:r>
            <a:endParaRPr lang="en-US" altLang="en-US" dirty="0">
              <a:latin typeface="Gill Sans MT" panose="020B0502020104020203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en-US" dirty="0" err="1">
                <a:latin typeface="Garamond" panose="02020404030301010803" pitchFamily="18" charset="0"/>
              </a:rPr>
              <a:t>ab#bc</a:t>
            </a:r>
            <a:r>
              <a:rPr lang="en-US" altLang="en-US" dirty="0">
                <a:latin typeface="Garamond" panose="02020404030301010803" pitchFamily="18" charset="0"/>
              </a:rPr>
              <a:t> </a:t>
            </a:r>
            <a:r>
              <a:rPr lang="en-US" altLang="en-US" dirty="0">
                <a:latin typeface="Gill Sans MT" panose="020B0502020104020203" pitchFamily="34" charset="0"/>
              </a:rPr>
              <a:t>is a string over </a:t>
            </a:r>
            <a:r>
              <a:rPr lang="en-US" altLang="en-US" dirty="0"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latin typeface="Garamond" panose="02020404030301010803" pitchFamily="18" charset="0"/>
              </a:rPr>
              <a:t>3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latin typeface="Garamond" panose="02020404030301010803" pitchFamily="18" charset="0"/>
              </a:rPr>
              <a:t>= {a, b, …, z, #}</a:t>
            </a:r>
          </a:p>
          <a:p>
            <a:pPr>
              <a:spcBef>
                <a:spcPct val="20000"/>
              </a:spcBef>
            </a:pPr>
            <a:r>
              <a:rPr lang="en-US" altLang="en-US" dirty="0">
                <a:latin typeface="Garamond" panose="02020404030301010803" pitchFamily="18" charset="0"/>
              </a:rPr>
              <a:t>))()(() </a:t>
            </a:r>
            <a:r>
              <a:rPr lang="en-US" altLang="en-US" dirty="0">
                <a:latin typeface="Gill Sans MT" panose="020B0502020104020203" pitchFamily="34" charset="0"/>
              </a:rPr>
              <a:t>is a string over </a:t>
            </a:r>
            <a:r>
              <a:rPr lang="en-US" altLang="en-US" dirty="0"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latin typeface="Garamond" panose="02020404030301010803" pitchFamily="18" charset="0"/>
              </a:rPr>
              <a:t>4</a:t>
            </a:r>
            <a:r>
              <a:rPr lang="en-US" altLang="en-US" dirty="0">
                <a:latin typeface="Garamond" panose="02020404030301010803" pitchFamily="18" charset="0"/>
              </a:rPr>
              <a:t> = {</a:t>
            </a:r>
            <a:r>
              <a:rPr lang="en-US" altLang="en-US" dirty="0">
                <a:latin typeface="Courier New" panose="02070309020205020404" pitchFamily="49" charset="0"/>
              </a:rPr>
              <a:t>(</a:t>
            </a:r>
            <a:r>
              <a:rPr lang="en-US" altLang="en-US" dirty="0">
                <a:latin typeface="Garamond" panose="02020404030301010803" pitchFamily="18" charset="0"/>
              </a:rPr>
              <a:t>, 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r>
              <a:rPr lang="en-US" altLang="en-US" dirty="0">
                <a:latin typeface="Garamond" panose="02020404030301010803" pitchFamily="18" charset="0"/>
              </a:rPr>
              <a:t>}</a:t>
            </a:r>
            <a:endParaRPr lang="en-US" altLang="en-US" dirty="0">
              <a:latin typeface="Gill Sans MT" panose="020B0502020104020203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0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36B8F02-228C-4290-B7BB-604365F68F50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Powers of an alphabet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/>
              <a:t>Let ∑ be an alphabet.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∑</a:t>
            </a:r>
            <a:r>
              <a:rPr lang="en-US" sz="2400" i="1" baseline="30000"/>
              <a:t>k</a:t>
            </a:r>
            <a:r>
              <a:rPr lang="en-US" sz="2400"/>
              <a:t> = the set of all strings of length </a:t>
            </a:r>
            <a:r>
              <a:rPr lang="en-US" sz="2400" i="1"/>
              <a:t>k</a:t>
            </a:r>
            <a:r>
              <a:rPr lang="en-US" sz="240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∑* = ∑</a:t>
            </a:r>
            <a:r>
              <a:rPr lang="en-US" sz="2400" i="1" baseline="30000"/>
              <a:t>0</a:t>
            </a:r>
            <a:r>
              <a:rPr lang="en-US" sz="2400"/>
              <a:t> U ∑</a:t>
            </a:r>
            <a:r>
              <a:rPr lang="en-US" sz="2400" i="1" baseline="30000"/>
              <a:t>1</a:t>
            </a:r>
            <a:r>
              <a:rPr lang="en-US" sz="2400"/>
              <a:t> U ∑</a:t>
            </a:r>
            <a:r>
              <a:rPr lang="en-US" sz="2400" i="1" baseline="30000"/>
              <a:t>2</a:t>
            </a:r>
            <a:r>
              <a:rPr lang="en-US" sz="2400"/>
              <a:t> U …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∑</a:t>
            </a:r>
            <a:r>
              <a:rPr lang="en-US" sz="2400" baseline="30000"/>
              <a:t>+</a:t>
            </a:r>
            <a:r>
              <a:rPr lang="en-US" sz="2400"/>
              <a:t> = ∑</a:t>
            </a:r>
            <a:r>
              <a:rPr lang="en-US" sz="2400" i="1" baseline="30000"/>
              <a:t>1</a:t>
            </a:r>
            <a:r>
              <a:rPr lang="en-US" sz="2400"/>
              <a:t> U ∑</a:t>
            </a:r>
            <a:r>
              <a:rPr lang="en-US" sz="2400" i="1" baseline="30000"/>
              <a:t>2</a:t>
            </a:r>
            <a:r>
              <a:rPr lang="en-US" sz="2400"/>
              <a:t> U ∑</a:t>
            </a:r>
            <a:r>
              <a:rPr lang="en-US" sz="2400" i="1" baseline="30000"/>
              <a:t>3</a:t>
            </a:r>
            <a:r>
              <a:rPr lang="en-US" sz="2400"/>
              <a:t> U …</a:t>
            </a:r>
          </a:p>
          <a:p>
            <a:pPr lvl="1" eaLnBrk="1" hangingPunct="1">
              <a:lnSpc>
                <a:spcPct val="90000"/>
              </a:lnSpc>
            </a:pPr>
            <a:endParaRPr lang="en-US" sz="24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Languages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133600"/>
            <a:ext cx="8353425" cy="1008063"/>
          </a:xfrm>
        </p:spPr>
        <p:txBody>
          <a:bodyPr>
            <a:normAutofit lnSpcReduction="10000"/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Languages can be used to describe problems with “yes/no” answers, for example: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062038" y="1347788"/>
            <a:ext cx="7181850" cy="5191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 dirty="0">
                <a:latin typeface="Gill Sans MT" panose="020B0502020104020203" pitchFamily="34" charset="0"/>
              </a:rPr>
              <a:t>A </a:t>
            </a:r>
            <a:r>
              <a:rPr lang="en-US" altLang="en-US" sz="2800" dirty="0">
                <a:solidFill>
                  <a:schemeClr val="accent2"/>
                </a:solidFill>
                <a:latin typeface="Gill Sans MT" panose="020B0502020104020203" pitchFamily="34" charset="0"/>
              </a:rPr>
              <a:t>language </a:t>
            </a:r>
            <a:r>
              <a:rPr lang="en-US" altLang="en-US" sz="2800" dirty="0">
                <a:latin typeface="Gill Sans MT" panose="020B0502020104020203" pitchFamily="34" charset="0"/>
              </a:rPr>
              <a:t>is a set of strings over an alphabet.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100138" y="3221038"/>
            <a:ext cx="7575550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i="1">
                <a:latin typeface="Garamond" panose="02020404030301010803" pitchFamily="18" charset="0"/>
              </a:rPr>
              <a:t>L</a:t>
            </a:r>
            <a:r>
              <a:rPr lang="en-US" altLang="en-US" baseline="-25000">
                <a:latin typeface="Garamond" panose="02020404030301010803" pitchFamily="18" charset="0"/>
              </a:rPr>
              <a:t>1</a:t>
            </a:r>
            <a:r>
              <a:rPr lang="en-US" altLang="en-US">
                <a:latin typeface="Garamond" panose="02020404030301010803" pitchFamily="18" charset="0"/>
              </a:rPr>
              <a:t> = 	</a:t>
            </a:r>
            <a:r>
              <a:rPr lang="en-US" altLang="en-US">
                <a:latin typeface="Gill Sans MT" panose="020B0502020104020203" pitchFamily="34" charset="0"/>
              </a:rPr>
              <a:t>The set of all strings over 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1</a:t>
            </a:r>
            <a:r>
              <a:rPr lang="en-US" altLang="en-US">
                <a:latin typeface="Gill Sans MT" panose="020B0502020104020203" pitchFamily="34" charset="0"/>
              </a:rPr>
              <a:t> that contain</a:t>
            </a:r>
            <a:br>
              <a:rPr lang="en-US" altLang="en-US">
                <a:latin typeface="Gill Sans MT" panose="020B0502020104020203" pitchFamily="34" charset="0"/>
              </a:rPr>
            </a:br>
            <a:r>
              <a:rPr lang="en-US" altLang="en-US">
                <a:latin typeface="Gill Sans MT" panose="020B0502020104020203" pitchFamily="34" charset="0"/>
              </a:rPr>
              <a:t>	the substring </a:t>
            </a:r>
            <a:r>
              <a:rPr lang="en-US" altLang="en-US">
                <a:latin typeface="Garamond" panose="02020404030301010803" pitchFamily="18" charset="0"/>
              </a:rPr>
              <a:t>“fool”</a:t>
            </a:r>
          </a:p>
          <a:p>
            <a:pPr>
              <a:spcBef>
                <a:spcPct val="20000"/>
              </a:spcBef>
            </a:pPr>
            <a:r>
              <a:rPr lang="en-US" altLang="en-US" i="1">
                <a:latin typeface="Garamond" panose="02020404030301010803" pitchFamily="18" charset="0"/>
              </a:rPr>
              <a:t>L</a:t>
            </a:r>
            <a:r>
              <a:rPr lang="en-US" altLang="en-US" baseline="-25000">
                <a:latin typeface="Garamond" panose="02020404030301010803" pitchFamily="18" charset="0"/>
              </a:rPr>
              <a:t>2</a:t>
            </a:r>
            <a:r>
              <a:rPr lang="en-US" altLang="en-US">
                <a:latin typeface="Garamond" panose="02020404030301010803" pitchFamily="18" charset="0"/>
              </a:rPr>
              <a:t> = 	</a:t>
            </a:r>
            <a:r>
              <a:rPr lang="en-US" altLang="en-US">
                <a:latin typeface="Gill Sans MT" panose="020B0502020104020203" pitchFamily="34" charset="0"/>
              </a:rPr>
              <a:t>The set of all strings over 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2</a:t>
            </a:r>
            <a:r>
              <a:rPr lang="en-US" altLang="en-US">
                <a:latin typeface="Gill Sans MT" panose="020B0502020104020203" pitchFamily="34" charset="0"/>
              </a:rPr>
              <a:t> that are divisible by 7</a:t>
            </a:r>
            <a:br>
              <a:rPr lang="en-US" altLang="en-US">
                <a:latin typeface="Gill Sans MT" panose="020B0502020104020203" pitchFamily="34" charset="0"/>
              </a:rPr>
            </a:br>
            <a:r>
              <a:rPr lang="en-US" altLang="en-US">
                <a:latin typeface="Gill Sans MT" panose="020B0502020104020203" pitchFamily="34" charset="0"/>
              </a:rPr>
              <a:t>    </a:t>
            </a:r>
            <a:r>
              <a:rPr lang="en-US" altLang="en-US">
                <a:latin typeface="Garamond" panose="02020404030301010803" pitchFamily="18" charset="0"/>
              </a:rPr>
              <a:t> =	{7, 14, 21, …}</a:t>
            </a:r>
          </a:p>
          <a:p>
            <a:pPr>
              <a:spcBef>
                <a:spcPct val="20000"/>
              </a:spcBef>
            </a:pPr>
            <a:r>
              <a:rPr lang="en-US" altLang="en-US" i="1">
                <a:latin typeface="Garamond" panose="02020404030301010803" pitchFamily="18" charset="0"/>
              </a:rPr>
              <a:t>L</a:t>
            </a:r>
            <a:r>
              <a:rPr lang="en-US" altLang="en-US" baseline="-25000">
                <a:latin typeface="Garamond" panose="02020404030301010803" pitchFamily="18" charset="0"/>
              </a:rPr>
              <a:t>3</a:t>
            </a:r>
            <a:r>
              <a:rPr lang="en-US" altLang="en-US">
                <a:latin typeface="Garamond" panose="02020404030301010803" pitchFamily="18" charset="0"/>
              </a:rPr>
              <a:t> = 	</a:t>
            </a:r>
            <a:r>
              <a:rPr lang="en-US" altLang="en-US">
                <a:latin typeface="Gill Sans MT" panose="020B0502020104020203" pitchFamily="34" charset="0"/>
              </a:rPr>
              <a:t>The set of all strings of the form </a:t>
            </a:r>
            <a:r>
              <a:rPr lang="en-US" altLang="en-US">
                <a:latin typeface="Garamond" panose="02020404030301010803" pitchFamily="18" charset="0"/>
              </a:rPr>
              <a:t>s#s</a:t>
            </a:r>
            <a:r>
              <a:rPr lang="en-US" altLang="en-US">
                <a:latin typeface="Gill Sans MT" panose="020B0502020104020203" pitchFamily="34" charset="0"/>
              </a:rPr>
              <a:t> where s is any</a:t>
            </a:r>
            <a:br>
              <a:rPr lang="en-US" altLang="en-US">
                <a:latin typeface="Gill Sans MT" panose="020B0502020104020203" pitchFamily="34" charset="0"/>
              </a:rPr>
            </a:br>
            <a:r>
              <a:rPr lang="en-US" altLang="en-US">
                <a:latin typeface="Gill Sans MT" panose="020B0502020104020203" pitchFamily="34" charset="0"/>
              </a:rPr>
              <a:t>	string over </a:t>
            </a:r>
            <a:r>
              <a:rPr lang="en-US" altLang="en-US">
                <a:latin typeface="Garamond" panose="02020404030301010803" pitchFamily="18" charset="0"/>
              </a:rPr>
              <a:t>{a, b, …, z}</a:t>
            </a:r>
          </a:p>
          <a:p>
            <a:pPr>
              <a:spcBef>
                <a:spcPct val="20000"/>
              </a:spcBef>
            </a:pPr>
            <a:r>
              <a:rPr lang="en-US" altLang="en-US" i="1">
                <a:latin typeface="Garamond" panose="02020404030301010803" pitchFamily="18" charset="0"/>
              </a:rPr>
              <a:t>L</a:t>
            </a:r>
            <a:r>
              <a:rPr lang="en-US" altLang="en-US" baseline="-25000">
                <a:latin typeface="Garamond" panose="02020404030301010803" pitchFamily="18" charset="0"/>
              </a:rPr>
              <a:t>4</a:t>
            </a:r>
            <a:r>
              <a:rPr lang="en-US" altLang="en-US">
                <a:latin typeface="Garamond" panose="02020404030301010803" pitchFamily="18" charset="0"/>
              </a:rPr>
              <a:t> = 	</a:t>
            </a:r>
            <a:r>
              <a:rPr lang="en-US" altLang="en-US">
                <a:latin typeface="Gill Sans MT" panose="020B0502020104020203" pitchFamily="34" charset="0"/>
              </a:rPr>
              <a:t>The set of all strings over 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baseline="-25000">
                <a:latin typeface="Garamond" panose="02020404030301010803" pitchFamily="18" charset="0"/>
              </a:rPr>
              <a:t>4 </a:t>
            </a:r>
            <a:r>
              <a:rPr lang="en-US" altLang="en-US">
                <a:latin typeface="Gill Sans MT" panose="020B0502020104020203" pitchFamily="34" charset="0"/>
              </a:rPr>
              <a:t>where every </a:t>
            </a:r>
            <a:r>
              <a:rPr lang="en-US" altLang="en-US">
                <a:latin typeface="Courier New" panose="02070309020205020404" pitchFamily="49" charset="0"/>
              </a:rPr>
              <a:t>(</a:t>
            </a:r>
            <a:r>
              <a:rPr lang="en-US" altLang="en-US">
                <a:latin typeface="Gill Sans MT" panose="020B0502020104020203" pitchFamily="34" charset="0"/>
              </a:rPr>
              <a:t> can be</a:t>
            </a:r>
            <a:br>
              <a:rPr lang="en-US" altLang="en-US">
                <a:latin typeface="Gill Sans MT" panose="020B0502020104020203" pitchFamily="34" charset="0"/>
              </a:rPr>
            </a:br>
            <a:r>
              <a:rPr lang="en-US" altLang="en-US">
                <a:latin typeface="Gill Sans MT" panose="020B0502020104020203" pitchFamily="34" charset="0"/>
              </a:rPr>
              <a:t>	matched with a subsequent </a:t>
            </a:r>
            <a:r>
              <a:rPr lang="en-US" altLang="en-US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1469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F14E12-5682-48F9-A911-06E1559961EF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Languages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i="1" dirty="0">
                <a:solidFill>
                  <a:srgbClr val="FF0000"/>
                </a:solidFill>
              </a:rPr>
              <a:t>L is a said to be a language over alphabet ∑, only if L </a:t>
            </a:r>
            <a:r>
              <a:rPr lang="en-US" sz="2000" i="1" dirty="0">
                <a:solidFill>
                  <a:srgbClr val="FF0000"/>
                </a:solidFill>
                <a:sym typeface="Symbol"/>
              </a:rPr>
              <a:t> </a:t>
            </a:r>
            <a:r>
              <a:rPr lang="en-US" sz="2000" i="1" dirty="0">
                <a:solidFill>
                  <a:srgbClr val="FF0000"/>
                </a:solidFill>
              </a:rPr>
              <a:t>∑*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 t</a:t>
            </a:r>
            <a:r>
              <a:rPr lang="en-US" sz="2000" dirty="0">
                <a:solidFill>
                  <a:srgbClr val="0070C0"/>
                </a:solidFill>
              </a:rPr>
              <a:t>his is because ∑* is the set of all strings (of all possible length including 0) over the given alphabet ∑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u="sng" dirty="0"/>
              <a:t>Examples:</a:t>
            </a:r>
            <a:endParaRPr lang="en-US" sz="2000" dirty="0"/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000" dirty="0"/>
              <a:t>Let L be </a:t>
            </a:r>
            <a:r>
              <a:rPr lang="en-US" sz="2000" i="1" dirty="0"/>
              <a:t>the</a:t>
            </a:r>
            <a:r>
              <a:rPr lang="en-US" sz="2000" dirty="0"/>
              <a:t> language of </a:t>
            </a:r>
            <a:r>
              <a:rPr lang="en-US" sz="2000" u="sng" dirty="0"/>
              <a:t>all strings consisting of </a:t>
            </a:r>
            <a:r>
              <a:rPr lang="en-US" sz="2000" i="1" u="sng" dirty="0"/>
              <a:t>n </a:t>
            </a:r>
            <a:r>
              <a:rPr lang="en-US" sz="2000" u="sng" dirty="0"/>
              <a:t>0’s followed by </a:t>
            </a:r>
            <a:r>
              <a:rPr lang="en-US" sz="2000" i="1" u="sng" dirty="0"/>
              <a:t>n</a:t>
            </a:r>
            <a:r>
              <a:rPr lang="en-US" sz="2000" u="sng" dirty="0"/>
              <a:t> 1’s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	L = </a:t>
            </a:r>
            <a:r>
              <a:rPr lang="en-US" sz="2000" dirty="0">
                <a:solidFill>
                  <a:schemeClr val="folHlink"/>
                </a:solidFill>
              </a:rPr>
              <a:t>{</a:t>
            </a:r>
            <a:r>
              <a:rPr lang="en-US" sz="2000" dirty="0">
                <a:solidFill>
                  <a:schemeClr val="folHlink"/>
                </a:solidFill>
                <a:sym typeface="Symbol" pitchFamily="28" charset="2"/>
              </a:rPr>
              <a:t></a:t>
            </a:r>
            <a:r>
              <a:rPr lang="en-US" sz="2000" dirty="0">
                <a:solidFill>
                  <a:schemeClr val="folHlink"/>
                </a:solidFill>
              </a:rPr>
              <a:t>, 01, 0011, 000111,…}</a:t>
            </a:r>
            <a:endParaRPr lang="en-US" sz="2000" dirty="0"/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000" dirty="0"/>
              <a:t>Let L be </a:t>
            </a:r>
            <a:r>
              <a:rPr lang="en-US" sz="2000" i="1" dirty="0"/>
              <a:t>the </a:t>
            </a:r>
            <a:r>
              <a:rPr lang="en-US" sz="2000" dirty="0"/>
              <a:t>language of </a:t>
            </a:r>
            <a:r>
              <a:rPr lang="en-US" sz="2000" u="sng" dirty="0"/>
              <a:t>all strings of with equal number of 0’s and 1’s</a:t>
            </a:r>
            <a:r>
              <a:rPr lang="en-US" sz="2000" dirty="0"/>
              <a:t>: 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dirty="0"/>
              <a:t>		L = </a:t>
            </a:r>
            <a:r>
              <a:rPr lang="en-US" sz="2000" dirty="0">
                <a:solidFill>
                  <a:schemeClr val="folHlink"/>
                </a:solidFill>
              </a:rPr>
              <a:t>{</a:t>
            </a:r>
            <a:r>
              <a:rPr lang="en-US" sz="2000" dirty="0">
                <a:solidFill>
                  <a:schemeClr val="folHlink"/>
                </a:solidFill>
                <a:sym typeface="Symbol" pitchFamily="28" charset="2"/>
              </a:rPr>
              <a:t></a:t>
            </a:r>
            <a:r>
              <a:rPr lang="en-US" sz="2000" dirty="0">
                <a:solidFill>
                  <a:schemeClr val="folHlink"/>
                </a:solidFill>
              </a:rPr>
              <a:t>, 01, 10, 0011, 1100, 0101, 1010, 1001,…}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b="1" dirty="0"/>
              <a:t>Definition:	Ø denotes the Empty language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Let L = {</a:t>
            </a:r>
            <a:r>
              <a:rPr lang="en-US" sz="2000" dirty="0">
                <a:solidFill>
                  <a:schemeClr val="folHlink"/>
                </a:solidFill>
                <a:sym typeface="Symbol" pitchFamily="28" charset="2"/>
              </a:rPr>
              <a:t></a:t>
            </a:r>
            <a:r>
              <a:rPr lang="en-US" sz="2000" dirty="0"/>
              <a:t>}; Is L=Ø?	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0" y="6172200"/>
            <a:ext cx="646113" cy="4619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NO</a:t>
            </a: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762000" y="5715000"/>
            <a:ext cx="6172200" cy="381000"/>
          </a:xfrm>
          <a:prstGeom prst="roundRect">
            <a:avLst>
              <a:gd name="adj" fmla="val 16667"/>
            </a:avLst>
          </a:prstGeom>
          <a:solidFill>
            <a:schemeClr val="accent1">
              <a:alpha val="36862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290713" y="4953000"/>
            <a:ext cx="4253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Canonical ordering of strings in the language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505200" y="4876800"/>
            <a:ext cx="4038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  <p:bldP spid="6" grpId="0" animBg="1"/>
      <p:bldP spid="7" grpId="0" animBg="1"/>
      <p:bldP spid="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Empty String</a:t>
            </a:r>
            <a:endParaRPr lang="en-IN" altLang="en-US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368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28625" indent="-428625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sz="2400">
                <a:ea typeface="Cordia New"/>
                <a:cs typeface="Cordia New"/>
              </a:rPr>
              <a:t>An </a:t>
            </a:r>
            <a:r>
              <a:rPr lang="th-TH" altLang="en-US" sz="2400" i="1">
                <a:ea typeface="Cordia New"/>
              </a:rPr>
              <a:t>empty string</a:t>
            </a:r>
            <a:r>
              <a:rPr lang="en-IN" altLang="en-US" sz="2400" i="1">
                <a:ea typeface="Cordia New"/>
                <a:cs typeface="Cordia New"/>
              </a:rPr>
              <a:t> (or null string)</a:t>
            </a:r>
            <a:r>
              <a:rPr lang="en-US" altLang="en-US" sz="2400">
                <a:ea typeface="Cordia New"/>
                <a:cs typeface="Cordia New"/>
              </a:rPr>
              <a:t>, denoted by </a:t>
            </a:r>
            <a:r>
              <a:rPr lang="en-US" altLang="en-US" sz="240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ε</a:t>
            </a:r>
            <a:r>
              <a:rPr lang="en-US" altLang="en-US" sz="2400">
                <a:ea typeface="Cordia New"/>
                <a:cs typeface="Cordia New"/>
              </a:rPr>
              <a:t>, is a string containing no symbol.</a:t>
            </a:r>
            <a:endParaRPr lang="th-TH" altLang="en-US" sz="2400">
              <a:ea typeface="Cordia New"/>
            </a:endParaRPr>
          </a:p>
          <a:p>
            <a:pPr marL="628650" lvl="1" indent="-285750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sz="210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ε</a:t>
            </a:r>
            <a:r>
              <a:rPr lang="th-TH" altLang="en-US" sz="2100">
                <a:ea typeface="Cordia New"/>
                <a:sym typeface="Symbol" pitchFamily="18" charset="2"/>
              </a:rPr>
              <a:t> </a:t>
            </a:r>
            <a:r>
              <a:rPr lang="en-US" altLang="en-US" sz="2100">
                <a:ea typeface="Cordia New"/>
                <a:cs typeface="Cordia New"/>
                <a:sym typeface="Symbol" pitchFamily="18" charset="2"/>
              </a:rPr>
              <a:t>is a string over any alphabet.</a:t>
            </a:r>
            <a:endParaRPr lang="en-US" altLang="en-US" sz="2100">
              <a:latin typeface="Arial" pitchFamily="34" charset="0"/>
              <a:ea typeface="Cordia New"/>
              <a:cs typeface="Arial" pitchFamily="34" charset="0"/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429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Length of a String</a:t>
            </a:r>
            <a:endParaRPr lang="en-IN" altLang="en-US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3789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901825"/>
            <a:ext cx="7886700" cy="3587750"/>
          </a:xfrm>
        </p:spPr>
        <p:txBody>
          <a:bodyPr>
            <a:normAutofit fontScale="92500" lnSpcReduction="10000"/>
          </a:bodyPr>
          <a:lstStyle/>
          <a:p>
            <a:pPr marL="428625" indent="-428625" eaLnBrk="1" hangingPunct="1"/>
            <a:r>
              <a:rPr lang="en-US" altLang="en-US" sz="2300">
                <a:ea typeface="Cordia New"/>
                <a:cs typeface="Cordia New"/>
              </a:rPr>
              <a:t>The </a:t>
            </a:r>
            <a:r>
              <a:rPr lang="th-TH" altLang="en-US" sz="2300">
                <a:ea typeface="Cordia New"/>
              </a:rPr>
              <a:t>length </a:t>
            </a:r>
            <a:r>
              <a:rPr lang="en-US" altLang="en-US" sz="2300">
                <a:ea typeface="Cordia New"/>
                <a:cs typeface="Cordia New"/>
              </a:rPr>
              <a:t>of a string 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300">
                <a:ea typeface="Cordia New"/>
                <a:cs typeface="Cordia New"/>
              </a:rPr>
              <a:t>, denoted by 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length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(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) or |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|,</a:t>
            </a:r>
            <a:r>
              <a:rPr lang="en-US" altLang="en-US" sz="2300">
                <a:ea typeface="Cordia New"/>
                <a:cs typeface="Cordia New"/>
              </a:rPr>
              <a:t> is the number of symbols in the string.</a:t>
            </a:r>
          </a:p>
          <a:p>
            <a:pPr marL="628650" lvl="1" indent="-285750" eaLnBrk="1" hangingPunct="1">
              <a:buFont typeface="Arial" pitchFamily="34" charset="0"/>
              <a:buNone/>
            </a:pPr>
            <a:r>
              <a:rPr lang="en-US" altLang="en-US" sz="2000">
                <a:ea typeface="Cordia New"/>
                <a:cs typeface="Cordia New"/>
              </a:rPr>
              <a:t>  Let </a:t>
            </a:r>
            <a:r>
              <a:rPr lang="el-GR" altLang="en-US" sz="200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000">
                <a:ea typeface="Cordia New"/>
                <a:cs typeface="Cordia New"/>
              </a:rPr>
              <a:t> = {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a</a:t>
            </a:r>
            <a:r>
              <a:rPr lang="en-US" altLang="en-US" sz="2000">
                <a:ea typeface="Cordia New"/>
                <a:cs typeface="Cordia New"/>
              </a:rPr>
              <a:t>,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b</a:t>
            </a:r>
            <a:r>
              <a:rPr lang="en-US" altLang="en-US" sz="2000">
                <a:ea typeface="Cordia New"/>
                <a:cs typeface="Cordia New"/>
              </a:rPr>
              <a:t>, </a:t>
            </a:r>
            <a:r>
              <a:rPr lang="en-US" altLang="en-US" sz="2000">
                <a:latin typeface="Arial" pitchFamily="34" charset="0"/>
                <a:ea typeface="Cordia New"/>
                <a:cs typeface="Cordia New"/>
              </a:rPr>
              <a:t>…</a:t>
            </a:r>
            <a:r>
              <a:rPr lang="en-US" altLang="en-US" sz="2000">
                <a:ea typeface="Cordia New"/>
                <a:cs typeface="Cordia New"/>
              </a:rPr>
              <a:t>,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z</a:t>
            </a:r>
            <a:r>
              <a:rPr lang="en-US" altLang="en-US" sz="2000">
                <a:ea typeface="Cordia New"/>
                <a:cs typeface="Cordia New"/>
              </a:rPr>
              <a:t>}.    </a:t>
            </a:r>
          </a:p>
          <a:p>
            <a:pPr marL="628650" lvl="1" indent="-285750" eaLnBrk="1" hangingPunct="1">
              <a:buFont typeface="Arial" pitchFamily="34" charset="0"/>
              <a:buNone/>
            </a:pPr>
            <a:r>
              <a:rPr lang="en-US" altLang="en-US" sz="2000">
                <a:ea typeface="Cordia New"/>
                <a:cs typeface="Cordia New"/>
              </a:rPr>
              <a:t>  Let </a:t>
            </a:r>
            <a:r>
              <a:rPr lang="en-US" altLang="en-US" sz="2100" i="1">
                <a:ea typeface="Cordia New"/>
                <a:cs typeface="Cordia New"/>
              </a:rPr>
              <a:t>w</a:t>
            </a:r>
            <a:r>
              <a:rPr lang="en-US" altLang="en-US" sz="2100" i="1" baseline="-25000">
                <a:ea typeface="Cordia New"/>
                <a:cs typeface="Cordia New"/>
              </a:rPr>
              <a:t>1</a:t>
            </a:r>
            <a:r>
              <a:rPr lang="en-US" altLang="en-US" sz="2000" i="1">
                <a:ea typeface="Cordia New"/>
                <a:cs typeface="Cordia New"/>
              </a:rPr>
              <a:t>= abcd     and  w</a:t>
            </a:r>
            <a:r>
              <a:rPr lang="en-US" altLang="en-US" sz="2000" i="1" baseline="-25000">
                <a:ea typeface="Cordia New"/>
                <a:cs typeface="Cordia New"/>
              </a:rPr>
              <a:t>2</a:t>
            </a:r>
            <a:r>
              <a:rPr lang="en-US" altLang="en-US" sz="2000" i="1">
                <a:ea typeface="Cordia New"/>
                <a:cs typeface="Cordia New"/>
              </a:rPr>
              <a:t> = fgh</a:t>
            </a:r>
          </a:p>
          <a:p>
            <a:pPr marL="628650" lvl="1" indent="-285750" eaLnBrk="1" hangingPunct="1">
              <a:buFont typeface="Arial" pitchFamily="34" charset="0"/>
              <a:buNone/>
            </a:pPr>
            <a:r>
              <a:rPr lang="en-US" altLang="en-US" sz="2000">
                <a:ea typeface="Cordia New"/>
                <a:cs typeface="Cordia New"/>
              </a:rPr>
              <a:t>  Then,</a:t>
            </a:r>
            <a:endParaRPr lang="th-TH" altLang="en-US" sz="2000">
              <a:ea typeface="Cordia New"/>
            </a:endParaRPr>
          </a:p>
          <a:p>
            <a:pPr marL="628650" lvl="1" indent="-285750" eaLnBrk="1" hangingPunct="1">
              <a:buFont typeface="Arial" pitchFamily="34" charset="0"/>
              <a:buNone/>
            </a:pPr>
            <a:r>
              <a:rPr lang="en-US" altLang="en-US" i="1">
                <a:latin typeface="Times New Roman" pitchFamily="18" charset="0"/>
                <a:ea typeface="Cordia New"/>
                <a:cs typeface="Cordia New"/>
              </a:rPr>
              <a:t>  length</a:t>
            </a:r>
            <a:r>
              <a:rPr lang="en-US" altLang="en-US" i="1">
                <a:ea typeface="Cordia New"/>
                <a:cs typeface="Cordia New"/>
              </a:rPr>
              <a:t>(</a:t>
            </a:r>
            <a:r>
              <a:rPr lang="en-US" altLang="en-US" sz="2100" i="1">
                <a:ea typeface="Cordia New"/>
                <a:cs typeface="Cordia New"/>
              </a:rPr>
              <a:t>w</a:t>
            </a:r>
            <a:r>
              <a:rPr lang="en-US" altLang="en-US" sz="2100" i="1" baseline="-25000">
                <a:ea typeface="Cordia New"/>
                <a:cs typeface="Cordia New"/>
              </a:rPr>
              <a:t>1</a:t>
            </a:r>
            <a:r>
              <a:rPr lang="en-US" altLang="en-US" i="1">
                <a:ea typeface="Cordia New"/>
                <a:cs typeface="Cordia New"/>
              </a:rPr>
              <a:t>) = 4           or     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</a:rPr>
              <a:t>|</a:t>
            </a:r>
            <a:r>
              <a:rPr lang="en-US" altLang="en-US" sz="2100" i="1">
                <a:ea typeface="Cordia New"/>
                <a:cs typeface="Cordia New"/>
              </a:rPr>
              <a:t>w</a:t>
            </a:r>
            <a:r>
              <a:rPr lang="en-US" altLang="en-US" sz="2100" i="1" baseline="-25000">
                <a:ea typeface="Cordia New"/>
                <a:cs typeface="Cordia New"/>
              </a:rPr>
              <a:t>1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</a:rPr>
              <a:t> | = 4</a:t>
            </a:r>
            <a:r>
              <a:rPr lang="en-US" altLang="en-US" sz="2100" baseline="-25000">
                <a:ea typeface="Cordia New"/>
                <a:cs typeface="Cordia New"/>
              </a:rPr>
              <a:t>  </a:t>
            </a:r>
            <a:endParaRPr lang="th-TH" altLang="en-US">
              <a:ea typeface="Cordia New"/>
            </a:endParaRPr>
          </a:p>
          <a:p>
            <a:pPr marL="628650" lvl="1" indent="-285750" eaLnBrk="1" hangingPunct="1">
              <a:buFont typeface="Arial" pitchFamily="34" charset="0"/>
              <a:buNone/>
            </a:pPr>
            <a:r>
              <a:rPr lang="en-US" altLang="en-US" i="1">
                <a:latin typeface="Times New Roman" pitchFamily="18" charset="0"/>
                <a:ea typeface="Cordia New"/>
                <a:cs typeface="Cordia New"/>
              </a:rPr>
              <a:t>  length</a:t>
            </a:r>
            <a:r>
              <a:rPr lang="en-US" altLang="en-US" i="1">
                <a:ea typeface="Cordia New"/>
                <a:cs typeface="Cordia New"/>
              </a:rPr>
              <a:t>(</a:t>
            </a:r>
            <a:r>
              <a:rPr lang="en-US" altLang="en-US" sz="2100" i="1">
                <a:ea typeface="Cordia New"/>
                <a:cs typeface="Cordia New"/>
              </a:rPr>
              <a:t>w</a:t>
            </a:r>
            <a:r>
              <a:rPr lang="en-US" altLang="en-US" sz="2100" i="1" baseline="-25000">
                <a:ea typeface="Cordia New"/>
                <a:cs typeface="Cordia New"/>
              </a:rPr>
              <a:t>2</a:t>
            </a:r>
            <a:r>
              <a:rPr lang="en-US" altLang="en-US" i="1">
                <a:ea typeface="Cordia New"/>
                <a:cs typeface="Cordia New"/>
              </a:rPr>
              <a:t>) = 3           or     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</a:rPr>
              <a:t>|</a:t>
            </a:r>
            <a:r>
              <a:rPr lang="en-US" altLang="en-US" sz="2100" i="1">
                <a:ea typeface="Cordia New"/>
                <a:cs typeface="Cordia New"/>
              </a:rPr>
              <a:t>w</a:t>
            </a:r>
            <a:r>
              <a:rPr lang="en-US" altLang="en-US" sz="2100" i="1" baseline="-25000">
                <a:ea typeface="Cordia New"/>
                <a:cs typeface="Cordia New"/>
              </a:rPr>
              <a:t>2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</a:rPr>
              <a:t> | = 3</a:t>
            </a:r>
            <a:r>
              <a:rPr lang="en-US" altLang="en-US">
                <a:ea typeface="Cordia New"/>
                <a:cs typeface="Cordia New"/>
              </a:rPr>
              <a:t> </a:t>
            </a:r>
            <a:endParaRPr lang="th-TH" altLang="en-US">
              <a:ea typeface="Cordia New"/>
            </a:endParaRPr>
          </a:p>
          <a:p>
            <a:pPr marL="628650" lvl="1" indent="-285750" eaLnBrk="1" hangingPunct="1">
              <a:buFont typeface="Arial" pitchFamily="34" charset="0"/>
              <a:buNone/>
            </a:pPr>
            <a:r>
              <a:rPr lang="en-US" altLang="en-US" i="1">
                <a:latin typeface="Times New Roman" pitchFamily="18" charset="0"/>
                <a:ea typeface="Cordia New"/>
                <a:cs typeface="Cordia New"/>
              </a:rPr>
              <a:t>  length</a:t>
            </a:r>
            <a:r>
              <a:rPr lang="en-US" altLang="en-US">
                <a:ea typeface="Cordia New"/>
                <a:cs typeface="Cordia New"/>
              </a:rPr>
              <a:t>(</a:t>
            </a:r>
            <a:r>
              <a:rPr lang="el-GR" altLang="en-US">
                <a:latin typeface="Times New Roman" pitchFamily="18" charset="0"/>
                <a:ea typeface="Cordia New"/>
                <a:cs typeface="Times New Roman" pitchFamily="18" charset="0"/>
              </a:rPr>
              <a:t>ε</a:t>
            </a:r>
            <a:r>
              <a:rPr lang="en-US" altLang="en-US">
                <a:ea typeface="Cordia New"/>
                <a:cs typeface="Cordia New"/>
              </a:rPr>
              <a:t>)</a:t>
            </a:r>
            <a:r>
              <a:rPr lang="en-US" altLang="en-US" i="1">
                <a:ea typeface="Cordia New"/>
                <a:cs typeface="Cordia New"/>
              </a:rPr>
              <a:t> = </a:t>
            </a:r>
            <a:r>
              <a:rPr lang="en-US" altLang="en-US">
                <a:ea typeface="Cordia New"/>
                <a:cs typeface="Cordia New"/>
              </a:rPr>
              <a:t>0               or    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</a:rPr>
              <a:t>|</a:t>
            </a: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 ε 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</a:rPr>
              <a:t>| = 0</a:t>
            </a:r>
            <a:endParaRPr lang="th-TH" altLang="en-US">
              <a:ea typeface="Cordia New"/>
            </a:endParaRPr>
          </a:p>
          <a:p>
            <a:pPr marL="428625" indent="-428625" eaLnBrk="1" hangingPunct="1"/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(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i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) or 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300" i="1" baseline="-25000">
                <a:latin typeface="Times New Roman" pitchFamily="18" charset="0"/>
                <a:ea typeface="Cordia New"/>
                <a:cs typeface="Cordia New"/>
              </a:rPr>
              <a:t>i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 ,</a:t>
            </a:r>
            <a:r>
              <a:rPr lang="th-TH" altLang="en-US" sz="2300">
                <a:ea typeface="Cordia New"/>
              </a:rPr>
              <a:t> </a:t>
            </a:r>
            <a:r>
              <a:rPr lang="en-US" altLang="en-US" sz="2300">
                <a:ea typeface="Cordia New"/>
                <a:cs typeface="Cordia New"/>
              </a:rPr>
              <a:t>denotes the symbol in the </a:t>
            </a:r>
            <a:r>
              <a:rPr lang="th-TH" altLang="en-US" sz="2300" i="1">
                <a:latin typeface="Times New Roman" pitchFamily="18" charset="0"/>
                <a:ea typeface="Cordia New"/>
              </a:rPr>
              <a:t>i</a:t>
            </a:r>
            <a:r>
              <a:rPr lang="en-IN" altLang="th-TH" sz="2300" i="1">
                <a:latin typeface="Times New Roman" pitchFamily="18" charset="0"/>
                <a:ea typeface="Cordia New"/>
              </a:rPr>
              <a:t> </a:t>
            </a:r>
            <a:r>
              <a:rPr lang="en-US" altLang="en-US" sz="2300" i="1" baseline="30000">
                <a:latin typeface="Times New Roman" pitchFamily="18" charset="0"/>
                <a:ea typeface="Cordia New"/>
                <a:cs typeface="Cordia New"/>
              </a:rPr>
              <a:t>th</a:t>
            </a:r>
            <a:r>
              <a:rPr lang="th-TH" altLang="en-US" sz="2300">
                <a:ea typeface="Cordia New"/>
              </a:rPr>
              <a:t> </a:t>
            </a:r>
            <a:r>
              <a:rPr lang="en-US" altLang="en-US" sz="2300">
                <a:ea typeface="Cordia New"/>
                <a:cs typeface="Cordia New"/>
              </a:rPr>
              <a:t>position of a string </a:t>
            </a:r>
            <a:r>
              <a:rPr lang="th-TH" altLang="en-US" sz="2300" i="1">
                <a:latin typeface="Times New Roman" pitchFamily="18" charset="0"/>
                <a:ea typeface="Cordia New"/>
              </a:rPr>
              <a:t>x</a:t>
            </a:r>
            <a:r>
              <a:rPr lang="en-US" altLang="en-US" sz="2300" i="1">
                <a:ea typeface="Cordia New"/>
                <a:cs typeface="Cordia New"/>
              </a:rPr>
              <a:t>, </a:t>
            </a:r>
            <a:r>
              <a:rPr lang="en-US" altLang="en-US" sz="2300">
                <a:ea typeface="Cordia New"/>
                <a:cs typeface="Cordia New"/>
              </a:rPr>
              <a:t>for 1</a:t>
            </a:r>
            <a:r>
              <a:rPr lang="en-IN" altLang="en-US" sz="2300">
                <a:ea typeface="Cordia New"/>
                <a:cs typeface="Cordia New"/>
              </a:rPr>
              <a:t> </a:t>
            </a:r>
            <a:r>
              <a:rPr lang="th-TH" altLang="en-US" sz="230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≤</a:t>
            </a:r>
            <a:r>
              <a:rPr lang="th-TH" altLang="en-US" sz="2300">
                <a:latin typeface="Times New Roman" pitchFamily="18" charset="0"/>
                <a:ea typeface="Cordia New"/>
              </a:rPr>
              <a:t> </a:t>
            </a:r>
            <a:r>
              <a:rPr lang="th-TH" altLang="en-US" sz="2300" i="1">
                <a:latin typeface="Times New Roman" pitchFamily="18" charset="0"/>
                <a:ea typeface="Cordia New"/>
              </a:rPr>
              <a:t>i</a:t>
            </a:r>
            <a:r>
              <a:rPr lang="th-TH" altLang="en-US" sz="1700">
                <a:latin typeface="Times New Roman" pitchFamily="18" charset="0"/>
                <a:ea typeface="Cordia New"/>
              </a:rPr>
              <a:t> </a:t>
            </a:r>
            <a:r>
              <a:rPr lang="en-IN" altLang="th-TH" sz="1700">
                <a:latin typeface="Times New Roman" pitchFamily="18" charset="0"/>
                <a:ea typeface="Cordia New"/>
              </a:rPr>
              <a:t> </a:t>
            </a:r>
            <a:r>
              <a:rPr lang="th-TH" altLang="en-US" sz="230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≤</a:t>
            </a:r>
            <a:r>
              <a:rPr lang="th-TH" altLang="en-US" sz="2300">
                <a:latin typeface="Times New Roman" pitchFamily="18" charset="0"/>
                <a:ea typeface="Cordia New"/>
              </a:rPr>
              <a:t> 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length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(</a:t>
            </a:r>
            <a:r>
              <a:rPr lang="en-US" altLang="en-US" sz="23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300">
                <a:latin typeface="Times New Roman" pitchFamily="18" charset="0"/>
                <a:ea typeface="Cordia New"/>
                <a:cs typeface="Cordia New"/>
              </a:rPr>
              <a:t>).</a:t>
            </a:r>
            <a:endParaRPr lang="th-TH" altLang="en-US" sz="2300">
              <a:latin typeface="Times New Roman" pitchFamily="18" charset="0"/>
              <a:ea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String Operations</a:t>
            </a:r>
            <a:endParaRPr lang="en-IN" altLang="en-US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389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altLang="en-US">
                <a:ea typeface="Cordia New"/>
                <a:cs typeface="Cordia New"/>
              </a:rPr>
              <a:t>Concatenation</a:t>
            </a:r>
          </a:p>
          <a:p>
            <a:pPr eaLnBrk="1" hangingPunct="1"/>
            <a:r>
              <a:rPr lang="en-IN" altLang="en-US">
                <a:ea typeface="Cordia New"/>
                <a:cs typeface="Cordia New"/>
              </a:rPr>
              <a:t>Substring</a:t>
            </a:r>
          </a:p>
          <a:p>
            <a:pPr eaLnBrk="1" hangingPunct="1"/>
            <a:r>
              <a:rPr lang="en-IN" altLang="en-US">
                <a:ea typeface="Cordia New"/>
                <a:cs typeface="Cordia New"/>
              </a:rPr>
              <a:t>Reversal</a:t>
            </a:r>
          </a:p>
          <a:p>
            <a:pPr eaLnBrk="1" hangingPunct="1"/>
            <a:r>
              <a:rPr lang="en-IN" altLang="en-US">
                <a:ea typeface="Cordia New"/>
                <a:cs typeface="Cordia New"/>
              </a:rPr>
              <a:t>Kleene Closure and Positive 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886700" cy="801688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Concatenation</a:t>
            </a:r>
            <a:endParaRPr lang="en-IN" altLang="en-US" dirty="0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15400" cy="53308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>
                <a:ea typeface="+mn-ea"/>
              </a:rPr>
              <a:t>Concatenation of two strings 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1  </a:t>
            </a:r>
            <a:r>
              <a:rPr lang="en-US" altLang="en-US" i="1" dirty="0">
                <a:ea typeface="+mn-ea"/>
              </a:rPr>
              <a:t>and w</a:t>
            </a:r>
            <a:r>
              <a:rPr lang="en-US" altLang="en-US" i="1" baseline="-25000" dirty="0">
                <a:ea typeface="+mn-ea"/>
              </a:rPr>
              <a:t>2</a:t>
            </a:r>
            <a:r>
              <a:rPr lang="en-US" altLang="en-US" i="1" dirty="0">
                <a:ea typeface="+mn-ea"/>
              </a:rPr>
              <a:t> </a:t>
            </a:r>
            <a:r>
              <a:rPr lang="en-US" altLang="en-US" dirty="0">
                <a:ea typeface="+mn-ea"/>
              </a:rPr>
              <a:t>is</a:t>
            </a:r>
            <a:r>
              <a:rPr lang="en-US" altLang="en-US" i="1" dirty="0">
                <a:ea typeface="+mn-ea"/>
              </a:rPr>
              <a:t> </a:t>
            </a:r>
            <a:r>
              <a:rPr lang="en-US" altLang="en-US" dirty="0">
                <a:ea typeface="+mn-ea"/>
              </a:rPr>
              <a:t>defined as the sequence of symbols in 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1</a:t>
            </a:r>
            <a:r>
              <a:rPr lang="en-US" altLang="en-US" i="1" dirty="0">
                <a:ea typeface="+mn-ea"/>
              </a:rPr>
              <a:t> </a:t>
            </a:r>
            <a:r>
              <a:rPr lang="en-US" altLang="en-US" dirty="0">
                <a:ea typeface="+mn-ea"/>
              </a:rPr>
              <a:t>followed by sequence of symbols in 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2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Let 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1</a:t>
            </a:r>
            <a:r>
              <a:rPr lang="en-US" altLang="en-US" i="1" dirty="0">
                <a:ea typeface="+mn-ea"/>
              </a:rPr>
              <a:t>= </a:t>
            </a:r>
            <a:r>
              <a:rPr lang="en-US" altLang="en-US" i="1" dirty="0" err="1">
                <a:ea typeface="+mn-ea"/>
              </a:rPr>
              <a:t>abcd</a:t>
            </a:r>
            <a:r>
              <a:rPr lang="en-US" altLang="en-US" i="1" dirty="0">
                <a:ea typeface="+mn-ea"/>
              </a:rPr>
              <a:t>     and  w</a:t>
            </a:r>
            <a:r>
              <a:rPr lang="en-US" altLang="en-US" i="1" baseline="-25000" dirty="0">
                <a:ea typeface="+mn-ea"/>
              </a:rPr>
              <a:t>2</a:t>
            </a:r>
            <a:r>
              <a:rPr lang="en-US" altLang="en-US" i="1" dirty="0">
                <a:ea typeface="+mn-ea"/>
              </a:rPr>
              <a:t> = </a:t>
            </a:r>
            <a:r>
              <a:rPr lang="en-US" altLang="en-US" i="1" dirty="0" err="1">
                <a:ea typeface="+mn-ea"/>
              </a:rPr>
              <a:t>fgh</a:t>
            </a:r>
            <a:endParaRPr lang="en-US" altLang="en-US" i="1" dirty="0">
              <a:ea typeface="+mn-ea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en-US" dirty="0">
                <a:ea typeface="+mn-ea"/>
              </a:rPr>
              <a:t> Then </a:t>
            </a:r>
            <a:r>
              <a:rPr lang="en-US" altLang="en-US" i="1" dirty="0">
                <a:ea typeface="+mn-ea"/>
              </a:rPr>
              <a:t> w</a:t>
            </a:r>
            <a:r>
              <a:rPr lang="en-US" altLang="en-US" i="1" baseline="-25000" dirty="0">
                <a:ea typeface="+mn-ea"/>
              </a:rPr>
              <a:t>1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2</a:t>
            </a:r>
            <a:r>
              <a:rPr lang="en-US" altLang="en-US" i="1" dirty="0">
                <a:ea typeface="+mn-ea"/>
              </a:rPr>
              <a:t> = </a:t>
            </a:r>
            <a:r>
              <a:rPr lang="en-US" altLang="en-US" i="1" dirty="0" err="1">
                <a:ea typeface="+mn-ea"/>
              </a:rPr>
              <a:t>abcdfgh</a:t>
            </a:r>
            <a:endParaRPr lang="en-US" altLang="en-US" dirty="0">
              <a:ea typeface="+mn-ea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>
                <a:ea typeface="+mn-ea"/>
              </a:rPr>
              <a:t>           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2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-25000" dirty="0">
                <a:ea typeface="+mn-ea"/>
              </a:rPr>
              <a:t>1</a:t>
            </a:r>
            <a:r>
              <a:rPr lang="en-US" altLang="en-US" i="1" dirty="0">
                <a:ea typeface="+mn-ea"/>
              </a:rPr>
              <a:t> = </a:t>
            </a:r>
            <a:r>
              <a:rPr lang="en-US" altLang="en-US" i="1" dirty="0" err="1">
                <a:ea typeface="+mn-ea"/>
              </a:rPr>
              <a:t>fghabcd</a:t>
            </a:r>
            <a:endParaRPr lang="en-US" altLang="en-US" i="1" dirty="0">
              <a:ea typeface="+mn-ea"/>
            </a:endParaRPr>
          </a:p>
          <a:p>
            <a:pPr marL="428625" indent="-428625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>
                <a:ea typeface="+mn-ea"/>
              </a:rPr>
              <a:t> </a:t>
            </a:r>
            <a:r>
              <a:rPr lang="en-US" altLang="en-US" dirty="0">
                <a:ea typeface="+mn-ea"/>
                <a:cs typeface="Tahoma" panose="020B0604030504040204" pitchFamily="34" charset="0"/>
              </a:rPr>
              <a:t>The concatenation of string</a:t>
            </a:r>
            <a:r>
              <a:rPr lang="th-TH" altLang="en-US" dirty="0">
                <a:ea typeface="+mn-ea"/>
                <a:cs typeface="Tahoma" panose="020B0604030504040204" pitchFamily="34" charset="0"/>
              </a:rPr>
              <a:t> </a:t>
            </a:r>
            <a:r>
              <a:rPr lang="th-TH" altLang="en-US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r>
              <a:rPr lang="th-TH" altLang="en-US" dirty="0">
                <a:ea typeface="+mn-ea"/>
                <a:cs typeface="Tahoma" panose="020B0604030504040204" pitchFamily="34" charset="0"/>
              </a:rPr>
              <a:t> </a:t>
            </a:r>
            <a:r>
              <a:rPr lang="en-US" altLang="en-US" dirty="0">
                <a:ea typeface="+mn-ea"/>
                <a:cs typeface="Tahoma" panose="020B0604030504040204" pitchFamily="34" charset="0"/>
              </a:rPr>
              <a:t>for </a:t>
            </a:r>
            <a:r>
              <a:rPr lang="en-US" altLang="en-US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n</a:t>
            </a:r>
            <a:r>
              <a:rPr lang="en-US" altLang="en-US" dirty="0">
                <a:ea typeface="+mn-ea"/>
                <a:cs typeface="Tahoma" panose="020B0604030504040204" pitchFamily="34" charset="0"/>
              </a:rPr>
              <a:t> times, where</a:t>
            </a:r>
            <a:r>
              <a:rPr lang="th-TH" altLang="en-US" i="1" dirty="0">
                <a:ea typeface="+mn-ea"/>
                <a:cs typeface="Tahoma" panose="020B0604030504040204" pitchFamily="34" charset="0"/>
              </a:rPr>
              <a:t> </a:t>
            </a:r>
            <a:r>
              <a:rPr lang="th-TH" altLang="en-US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n</a:t>
            </a:r>
            <a:r>
              <a:rPr lang="th-TH" altLang="en-US" dirty="0">
                <a:ea typeface="+mn-ea"/>
                <a:cs typeface="Tahoma" panose="020B0604030504040204" pitchFamily="34" charset="0"/>
                <a:sym typeface="Symbol" panose="05050102010706020507" pitchFamily="18" charset="2"/>
              </a:rPr>
              <a:t></a:t>
            </a:r>
            <a:r>
              <a:rPr lang="th-TH" altLang="en-US" dirty="0">
                <a:ea typeface="+mn-ea"/>
                <a:cs typeface="Tahoma" panose="020B0604030504040204" pitchFamily="34" charset="0"/>
              </a:rPr>
              <a:t>0</a:t>
            </a:r>
            <a:r>
              <a:rPr lang="en-US" altLang="en-US" dirty="0">
                <a:ea typeface="+mn-ea"/>
                <a:cs typeface="Tahoma" panose="020B0604030504040204" pitchFamily="34" charset="0"/>
              </a:rPr>
              <a:t>,</a:t>
            </a:r>
            <a:r>
              <a:rPr lang="th-TH" altLang="en-US" dirty="0">
                <a:ea typeface="+mn-ea"/>
                <a:cs typeface="Tahoma" panose="020B0604030504040204" pitchFamily="34" charset="0"/>
              </a:rPr>
              <a:t> </a:t>
            </a:r>
            <a:r>
              <a:rPr lang="en-US" altLang="en-US" dirty="0">
                <a:ea typeface="+mn-ea"/>
                <a:cs typeface="Tahoma" panose="020B0604030504040204" pitchFamily="34" charset="0"/>
              </a:rPr>
              <a:t>is denoted by </a:t>
            </a:r>
            <a:r>
              <a:rPr lang="th-TH" altLang="en-US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r>
              <a:rPr lang="th-TH" altLang="en-US" i="1" baseline="300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n</a:t>
            </a:r>
            <a:endParaRPr lang="th-TH" altLang="en-US" dirty="0">
              <a:latin typeface="Times New Roman" panose="02020603050405020304" pitchFamily="18" charset="0"/>
              <a:ea typeface="+mn-ea"/>
              <a:cs typeface="Tahoma" panose="020B0604030504040204" pitchFamily="34" charset="0"/>
            </a:endParaRPr>
          </a:p>
          <a:p>
            <a:pPr marL="630079" lvl="1" indent="-287179" eaLnBrk="1" fontAlgn="auto" hangingPunct="1">
              <a:spcAft>
                <a:spcPts val="0"/>
              </a:spcAft>
              <a:defRPr/>
            </a:pP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r>
              <a:rPr lang="th-TH" altLang="en-US" sz="2100" i="1" baseline="300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0</a:t>
            </a:r>
            <a:r>
              <a:rPr lang="th-TH" altLang="en-US" sz="2100" dirty="0">
                <a:ea typeface="+mn-ea"/>
                <a:cs typeface="Tahoma" panose="020B0604030504040204" pitchFamily="34" charset="0"/>
              </a:rPr>
              <a:t> = </a:t>
            </a:r>
            <a:r>
              <a:rPr lang="th-TH" altLang="en-US" sz="2100" dirty="0">
                <a:ea typeface="+mn-ea"/>
                <a:cs typeface="Tahoma" panose="020B0604030504040204" pitchFamily="34" charset="0"/>
                <a:sym typeface="Symbol" panose="05050102010706020507" pitchFamily="18" charset="2"/>
              </a:rPr>
              <a:t></a:t>
            </a:r>
            <a:endParaRPr lang="th-TH" altLang="en-US" sz="2100" dirty="0">
              <a:ea typeface="+mn-ea"/>
              <a:cs typeface="Tahoma" panose="020B0604030504040204" pitchFamily="34" charset="0"/>
            </a:endParaRPr>
          </a:p>
          <a:p>
            <a:pPr marL="630079" lvl="1" indent="-287179" eaLnBrk="1" fontAlgn="auto" hangingPunct="1">
              <a:spcAft>
                <a:spcPts val="0"/>
              </a:spcAft>
              <a:defRPr/>
            </a:pP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r>
              <a:rPr lang="th-TH" altLang="en-US" sz="2100" i="1" baseline="300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1</a:t>
            </a:r>
            <a:r>
              <a:rPr lang="th-TH" altLang="en-US" sz="21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 = </a:t>
            </a: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endParaRPr lang="th-TH" altLang="en-US" sz="2100" dirty="0">
              <a:latin typeface="Times New Roman" panose="02020603050405020304" pitchFamily="18" charset="0"/>
              <a:ea typeface="+mn-ea"/>
              <a:cs typeface="Tahoma" panose="020B0604030504040204" pitchFamily="34" charset="0"/>
            </a:endParaRPr>
          </a:p>
          <a:p>
            <a:pPr marL="630079" lvl="1" indent="-287179" eaLnBrk="1" fontAlgn="auto" hangingPunct="1">
              <a:spcAft>
                <a:spcPts val="0"/>
              </a:spcAft>
              <a:defRPr/>
            </a:pP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r>
              <a:rPr lang="th-TH" altLang="en-US" sz="2100" i="1" baseline="300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2</a:t>
            </a:r>
            <a:r>
              <a:rPr lang="th-TH" altLang="en-US" sz="21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 = </a:t>
            </a: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 x</a:t>
            </a:r>
            <a:endParaRPr lang="th-TH" altLang="en-US" sz="2100" dirty="0">
              <a:latin typeface="Times New Roman" panose="02020603050405020304" pitchFamily="18" charset="0"/>
              <a:ea typeface="+mn-ea"/>
              <a:cs typeface="Tahoma" panose="020B0604030504040204" pitchFamily="34" charset="0"/>
            </a:endParaRPr>
          </a:p>
          <a:p>
            <a:pPr marL="630079" lvl="1" indent="-287179" eaLnBrk="1" fontAlgn="auto" hangingPunct="1">
              <a:spcAft>
                <a:spcPts val="0"/>
              </a:spcAft>
              <a:defRPr/>
            </a:pP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</a:t>
            </a:r>
            <a:r>
              <a:rPr lang="th-TH" altLang="en-US" sz="2100" i="1" baseline="300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3</a:t>
            </a:r>
            <a:r>
              <a:rPr lang="th-TH" altLang="en-US" sz="2100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 = </a:t>
            </a:r>
            <a:r>
              <a:rPr lang="th-TH" altLang="en-US" sz="2100" i="1" dirty="0">
                <a:latin typeface="Times New Roman" panose="02020603050405020304" pitchFamily="18" charset="0"/>
                <a:ea typeface="+mn-ea"/>
                <a:cs typeface="Tahoma" panose="020B0604030504040204" pitchFamily="34" charset="0"/>
              </a:rPr>
              <a:t>x x x</a:t>
            </a:r>
            <a:endParaRPr lang="th-TH" altLang="en-US" sz="2100" dirty="0">
              <a:latin typeface="Times New Roman" panose="02020603050405020304" pitchFamily="18" charset="0"/>
              <a:ea typeface="+mn-ea"/>
              <a:cs typeface="Tahoma" panose="020B0604030504040204" pitchFamily="34" charset="0"/>
            </a:endParaRPr>
          </a:p>
          <a:p>
            <a:pPr marL="630079" lvl="1" indent="-287179" eaLnBrk="1" fontAlgn="auto" hangingPunct="1">
              <a:spcAft>
                <a:spcPts val="0"/>
              </a:spcAft>
              <a:defRPr/>
            </a:pPr>
            <a:r>
              <a:rPr lang="th-TH" altLang="en-US" sz="2100" dirty="0">
                <a:ea typeface="+mn-ea"/>
                <a:cs typeface="Tahoma" panose="020B0604030504040204" pitchFamily="34" charset="0"/>
              </a:rPr>
              <a:t> </a:t>
            </a:r>
            <a:r>
              <a:rPr lang="en-US" altLang="en-US" sz="2100" i="1" dirty="0">
                <a:latin typeface="Arial" panose="020B0604020202020204" pitchFamily="34" charset="0"/>
                <a:ea typeface="+mn-ea"/>
                <a:cs typeface="Tahoma" panose="020B0604030504040204" pitchFamily="34" charset="0"/>
              </a:rPr>
              <a:t>…</a:t>
            </a:r>
            <a:endParaRPr lang="th-TH" altLang="en-US" sz="2100" i="1" dirty="0">
              <a:ea typeface="+mn-ea"/>
              <a:cs typeface="Tahoma" panose="020B0604030504040204" pitchFamily="34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dirty="0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>
                <a:solidFill>
                  <a:srgbClr val="FF0000"/>
                </a:solidFill>
                <a:ea typeface="Angsana New"/>
                <a:cs typeface="Angsana New"/>
              </a:rPr>
              <a:t>Substring</a:t>
            </a:r>
          </a:p>
        </p:txBody>
      </p:sp>
      <p:sp>
        <p:nvSpPr>
          <p:cNvPr id="409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28625" indent="-428625" eaLnBrk="1" hangingPunct="1">
              <a:lnSpc>
                <a:spcPct val="105000"/>
              </a:lnSpc>
              <a:spcBef>
                <a:spcPct val="35000"/>
              </a:spcBef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Let </a:t>
            </a:r>
            <a:r>
              <a:rPr lang="en-US" altLang="en-US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>
                <a:ea typeface="Cordia New"/>
                <a:cs typeface="Cordia New"/>
              </a:rPr>
              <a:t> and </a:t>
            </a:r>
            <a:r>
              <a:rPr lang="en-US" altLang="en-US" i="1">
                <a:latin typeface="Times New Roman" pitchFamily="18" charset="0"/>
                <a:ea typeface="Cordia New"/>
                <a:cs typeface="Cordia New"/>
              </a:rPr>
              <a:t>y</a:t>
            </a:r>
            <a:r>
              <a:rPr lang="en-US" altLang="en-US">
                <a:ea typeface="Cordia New"/>
                <a:cs typeface="Cordia New"/>
              </a:rPr>
              <a:t> be strings over an alphabet </a:t>
            </a:r>
            <a:r>
              <a:rPr lang="el-GR" altLang="en-US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endParaRPr lang="en-US" altLang="en-US">
              <a:latin typeface="Times New Roman" pitchFamily="18" charset="0"/>
              <a:ea typeface="Cordia New"/>
              <a:cs typeface="Times New Roman" pitchFamily="18" charset="0"/>
            </a:endParaRPr>
          </a:p>
          <a:p>
            <a:pPr marL="428625" indent="-428625" eaLnBrk="1" hangingPunct="1">
              <a:lnSpc>
                <a:spcPct val="105000"/>
              </a:lnSpc>
              <a:spcBef>
                <a:spcPct val="35000"/>
              </a:spcBef>
              <a:buFont typeface="Arial" pitchFamily="34" charset="0"/>
              <a:buNone/>
            </a:pPr>
            <a:r>
              <a:rPr lang="en-US" altLang="en-US">
                <a:ea typeface="Cordia New"/>
                <a:cs typeface="Times New Roman" pitchFamily="18" charset="0"/>
              </a:rPr>
              <a:t>	The string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 i="1">
                <a:latin typeface="Times New Roman" pitchFamily="18" charset="0"/>
                <a:ea typeface="Cordia New"/>
                <a:cs typeface="Times New Roman" pitchFamily="18" charset="0"/>
              </a:rPr>
              <a:t>x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>
                <a:ea typeface="Cordia New"/>
                <a:cs typeface="Times New Roman" pitchFamily="18" charset="0"/>
              </a:rPr>
              <a:t>is a substring of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 i="1">
                <a:latin typeface="Times New Roman" pitchFamily="18" charset="0"/>
                <a:ea typeface="Cordia New"/>
                <a:cs typeface="Times New Roman" pitchFamily="18" charset="0"/>
              </a:rPr>
              <a:t>y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>
                <a:ea typeface="Cordia New"/>
                <a:cs typeface="Times New Roman" pitchFamily="18" charset="0"/>
              </a:rPr>
              <a:t>if there exist strings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 i="1">
                <a:latin typeface="Times New Roman" pitchFamily="18" charset="0"/>
                <a:ea typeface="Cordia New"/>
                <a:cs typeface="Times New Roman" pitchFamily="18" charset="0"/>
              </a:rPr>
              <a:t>w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>
                <a:ea typeface="Cordia New"/>
                <a:cs typeface="Times New Roman" pitchFamily="18" charset="0"/>
              </a:rPr>
              <a:t>and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 i="1">
                <a:latin typeface="Times New Roman" pitchFamily="18" charset="0"/>
                <a:ea typeface="Cordia New"/>
                <a:cs typeface="Times New Roman" pitchFamily="18" charset="0"/>
              </a:rPr>
              <a:t>z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>
                <a:ea typeface="Cordia New"/>
                <a:cs typeface="Times New Roman" pitchFamily="18" charset="0"/>
              </a:rPr>
              <a:t>over </a:t>
            </a:r>
            <a:r>
              <a:rPr lang="el-GR" altLang="en-US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>
                <a:ea typeface="Cordia New"/>
                <a:cs typeface="Times New Roman" pitchFamily="18" charset="0"/>
              </a:rPr>
              <a:t>such that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 i="1">
                <a:latin typeface="Times New Roman" pitchFamily="18" charset="0"/>
                <a:ea typeface="Cordia New"/>
                <a:cs typeface="Times New Roman" pitchFamily="18" charset="0"/>
              </a:rPr>
              <a:t>y </a:t>
            </a:r>
            <a:r>
              <a:rPr lang="en-US" altLang="en-US">
                <a:latin typeface="Times New Roman" pitchFamily="18" charset="0"/>
                <a:ea typeface="Cordia New"/>
                <a:cs typeface="Times New Roman" pitchFamily="18" charset="0"/>
              </a:rPr>
              <a:t>= </a:t>
            </a:r>
            <a:r>
              <a:rPr lang="en-US" altLang="en-US" i="1">
                <a:latin typeface="Times New Roman" pitchFamily="18" charset="0"/>
                <a:ea typeface="Cordia New"/>
                <a:cs typeface="Times New Roman" pitchFamily="18" charset="0"/>
              </a:rPr>
              <a:t>w x z.</a:t>
            </a:r>
          </a:p>
          <a:p>
            <a:pPr marL="628650" lvl="1" indent="-285750" eaLnBrk="1" hangingPunct="1">
              <a:lnSpc>
                <a:spcPct val="105000"/>
              </a:lnSpc>
              <a:spcBef>
                <a:spcPct val="35000"/>
              </a:spcBef>
            </a:pP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ε</a:t>
            </a: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 </a:t>
            </a:r>
            <a:r>
              <a:rPr lang="en-US" altLang="en-US" sz="2100">
                <a:ea typeface="Angsana New"/>
                <a:cs typeface="Angsana New"/>
              </a:rPr>
              <a:t>is a substring of every string.</a:t>
            </a:r>
            <a:endParaRPr lang="th-TH" altLang="en-US" sz="2100">
              <a:ea typeface="Angsana New"/>
              <a:cs typeface="Angsana New"/>
            </a:endParaRPr>
          </a:p>
          <a:p>
            <a:pPr marL="628650" lvl="1" indent="-285750" eaLnBrk="1" hangingPunct="1">
              <a:lnSpc>
                <a:spcPct val="105000"/>
              </a:lnSpc>
              <a:spcBef>
                <a:spcPct val="35000"/>
              </a:spcBef>
            </a:pPr>
            <a:r>
              <a:rPr lang="en-US" altLang="en-US" sz="2100">
                <a:ea typeface="Angsana New"/>
                <a:cs typeface="Angsana New"/>
              </a:rPr>
              <a:t>For every string </a:t>
            </a:r>
            <a:r>
              <a:rPr lang="en-US" altLang="en-US" sz="2100" i="1">
                <a:latin typeface="Times New Roman" pitchFamily="18" charset="0"/>
                <a:ea typeface="Angsana New"/>
                <a:cs typeface="Angsana New"/>
              </a:rPr>
              <a:t>x</a:t>
            </a:r>
            <a:r>
              <a:rPr lang="en-US" altLang="en-US" sz="2100">
                <a:ea typeface="Angsana New"/>
                <a:cs typeface="Angsana New"/>
              </a:rPr>
              <a:t>, </a:t>
            </a:r>
            <a:r>
              <a:rPr lang="en-US" altLang="en-US" sz="2100" i="1">
                <a:latin typeface="Times New Roman" pitchFamily="18" charset="0"/>
                <a:ea typeface="Angsana New"/>
                <a:cs typeface="Angsana New"/>
              </a:rPr>
              <a:t>x</a:t>
            </a:r>
            <a:r>
              <a:rPr lang="en-US" altLang="en-US" sz="2100">
                <a:ea typeface="Angsana New"/>
                <a:cs typeface="Angsana New"/>
              </a:rPr>
              <a:t> is a substring of </a:t>
            </a:r>
            <a:r>
              <a:rPr lang="en-US" altLang="en-US" sz="2100" i="1">
                <a:latin typeface="Times New Roman" pitchFamily="18" charset="0"/>
                <a:ea typeface="Angsana New"/>
                <a:cs typeface="Angsana New"/>
              </a:rPr>
              <a:t>x</a:t>
            </a:r>
            <a:r>
              <a:rPr lang="en-US" altLang="en-US" sz="2100">
                <a:ea typeface="Angsana New"/>
                <a:cs typeface="Angsana New"/>
              </a:rPr>
              <a:t> itself.</a:t>
            </a:r>
          </a:p>
          <a:p>
            <a:pPr marL="428625" indent="-428625" eaLnBrk="1" hangingPunct="1">
              <a:lnSpc>
                <a:spcPct val="105000"/>
              </a:lnSpc>
              <a:spcBef>
                <a:spcPct val="35000"/>
              </a:spcBef>
              <a:buFont typeface="Arial" pitchFamily="34" charset="0"/>
              <a:buNone/>
            </a:pPr>
            <a:r>
              <a:rPr lang="en-US" altLang="en-US">
                <a:ea typeface="Angsana New"/>
                <a:cs typeface="Angsana New"/>
              </a:rPr>
              <a:t>Example</a:t>
            </a:r>
          </a:p>
          <a:p>
            <a:pPr marL="628650" lvl="1" indent="-285750" eaLnBrk="1" hangingPunct="1">
              <a:lnSpc>
                <a:spcPct val="105000"/>
              </a:lnSpc>
              <a:spcBef>
                <a:spcPct val="35000"/>
              </a:spcBef>
            </a:pP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ε</a:t>
            </a:r>
            <a:r>
              <a:rPr lang="en-US" altLang="en-US" sz="2100">
                <a:ea typeface="Cordia New"/>
                <a:cs typeface="Times New Roman" pitchFamily="18" charset="0"/>
              </a:rPr>
              <a:t>,</a:t>
            </a:r>
            <a:r>
              <a:rPr lang="en-US" altLang="en-US" sz="2100" i="1">
                <a:latin typeface="Times New Roman" pitchFamily="18" charset="0"/>
                <a:ea typeface="Angsana New"/>
                <a:cs typeface="Angsana New"/>
              </a:rPr>
              <a:t> comput</a:t>
            </a:r>
            <a:r>
              <a:rPr lang="en-US" altLang="en-US" sz="2100">
                <a:ea typeface="Angsana New"/>
                <a:cs typeface="Angsana New"/>
              </a:rPr>
              <a:t> and </a:t>
            </a:r>
            <a:r>
              <a:rPr lang="en-US" altLang="en-US" sz="2100" i="1">
                <a:latin typeface="Times New Roman" pitchFamily="18" charset="0"/>
                <a:ea typeface="Angsana New"/>
                <a:cs typeface="Angsana New"/>
              </a:rPr>
              <a:t>computation</a:t>
            </a:r>
            <a:r>
              <a:rPr lang="en-US" altLang="en-US" sz="2100">
                <a:ea typeface="Angsana New"/>
                <a:cs typeface="Angsana New"/>
              </a:rPr>
              <a:t> are substrings of </a:t>
            </a:r>
            <a:r>
              <a:rPr lang="en-US" altLang="en-US" sz="2100" i="1">
                <a:latin typeface="Times New Roman" pitchFamily="18" charset="0"/>
                <a:ea typeface="Angsana New"/>
                <a:cs typeface="Angsana New"/>
              </a:rPr>
              <a:t>computation</a:t>
            </a:r>
            <a:r>
              <a:rPr lang="en-US" altLang="en-US" sz="2100">
                <a:ea typeface="Angsana New"/>
                <a:cs typeface="Angsana New"/>
              </a:rPr>
              <a:t>.</a:t>
            </a:r>
            <a:endParaRPr lang="el-GR" altLang="en-US" sz="2100">
              <a:ea typeface="Angsana New"/>
              <a:cs typeface="Angsana New"/>
            </a:endParaRPr>
          </a:p>
          <a:p>
            <a:pPr marL="428625" indent="-428625" eaLnBrk="1" hangingPunct="1"/>
            <a:endParaRPr lang="en-IN" altLang="en-US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Reversal</a:t>
            </a:r>
            <a:endParaRPr lang="en-IN" altLang="en-US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>
                <a:ea typeface="+mn-ea"/>
              </a:rPr>
              <a:t>The reversal of a string is a string with same symbols in reverse order, denoted by </a:t>
            </a:r>
            <a:r>
              <a:rPr lang="en-US" altLang="en-US" i="1" dirty="0">
                <a:ea typeface="+mn-ea"/>
              </a:rPr>
              <a:t>w</a:t>
            </a:r>
            <a:r>
              <a:rPr lang="en-US" altLang="en-US" i="1" baseline="30000" dirty="0">
                <a:ea typeface="+mn-ea"/>
              </a:rPr>
              <a:t>R  </a:t>
            </a:r>
          </a:p>
          <a:p>
            <a:pPr marL="428625" indent="-428625" eaLnBrk="1" fontAlgn="auto" hangingPunct="1">
              <a:lnSpc>
                <a:spcPct val="105000"/>
              </a:lnSpc>
              <a:spcBef>
                <a:spcPct val="35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en-US" dirty="0">
                <a:ea typeface="+mn-ea"/>
                <a:cs typeface="Angsana New" pitchFamily="18" charset="-34"/>
              </a:rPr>
              <a:t>Example</a:t>
            </a:r>
          </a:p>
          <a:p>
            <a:pPr marL="428625" indent="-428625" eaLnBrk="1" fontAlgn="auto" hangingPunct="1">
              <a:lnSpc>
                <a:spcPct val="105000"/>
              </a:lnSpc>
              <a:spcBef>
                <a:spcPct val="35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en-US" dirty="0">
                <a:ea typeface="+mn-ea"/>
                <a:cs typeface="Angsana New" pitchFamily="18" charset="-34"/>
              </a:rPr>
              <a:t>    Let  </a:t>
            </a:r>
            <a:r>
              <a:rPr lang="en-US" altLang="en-US" b="1" i="1" dirty="0">
                <a:ea typeface="+mn-ea"/>
              </a:rPr>
              <a:t>w = </a:t>
            </a:r>
            <a:r>
              <a:rPr lang="en-US" altLang="en-US" b="1" i="1" dirty="0" err="1">
                <a:ea typeface="+mn-ea"/>
              </a:rPr>
              <a:t>abcdmno</a:t>
            </a:r>
            <a:r>
              <a:rPr lang="en-US" altLang="en-US" i="1" dirty="0">
                <a:ea typeface="+mn-ea"/>
              </a:rPr>
              <a:t>  </a:t>
            </a:r>
          </a:p>
          <a:p>
            <a:pPr marL="428625" indent="-428625" eaLnBrk="1" fontAlgn="auto" hangingPunct="1">
              <a:lnSpc>
                <a:spcPct val="105000"/>
              </a:lnSpc>
              <a:spcBef>
                <a:spcPct val="35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en-US" i="1" dirty="0">
                <a:ea typeface="+mn-ea"/>
              </a:rPr>
              <a:t>   </a:t>
            </a:r>
            <a:r>
              <a:rPr lang="en-US" altLang="en-US" dirty="0">
                <a:ea typeface="+mn-ea"/>
              </a:rPr>
              <a:t>Then</a:t>
            </a:r>
          </a:p>
          <a:p>
            <a:pPr marL="428625" indent="-428625" eaLnBrk="1" fontAlgn="auto" hangingPunct="1">
              <a:lnSpc>
                <a:spcPct val="105000"/>
              </a:lnSpc>
              <a:spcBef>
                <a:spcPct val="35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en-US" i="1" dirty="0">
                <a:ea typeface="+mn-ea"/>
              </a:rPr>
              <a:t>     </a:t>
            </a:r>
            <a:r>
              <a:rPr lang="en-US" altLang="en-US" b="1" i="1" dirty="0">
                <a:solidFill>
                  <a:srgbClr val="FF0000"/>
                </a:solidFill>
                <a:ea typeface="+mn-ea"/>
              </a:rPr>
              <a:t>w</a:t>
            </a:r>
            <a:r>
              <a:rPr lang="en-US" altLang="en-US" b="1" i="1" baseline="30000" dirty="0">
                <a:solidFill>
                  <a:srgbClr val="FF0000"/>
                </a:solidFill>
                <a:ea typeface="+mn-ea"/>
              </a:rPr>
              <a:t>R</a:t>
            </a:r>
            <a:r>
              <a:rPr lang="en-US" altLang="en-US" b="1" i="1" dirty="0">
                <a:solidFill>
                  <a:srgbClr val="FF0000"/>
                </a:solidFill>
                <a:ea typeface="+mn-ea"/>
              </a:rPr>
              <a:t> = </a:t>
            </a:r>
            <a:r>
              <a:rPr lang="en-US" altLang="en-US" b="1" i="1" dirty="0" err="1">
                <a:solidFill>
                  <a:srgbClr val="FF0000"/>
                </a:solidFill>
              </a:rPr>
              <a:t>onm</a:t>
            </a:r>
            <a:r>
              <a:rPr lang="en-US" altLang="en-US" b="1" i="1" dirty="0" err="1">
                <a:solidFill>
                  <a:srgbClr val="FF0000"/>
                </a:solidFill>
                <a:ea typeface="+mn-ea"/>
              </a:rPr>
              <a:t>dcba</a:t>
            </a:r>
            <a:endParaRPr lang="en-US" altLang="en-US" b="1" i="1" dirty="0">
              <a:solidFill>
                <a:srgbClr val="FF0000"/>
              </a:solidFill>
              <a:ea typeface="+mn-ea"/>
            </a:endParaRPr>
          </a:p>
          <a:p>
            <a:pPr marL="428625" indent="-428625" eaLnBrk="1" fontAlgn="auto" hangingPunct="1">
              <a:lnSpc>
                <a:spcPct val="105000"/>
              </a:lnSpc>
              <a:spcBef>
                <a:spcPct val="35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altLang="en-US" dirty="0">
              <a:ea typeface="+mn-ea"/>
              <a:cs typeface="Angsana New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109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886700" cy="577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IN" altLang="en-US" dirty="0" err="1">
                <a:solidFill>
                  <a:srgbClr val="FF0000"/>
                </a:solidFill>
                <a:ea typeface="Angsana New"/>
                <a:cs typeface="Angsana New"/>
              </a:rPr>
              <a:t>Kleene</a:t>
            </a:r>
            <a:r>
              <a:rPr lang="en-IN" altLang="en-US" dirty="0">
                <a:solidFill>
                  <a:srgbClr val="FF0000"/>
                </a:solidFill>
                <a:ea typeface="Angsana New"/>
                <a:cs typeface="Angsana New"/>
              </a:rPr>
              <a:t> Closure</a:t>
            </a:r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458200" cy="5410200"/>
          </a:xfrm>
        </p:spPr>
        <p:txBody>
          <a:bodyPr>
            <a:normAutofit fontScale="85000" lnSpcReduction="20000"/>
          </a:bodyPr>
          <a:lstStyle/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en-US" dirty="0">
                <a:ea typeface="Cordia New"/>
                <a:cs typeface="Cordia New"/>
              </a:rPr>
              <a:t>  Let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={ a, b}  i.e.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6000" dirty="0"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={ a, b}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th-TH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      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2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=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.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=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  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{ a, b}. { a, b} = {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aa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ab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ba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bb}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th-TH" dirty="0">
              <a:latin typeface="Arial" pitchFamily="34" charset="0"/>
              <a:ea typeface="Cordia New"/>
              <a:cs typeface="Arial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th-TH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      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3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=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.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.</a:t>
            </a:r>
            <a:r>
              <a:rPr lang="th-TH" altLang="en-US" dirty="0">
                <a:ea typeface="Cordia New"/>
                <a:sym typeface="Symbol" pitchFamily="18" charset="2"/>
              </a:rPr>
              <a:t>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1 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=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  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{ a, b}. { a, b}. { a, b} 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		        = {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aa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ab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ba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bb}. { a, b}</a:t>
            </a:r>
            <a:r>
              <a:rPr lang="en-IN" altLang="en-US" dirty="0">
                <a:ea typeface="Cordia New"/>
                <a:cs typeface="Cordia New"/>
              </a:rPr>
              <a:t>                                                       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en-US" dirty="0">
                <a:ea typeface="Cordia New"/>
                <a:cs typeface="Cordia New"/>
              </a:rPr>
              <a:t>                                     ={</a:t>
            </a:r>
            <a:r>
              <a:rPr lang="en-IN" altLang="en-US" dirty="0" err="1">
                <a:ea typeface="Cordia New"/>
                <a:cs typeface="Cordia New"/>
              </a:rPr>
              <a:t>aaa</a:t>
            </a:r>
            <a:r>
              <a:rPr lang="en-IN" altLang="en-US" dirty="0">
                <a:ea typeface="Cordia New"/>
                <a:cs typeface="Cordia New"/>
              </a:rPr>
              <a:t>, </a:t>
            </a:r>
            <a:r>
              <a:rPr lang="en-IN" altLang="en-US" dirty="0" err="1">
                <a:ea typeface="Cordia New"/>
                <a:cs typeface="Cordia New"/>
              </a:rPr>
              <a:t>aab</a:t>
            </a:r>
            <a:r>
              <a:rPr lang="en-IN" altLang="en-US" dirty="0">
                <a:ea typeface="Cordia New"/>
                <a:cs typeface="Cordia New"/>
              </a:rPr>
              <a:t>, </a:t>
            </a:r>
            <a:r>
              <a:rPr lang="en-IN" altLang="en-US" dirty="0" err="1">
                <a:ea typeface="Cordia New"/>
                <a:cs typeface="Cordia New"/>
              </a:rPr>
              <a:t>aba</a:t>
            </a:r>
            <a:r>
              <a:rPr lang="en-IN" altLang="en-US" dirty="0">
                <a:ea typeface="Cordia New"/>
                <a:cs typeface="Cordia New"/>
              </a:rPr>
              <a:t>, </a:t>
            </a:r>
            <a:r>
              <a:rPr lang="en-IN" altLang="en-US" dirty="0" err="1">
                <a:ea typeface="Cordia New"/>
                <a:cs typeface="Cordia New"/>
              </a:rPr>
              <a:t>abb</a:t>
            </a:r>
            <a:r>
              <a:rPr lang="en-IN" altLang="en-US" dirty="0">
                <a:ea typeface="Cordia New"/>
                <a:cs typeface="Cordia New"/>
              </a:rPr>
              <a:t>, baa, </a:t>
            </a:r>
            <a:r>
              <a:rPr lang="en-IN" altLang="en-US" dirty="0" err="1">
                <a:ea typeface="Cordia New"/>
                <a:cs typeface="Cordia New"/>
              </a:rPr>
              <a:t>bab</a:t>
            </a:r>
            <a:r>
              <a:rPr lang="en-IN" altLang="en-US" dirty="0">
                <a:ea typeface="Cordia New"/>
                <a:cs typeface="Cordia New"/>
              </a:rPr>
              <a:t>, </a:t>
            </a:r>
            <a:r>
              <a:rPr lang="en-IN" altLang="en-US" dirty="0" err="1">
                <a:ea typeface="Cordia New"/>
                <a:cs typeface="Cordia New"/>
              </a:rPr>
              <a:t>bba</a:t>
            </a:r>
            <a:r>
              <a:rPr lang="en-IN" altLang="en-US" dirty="0">
                <a:ea typeface="Cordia New"/>
                <a:cs typeface="Cordia New"/>
              </a:rPr>
              <a:t>, </a:t>
            </a:r>
            <a:r>
              <a:rPr lang="en-IN" altLang="en-US" dirty="0" err="1">
                <a:ea typeface="Cordia New"/>
                <a:cs typeface="Cordia New"/>
              </a:rPr>
              <a:t>bbb</a:t>
            </a:r>
            <a:r>
              <a:rPr lang="en-IN" altLang="en-US" dirty="0">
                <a:ea typeface="Cordia New"/>
                <a:cs typeface="Cordia New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en-US" dirty="0">
                <a:ea typeface="Cordia New"/>
                <a:cs typeface="Cordia New"/>
              </a:rPr>
              <a:t>   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0 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={</a:t>
            </a:r>
            <a:r>
              <a:rPr lang="en-IN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ε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} 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The </a:t>
            </a:r>
            <a:r>
              <a:rPr lang="en-IN" altLang="en-US" dirty="0" err="1">
                <a:ea typeface="Cordia New"/>
                <a:cs typeface="Cordia New"/>
                <a:sym typeface="Symbol" pitchFamily="18" charset="2"/>
              </a:rPr>
              <a:t>Kleene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closure of </a:t>
            </a: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denoted by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</a:t>
            </a:r>
            <a:r>
              <a:rPr lang="en-IN" altLang="en-US" dirty="0">
                <a:ea typeface="Cordia New"/>
                <a:cs typeface="Tahoma" pitchFamily="34" charset="0"/>
              </a:rPr>
              <a:t> is defined as follows: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</a:t>
            </a:r>
            <a:r>
              <a:rPr lang="en-IN" altLang="en-US" dirty="0">
                <a:ea typeface="Cordia New"/>
                <a:cs typeface="Tahoma" pitchFamily="34" charset="0"/>
              </a:rPr>
              <a:t> =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0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U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U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2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U</a:t>
            </a:r>
            <a:r>
              <a:rPr lang="th-TH" altLang="en-US" dirty="0">
                <a:ea typeface="Cordia New"/>
                <a:sym typeface="Symbol" pitchFamily="18" charset="2"/>
              </a:rPr>
              <a:t>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IN" altLang="en-US" baseline="30000" dirty="0">
                <a:ea typeface="Cordia New"/>
                <a:cs typeface="Cordia New"/>
                <a:sym typeface="Symbol" pitchFamily="18" charset="2"/>
              </a:rPr>
              <a:t>3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 ……..  = {</a:t>
            </a:r>
            <a:r>
              <a:rPr lang="en-IN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ε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, a, b, </a:t>
            </a:r>
            <a:r>
              <a:rPr lang="en-US" altLang="en-US" dirty="0" err="1">
                <a:ea typeface="Cordia New"/>
                <a:cs typeface="Tahoma" pitchFamily="34" charset="0"/>
                <a:sym typeface="Symbol" pitchFamily="18" charset="2"/>
              </a:rPr>
              <a:t>aa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, </a:t>
            </a:r>
            <a:r>
              <a:rPr lang="en-US" altLang="en-US" dirty="0" err="1">
                <a:ea typeface="Cordia New"/>
                <a:cs typeface="Tahoma" pitchFamily="34" charset="0"/>
                <a:sym typeface="Symbol" pitchFamily="18" charset="2"/>
              </a:rPr>
              <a:t>ab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, </a:t>
            </a:r>
            <a:r>
              <a:rPr lang="en-US" altLang="en-US" dirty="0" err="1">
                <a:ea typeface="Cordia New"/>
                <a:cs typeface="Tahoma" pitchFamily="34" charset="0"/>
                <a:sym typeface="Symbol" pitchFamily="18" charset="2"/>
              </a:rPr>
              <a:t>ba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, bb, </a:t>
            </a:r>
            <a:r>
              <a:rPr lang="en-US" altLang="en-US" dirty="0" err="1">
                <a:ea typeface="Cordia New"/>
                <a:cs typeface="Tahoma" pitchFamily="34" charset="0"/>
                <a:sym typeface="Symbol" pitchFamily="18" charset="2"/>
              </a:rPr>
              <a:t>aaa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,….}</a:t>
            </a:r>
            <a:endParaRPr lang="en-IN" altLang="en-US" dirty="0"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That is,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 </a:t>
            </a:r>
            <a:r>
              <a:rPr lang="en-US" altLang="en-US" baseline="30000" dirty="0">
                <a:ea typeface="Cordia New"/>
                <a:cs typeface="Tahoma" pitchFamily="34" charset="0"/>
              </a:rPr>
              <a:t>=</a:t>
            </a:r>
            <a:r>
              <a:rPr lang="en-US" altLang="en-US" dirty="0">
                <a:ea typeface="Cordia New"/>
                <a:cs typeface="Tahoma" pitchFamily="34" charset="0"/>
              </a:rPr>
              <a:t> 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</a:t>
            </a:r>
            <a:r>
              <a:rPr lang="en-US" altLang="en-US" i="1" baseline="-25000" dirty="0" err="1">
                <a:latin typeface="Times New Roman" pitchFamily="18" charset="0"/>
                <a:ea typeface="Cordia New"/>
                <a:cs typeface="Tahoma" pitchFamily="34" charset="0"/>
                <a:sym typeface="Symbol" pitchFamily="18" charset="2"/>
              </a:rPr>
              <a:t>i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Tahoma" pitchFamily="34" charset="0"/>
                <a:sym typeface="Symbol" pitchFamily="18" charset="2"/>
              </a:rPr>
              <a:t>=</a:t>
            </a:r>
            <a:r>
              <a:rPr lang="en-US" altLang="en-US" baseline="30000" dirty="0">
                <a:ea typeface="Cordia New"/>
                <a:cs typeface="Tahoma" pitchFamily="34" charset="0"/>
                <a:sym typeface="Symbol" pitchFamily="18" charset="2"/>
              </a:rPr>
              <a:t>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Tahoma" pitchFamily="34" charset="0"/>
                <a:sym typeface="Symbol" pitchFamily="18" charset="2"/>
              </a:rPr>
              <a:t>0</a:t>
            </a:r>
            <a:r>
              <a:rPr lang="th-TH" altLang="en-US" baseline="30000" dirty="0">
                <a:ea typeface="Cordia New"/>
                <a:cs typeface="Tahoma" pitchFamily="34" charset="0"/>
                <a:sym typeface="Symbol" pitchFamily="18" charset="2"/>
              </a:rPr>
              <a:t>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US" altLang="en-US" i="1" baseline="40000" dirty="0" err="1">
                <a:latin typeface="Times New Roman" pitchFamily="18" charset="0"/>
                <a:ea typeface="Cordia New"/>
                <a:cs typeface="Tahoma" pitchFamily="34" charset="0"/>
              </a:rPr>
              <a:t>i</a:t>
            </a:r>
            <a:endParaRPr lang="en-IN" altLang="en-US" dirty="0">
              <a:ea typeface="Cordia New"/>
              <a:cs typeface="Cordia New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Tahoma" pitchFamily="34" charset="0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Cordia New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Cordia New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</a:pPr>
            <a:endParaRPr lang="en-IN" altLang="en-US" dirty="0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solidFill>
                  <a:srgbClr val="FF0000"/>
                </a:solidFill>
                <a:ea typeface="Angsana New"/>
                <a:cs typeface="Angsana New"/>
              </a:rPr>
              <a:t>Positive 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The Positive closure of </a:t>
            </a: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en-IN" altLang="en-US" dirty="0">
                <a:ea typeface="Cordia New"/>
                <a:cs typeface="Cordia New"/>
                <a:sym typeface="Symbol" pitchFamily="18" charset="2"/>
              </a:rPr>
              <a:t>, denoted by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US" altLang="en-US" baseline="30000" dirty="0">
                <a:ea typeface="Cordia New"/>
                <a:cs typeface="Tahoma" pitchFamily="34" charset="0"/>
                <a:sym typeface="Symbol" pitchFamily="18" charset="2"/>
              </a:rPr>
              <a:t>+</a:t>
            </a:r>
            <a:r>
              <a:rPr lang="en-IN" altLang="en-US" dirty="0">
                <a:ea typeface="Cordia New"/>
                <a:cs typeface="Tahoma" pitchFamily="34" charset="0"/>
              </a:rPr>
              <a:t> is defined as follows:</a:t>
            </a:r>
          </a:p>
          <a:p>
            <a:pPr marL="0" indent="0">
              <a:lnSpc>
                <a:spcPct val="80000"/>
              </a:lnSpc>
              <a:buNone/>
            </a:pPr>
            <a:endParaRPr lang="en-IN" altLang="en-US" dirty="0">
              <a:ea typeface="Cordia New"/>
              <a:cs typeface="Tahoma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US" altLang="en-US" baseline="30000" dirty="0">
                <a:ea typeface="Cordia New"/>
                <a:cs typeface="Tahoma" pitchFamily="34" charset="0"/>
              </a:rPr>
              <a:t>+</a:t>
            </a:r>
            <a:r>
              <a:rPr lang="en-US" altLang="en-US" dirty="0">
                <a:ea typeface="Cordia New"/>
                <a:cs typeface="Tahoma" pitchFamily="34" charset="0"/>
              </a:rPr>
              <a:t> =</a:t>
            </a:r>
            <a:r>
              <a:rPr lang="en-US" altLang="en-US" baseline="30000" dirty="0">
                <a:ea typeface="Cordia New"/>
                <a:cs typeface="Tahoma" pitchFamily="34" charset="0"/>
              </a:rPr>
              <a:t>  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</a:t>
            </a:r>
            <a:r>
              <a:rPr lang="en-US" altLang="en-US" baseline="30000" dirty="0">
                <a:ea typeface="Cordia New"/>
                <a:cs typeface="Tahoma" pitchFamily="34" charset="0"/>
              </a:rPr>
              <a:t>  </a:t>
            </a:r>
            <a:r>
              <a:rPr lang="en-US" altLang="en-US" dirty="0">
                <a:ea typeface="Cordia New"/>
                <a:cs typeface="Tahoma" pitchFamily="34" charset="0"/>
              </a:rPr>
              <a:t>-{ </a:t>
            </a:r>
            <a:r>
              <a:rPr lang="en-IN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ε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 }         or        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US" altLang="en-US" baseline="30000" dirty="0">
                <a:ea typeface="Cordia New"/>
                <a:cs typeface="Tahoma" pitchFamily="34" charset="0"/>
              </a:rPr>
              <a:t>+ </a:t>
            </a:r>
            <a:r>
              <a:rPr lang="en-US" altLang="en-US" dirty="0">
                <a:ea typeface="Cordia New"/>
                <a:cs typeface="Tahoma" pitchFamily="34" charset="0"/>
              </a:rPr>
              <a:t> = 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</a:t>
            </a:r>
            <a:r>
              <a:rPr lang="en-US" altLang="en-US" i="1" baseline="-25000" dirty="0" err="1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i</a:t>
            </a:r>
            <a:r>
              <a:rPr lang="en-US" altLang="en-US" sz="1800" baseline="36000" dirty="0">
                <a:ea typeface="Cordia New"/>
                <a:cs typeface="Cordia New"/>
                <a:sym typeface="Symbol" pitchFamily="18" charset="2"/>
              </a:rPr>
              <a:t></a:t>
            </a:r>
            <a:r>
              <a:rPr lang="en-US" altLang="en-US" baseline="-25000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= 1 </a:t>
            </a:r>
            <a:r>
              <a:rPr lang="th-TH" altLang="en-US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∑</a:t>
            </a:r>
            <a:r>
              <a:rPr lang="en-US" altLang="en-US" i="1" baseline="30000" dirty="0" err="1">
                <a:latin typeface="Times New Roman" pitchFamily="18" charset="0"/>
                <a:ea typeface="Cordia New"/>
                <a:cs typeface="Cordia New"/>
              </a:rPr>
              <a:t>i</a:t>
            </a:r>
            <a:endParaRPr lang="en-US" altLang="en-US" dirty="0">
              <a:ea typeface="Cordia New"/>
              <a:cs typeface="Tahoma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baseline="30000" dirty="0">
              <a:ea typeface="Cordia New"/>
              <a:cs typeface="Tahoma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457200"/>
            <a:ext cx="78867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Operations on Languages</a:t>
            </a:r>
          </a:p>
        </p:txBody>
      </p:sp>
      <p:sp>
        <p:nvSpPr>
          <p:cNvPr id="4608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58950"/>
            <a:ext cx="7886700" cy="3608388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l-GR" altLang="en-US" dirty="0">
                <a:latin typeface="Times New Roman" pitchFamily="18" charset="0"/>
                <a:ea typeface="Cordia New"/>
                <a:cs typeface="Times New Roman" pitchFamily="18" charset="0"/>
                <a:sym typeface="+mn-ea"/>
              </a:rPr>
              <a:t>Σ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</a:t>
            </a:r>
            <a:r>
              <a:rPr lang="en-US" altLang="en-US" dirty="0">
                <a:ea typeface="Cordia New"/>
                <a:cs typeface="Tahoma" pitchFamily="34" charset="0"/>
              </a:rPr>
              <a:t> denotes the set of all finite strings over </a:t>
            </a: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en-US" altLang="en-US" dirty="0">
                <a:ea typeface="Cordia New"/>
                <a:cs typeface="Cordia New"/>
              </a:rPr>
              <a:t> 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A formal language L over the alphabet </a:t>
            </a: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en-US" altLang="en-US" baseline="30000" dirty="0">
                <a:ea typeface="Cordia New"/>
                <a:cs typeface="Tahoma" pitchFamily="34" charset="0"/>
                <a:sym typeface="Symbol" pitchFamily="18" charset="2"/>
              </a:rPr>
              <a:t> </a:t>
            </a:r>
            <a:r>
              <a:rPr lang="en-US" altLang="en-US" dirty="0">
                <a:ea typeface="Cordia New"/>
                <a:cs typeface="Tahoma" pitchFamily="34" charset="0"/>
                <a:sym typeface="Symbol" pitchFamily="18" charset="2"/>
              </a:rPr>
              <a:t> is a subset of </a:t>
            </a: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</a:t>
            </a:r>
            <a:endParaRPr lang="en-US" altLang="en-US" baseline="30000" dirty="0">
              <a:ea typeface="Cordia New"/>
              <a:cs typeface="Tahoma" pitchFamily="34" charset="0"/>
            </a:endParaRPr>
          </a:p>
          <a:p>
            <a:pPr eaLnBrk="1" hangingPunct="1"/>
            <a:r>
              <a:rPr lang="en-US" altLang="en-US" dirty="0">
                <a:ea typeface="Cordia New"/>
                <a:cs typeface="Tahoma" pitchFamily="34" charset="0"/>
              </a:rPr>
              <a:t> That is  L is a subset of  </a:t>
            </a:r>
            <a:r>
              <a:rPr lang="th-TH" altLang="en-US" dirty="0">
                <a:ea typeface="Cordia New"/>
                <a:sym typeface="Symbol" pitchFamily="18" charset="2"/>
              </a:rPr>
              <a:t></a:t>
            </a:r>
            <a:r>
              <a:rPr lang="th-TH" altLang="en-US" baseline="30000" dirty="0">
                <a:ea typeface="Cordia New"/>
                <a:cs typeface="Tahoma" pitchFamily="34" charset="0"/>
              </a:rPr>
              <a:t>*</a:t>
            </a:r>
            <a:endParaRPr lang="en-US" altLang="en-US" dirty="0">
              <a:ea typeface="Cordia New"/>
              <a:cs typeface="Tahoma" pitchFamily="34" charset="0"/>
            </a:endParaRPr>
          </a:p>
          <a:p>
            <a:pPr marL="628650" lvl="1" indent="-285750"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US" altLang="en-US" sz="2100" dirty="0">
                <a:ea typeface="Cordia New"/>
                <a:cs typeface="Times New Roman" pitchFamily="18" charset="0"/>
              </a:rPr>
              <a:t>Let </a:t>
            </a:r>
            <a:r>
              <a:rPr lang="el-GR" altLang="en-US" sz="2100" dirty="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100" dirty="0">
                <a:latin typeface="Times New Roman" pitchFamily="18" charset="0"/>
                <a:ea typeface="Cordia New"/>
                <a:cs typeface="Times New Roman" pitchFamily="18" charset="0"/>
              </a:rPr>
              <a:t> = {</a:t>
            </a:r>
            <a:r>
              <a:rPr lang="en-US" altLang="en-US" sz="2100" i="1" dirty="0">
                <a:latin typeface="Times New Roman" pitchFamily="18" charset="0"/>
                <a:ea typeface="Cordia New"/>
                <a:cs typeface="Times New Roman" pitchFamily="18" charset="0"/>
              </a:rPr>
              <a:t>0</a:t>
            </a:r>
            <a:r>
              <a:rPr lang="en-US" altLang="en-US" sz="2100" dirty="0">
                <a:latin typeface="Times New Roman" pitchFamily="18" charset="0"/>
                <a:ea typeface="Cordia New"/>
                <a:cs typeface="Times New Roman" pitchFamily="18" charset="0"/>
              </a:rPr>
              <a:t>, </a:t>
            </a:r>
            <a:r>
              <a:rPr lang="en-US" altLang="en-US" sz="2100" i="1" dirty="0">
                <a:latin typeface="Times New Roman" pitchFamily="18" charset="0"/>
                <a:ea typeface="Cordia New"/>
                <a:cs typeface="Times New Roman" pitchFamily="18" charset="0"/>
              </a:rPr>
              <a:t>1</a:t>
            </a:r>
            <a:r>
              <a:rPr lang="en-US" altLang="en-US" sz="2100" dirty="0">
                <a:latin typeface="Times New Roman" pitchFamily="18" charset="0"/>
                <a:ea typeface="Cordia New"/>
                <a:cs typeface="Times New Roman" pitchFamily="18" charset="0"/>
              </a:rPr>
              <a:t>} </a:t>
            </a:r>
            <a:r>
              <a:rPr lang="en-US" altLang="en-US" sz="2100" dirty="0">
                <a:ea typeface="Cordia New"/>
                <a:cs typeface="Times New Roman" pitchFamily="18" charset="0"/>
              </a:rPr>
              <a:t>be the alphabet.</a:t>
            </a:r>
          </a:p>
          <a:p>
            <a:pPr marL="628650" lvl="1" indent="-285750"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US" altLang="en-US" sz="2100" i="1" dirty="0">
                <a:latin typeface="Times New Roman" pitchFamily="18" charset="0"/>
                <a:ea typeface="Angsana New"/>
                <a:cs typeface="Angsana New"/>
              </a:rPr>
              <a:t>L</a:t>
            </a:r>
            <a:r>
              <a:rPr lang="en-US" altLang="en-US" sz="2100" dirty="0">
                <a:ea typeface="Angsana New"/>
                <a:cs typeface="Angsana New"/>
              </a:rPr>
              <a:t> = {</a:t>
            </a:r>
            <a:r>
              <a:rPr lang="en-US" altLang="en-US" sz="2100" dirty="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100" dirty="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100" dirty="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100" dirty="0">
                <a:ea typeface="Angsana New"/>
                <a:cs typeface="Angsana New"/>
              </a:rPr>
              <a:t> | the number  of </a:t>
            </a:r>
            <a:r>
              <a:rPr lang="en-US" altLang="en-US" sz="2100" i="1" dirty="0">
                <a:latin typeface="Times New Roman" pitchFamily="18" charset="0"/>
                <a:ea typeface="Angsana New"/>
                <a:cs typeface="Angsana New"/>
              </a:rPr>
              <a:t>1</a:t>
            </a:r>
            <a:r>
              <a:rPr lang="en-US" altLang="en-US" sz="2100" dirty="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100" dirty="0">
                <a:ea typeface="Angsana New"/>
                <a:cs typeface="Angsana New"/>
              </a:rPr>
              <a:t>s in </a:t>
            </a:r>
            <a:r>
              <a:rPr lang="en-US" altLang="en-US" sz="2100" dirty="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100" dirty="0">
                <a:ea typeface="Angsana New"/>
                <a:cs typeface="Angsana New"/>
              </a:rPr>
              <a:t> is even}.</a:t>
            </a:r>
            <a:endParaRPr lang="el-GR" altLang="en-US" sz="2100" dirty="0">
              <a:ea typeface="Angsana New"/>
              <a:cs typeface="Angsana New"/>
            </a:endParaRPr>
          </a:p>
          <a:p>
            <a:pPr marL="628650" lvl="1" indent="-285750"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IN" altLang="en-US" sz="2100" dirty="0">
                <a:latin typeface="Arial" pitchFamily="34" charset="0"/>
                <a:ea typeface="Cordia New"/>
                <a:cs typeface="Arial" pitchFamily="34" charset="0"/>
                <a:sym typeface="Symbol" pitchFamily="18" charset="2"/>
              </a:rPr>
              <a:t>ε</a:t>
            </a:r>
            <a:r>
              <a:rPr lang="th-TH" altLang="en-US" sz="2100" dirty="0">
                <a:latin typeface="Browallia New"/>
                <a:ea typeface="Cordia New"/>
              </a:rPr>
              <a:t>, </a:t>
            </a:r>
            <a:r>
              <a:rPr lang="en-US" altLang="en-US" sz="2100" i="1" dirty="0">
                <a:latin typeface="Times New Roman" pitchFamily="18" charset="0"/>
                <a:ea typeface="Cordia New"/>
                <a:cs typeface="Cordia New"/>
              </a:rPr>
              <a:t>0, 00, 11, 000, 110, 101, 011, 0000, 1100, 1010, 1001, 0110, 0101, 0011, </a:t>
            </a:r>
            <a:r>
              <a:rPr lang="th-TH" altLang="en-US" sz="2100" dirty="0">
                <a:latin typeface="Times New Roman" pitchFamily="18" charset="0"/>
                <a:ea typeface="Cordia New"/>
              </a:rPr>
              <a:t>…</a:t>
            </a:r>
            <a:r>
              <a:rPr lang="th-TH" altLang="en-US" sz="2100" dirty="0">
                <a:latin typeface="Browallia New"/>
                <a:ea typeface="Cordia New"/>
              </a:rPr>
              <a:t> </a:t>
            </a:r>
            <a:r>
              <a:rPr lang="en-US" altLang="en-US" sz="2100" dirty="0">
                <a:ea typeface="Cordia New"/>
                <a:cs typeface="Cordia New"/>
              </a:rPr>
              <a:t>are in</a:t>
            </a:r>
            <a:r>
              <a:rPr lang="th-TH" altLang="en-US" sz="2100" dirty="0">
                <a:ea typeface="Cordia New"/>
              </a:rPr>
              <a:t> </a:t>
            </a:r>
            <a:r>
              <a:rPr lang="th-TH" altLang="en-US" sz="2100" i="1" dirty="0">
                <a:latin typeface="Times New Roman" pitchFamily="18" charset="0"/>
                <a:ea typeface="Cordia New"/>
              </a:rPr>
              <a:t>L</a:t>
            </a:r>
            <a:endParaRPr lang="th-TH" altLang="en-US" sz="2100" i="1" baseline="-25000" dirty="0">
              <a:latin typeface="Times New Roman" pitchFamily="18" charset="0"/>
              <a:ea typeface="Cordia New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</p:txBody>
      </p:sp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0" y="660400"/>
            <a:ext cx="1381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 anchor="ctr">
            <a:spAutoFit/>
          </a:bodyPr>
          <a:lstStyle/>
          <a:p>
            <a:pPr eaLnBrk="1" hangingPunct="1"/>
            <a:endParaRPr lang="en-US" altLang="en-US" sz="2100"/>
          </a:p>
        </p:txBody>
      </p:sp>
      <p:pic>
        <p:nvPicPr>
          <p:cNvPr id="4608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857250"/>
            <a:ext cx="8572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6" name="Rectangle 4"/>
          <p:cNvSpPr>
            <a:spLocks noChangeArrowheads="1"/>
          </p:cNvSpPr>
          <p:nvPr/>
        </p:nvSpPr>
        <p:spPr bwMode="auto">
          <a:xfrm>
            <a:off x="0" y="660400"/>
            <a:ext cx="1381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 anchor="ctr">
            <a:spAutoFit/>
          </a:bodyPr>
          <a:lstStyle/>
          <a:p>
            <a:pPr eaLnBrk="1" hangingPunct="1"/>
            <a:endParaRPr lang="en-US" altLang="en-US" sz="2100"/>
          </a:p>
        </p:txBody>
      </p:sp>
      <p:pic>
        <p:nvPicPr>
          <p:cNvPr id="4608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857250"/>
            <a:ext cx="8572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457200"/>
            <a:ext cx="7886700" cy="803275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Operations on Languages</a:t>
            </a:r>
            <a:endParaRPr lang="en-US" altLang="en-US" dirty="0">
              <a:ea typeface="Angsana New"/>
              <a:cs typeface="Angsana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54213"/>
            <a:ext cx="7886700" cy="3311525"/>
          </a:xfrm>
        </p:spPr>
        <p:txBody>
          <a:bodyPr rtlCol="0">
            <a:normAutofit fontScale="77500" lnSpcReduction="20000"/>
          </a:bodyPr>
          <a:lstStyle/>
          <a:p>
            <a:pPr marL="428625" indent="-428625" eaLnBrk="1" fontAlgn="auto" hangingPunct="1">
              <a:lnSpc>
                <a:spcPct val="130000"/>
              </a:lnSpc>
              <a:spcBef>
                <a:spcPct val="35000"/>
              </a:spcBef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Complementation</a:t>
            </a:r>
          </a:p>
          <a:p>
            <a:pPr marL="428625" indent="-428625" eaLnBrk="1" fontAlgn="auto" hangingPunct="1">
              <a:lnSpc>
                <a:spcPct val="130000"/>
              </a:lnSpc>
              <a:spcBef>
                <a:spcPct val="35000"/>
              </a:spcBef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Union</a:t>
            </a:r>
          </a:p>
          <a:p>
            <a:pPr marL="428625" indent="-428625" eaLnBrk="1" fontAlgn="auto" hangingPunct="1">
              <a:lnSpc>
                <a:spcPct val="130000"/>
              </a:lnSpc>
              <a:spcBef>
                <a:spcPct val="35000"/>
              </a:spcBef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Intersection</a:t>
            </a:r>
          </a:p>
          <a:p>
            <a:pPr marL="428625" indent="-428625" eaLnBrk="1" fontAlgn="auto" hangingPunct="1">
              <a:lnSpc>
                <a:spcPct val="130000"/>
              </a:lnSpc>
              <a:spcBef>
                <a:spcPct val="35000"/>
              </a:spcBef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Concatenation</a:t>
            </a:r>
          </a:p>
          <a:p>
            <a:pPr marL="428625" indent="-428625" eaLnBrk="1" fontAlgn="auto" hangingPunct="1">
              <a:lnSpc>
                <a:spcPct val="130000"/>
              </a:lnSpc>
              <a:spcBef>
                <a:spcPct val="35000"/>
              </a:spcBef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Reversal</a:t>
            </a:r>
          </a:p>
          <a:p>
            <a:pPr marL="428625" indent="-428625" eaLnBrk="1" fontAlgn="auto" hangingPunct="1">
              <a:lnSpc>
                <a:spcPct val="130000"/>
              </a:lnSpc>
              <a:spcBef>
                <a:spcPct val="35000"/>
              </a:spcBef>
              <a:spcAft>
                <a:spcPts val="0"/>
              </a:spcAft>
              <a:defRPr/>
            </a:pPr>
            <a:r>
              <a:rPr lang="en-US" altLang="en-US" dirty="0">
                <a:ea typeface="+mn-ea"/>
              </a:rPr>
              <a:t>Closure</a:t>
            </a:r>
            <a:endParaRPr lang="th-TH" altLang="en-US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762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Complementation</a:t>
            </a:r>
          </a:p>
        </p:txBody>
      </p:sp>
      <p:sp>
        <p:nvSpPr>
          <p:cNvPr id="5017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895475"/>
            <a:ext cx="7886700" cy="35941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Let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>
                <a:ea typeface="Cordia New"/>
                <a:cs typeface="Cordia New"/>
              </a:rPr>
              <a:t> be a language over an alphabet </a:t>
            </a:r>
            <a:r>
              <a:rPr lang="el-GR" altLang="en-US" sz="240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400">
                <a:ea typeface="Cordia New"/>
                <a:cs typeface="Times New Roman" pitchFamily="18" charset="0"/>
              </a:rPr>
              <a:t>.  </a:t>
            </a:r>
          </a:p>
          <a:p>
            <a:pPr eaLnBrk="1" hangingPunct="1"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The complementation of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>
                <a:ea typeface="Cordia New"/>
                <a:cs typeface="Times New Roman" pitchFamily="18" charset="0"/>
              </a:rPr>
              <a:t>, </a:t>
            </a:r>
            <a:r>
              <a:rPr lang="en-US" altLang="en-US">
                <a:ea typeface="Cordia New"/>
                <a:cs typeface="Times New Roman" pitchFamily="18" charset="0"/>
              </a:rPr>
              <a:t>denoted by </a:t>
            </a:r>
            <a:r>
              <a:rPr lang="en-US" altLang="en-US" sz="2400">
                <a:ea typeface="Cordia New"/>
                <a:cs typeface="Times New Roman" pitchFamily="18" charset="0"/>
                <a:sym typeface="Symbol" pitchFamily="18" charset="2"/>
              </a:rPr>
              <a:t></a:t>
            </a:r>
            <a:r>
              <a:rPr lang="en-US" altLang="en-US" sz="2400">
                <a:latin typeface="Times New Roman" pitchFamily="18" charset="0"/>
                <a:ea typeface="Cordia New"/>
                <a:cs typeface="Times New Roman" pitchFamily="18" charset="0"/>
              </a:rPr>
              <a:t>L ( or L’)</a:t>
            </a:r>
            <a:r>
              <a:rPr lang="en-US" altLang="en-US" sz="2400">
                <a:ea typeface="Cordia New"/>
                <a:cs typeface="Times New Roman" pitchFamily="18" charset="0"/>
              </a:rPr>
              <a:t>, </a:t>
            </a:r>
            <a:r>
              <a:rPr lang="en-US" altLang="en-US" sz="2400">
                <a:ea typeface="Cordia New"/>
                <a:cs typeface="Cordia New"/>
              </a:rPr>
              <a:t>is </a:t>
            </a:r>
            <a:r>
              <a:rPr lang="el-GR" altLang="en-US" sz="240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400">
                <a:ea typeface="Cordia New"/>
                <a:cs typeface="Arial" pitchFamily="34" charset="0"/>
              </a:rPr>
              <a:t>*</a:t>
            </a:r>
            <a:r>
              <a:rPr lang="en-US" altLang="en-US" sz="2400">
                <a:ea typeface="Cordia New"/>
                <a:cs typeface="Cordia New"/>
              </a:rPr>
              <a:t>– </a:t>
            </a:r>
            <a:r>
              <a:rPr lang="en-US" altLang="en-US" sz="240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>
                <a:ea typeface="Cordia New"/>
                <a:cs typeface="Cordia New"/>
              </a:rPr>
              <a:t>.</a:t>
            </a:r>
          </a:p>
          <a:p>
            <a:pPr eaLnBrk="1" hangingPunct="1"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Example: </a:t>
            </a:r>
          </a:p>
          <a:p>
            <a:pPr lvl="1" eaLnBrk="1" hangingPunct="1"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100">
                <a:ea typeface="Cordia New"/>
                <a:cs typeface="Times New Roman" pitchFamily="18" charset="0"/>
              </a:rPr>
              <a:t>Let </a:t>
            </a: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 = {</a:t>
            </a:r>
            <a:r>
              <a:rPr lang="en-US" altLang="en-US" sz="2100" i="1">
                <a:latin typeface="Times New Roman" pitchFamily="18" charset="0"/>
                <a:ea typeface="Cordia New"/>
                <a:cs typeface="Times New Roman" pitchFamily="18" charset="0"/>
              </a:rPr>
              <a:t>0</a:t>
            </a: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, </a:t>
            </a:r>
            <a:r>
              <a:rPr lang="en-US" altLang="en-US" sz="2100" i="1">
                <a:latin typeface="Times New Roman" pitchFamily="18" charset="0"/>
                <a:ea typeface="Cordia New"/>
                <a:cs typeface="Times New Roman" pitchFamily="18" charset="0"/>
              </a:rPr>
              <a:t>1</a:t>
            </a: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} </a:t>
            </a:r>
            <a:r>
              <a:rPr lang="en-US" altLang="en-US" sz="2100">
                <a:ea typeface="Cordia New"/>
                <a:cs typeface="Times New Roman" pitchFamily="18" charset="0"/>
              </a:rPr>
              <a:t>be the alphabet.</a:t>
            </a:r>
          </a:p>
          <a:p>
            <a:pPr lvl="1" eaLnBrk="1" hangingPunct="1"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L</a:t>
            </a:r>
            <a:r>
              <a:rPr lang="en-US" altLang="en-US" sz="2100" i="1">
                <a:latin typeface="Times New Roman" pitchFamily="18" charset="0"/>
                <a:ea typeface="Cordia New"/>
                <a:cs typeface="Times New Roman" pitchFamily="18" charset="0"/>
              </a:rPr>
              <a:t>  </a:t>
            </a:r>
            <a:r>
              <a:rPr lang="en-US" altLang="en-US" sz="2100">
                <a:ea typeface="Angsana New"/>
                <a:cs typeface="Angsana New"/>
              </a:rPr>
              <a:t>= {</a:t>
            </a:r>
            <a:r>
              <a:rPr lang="en-US" altLang="en-US" sz="210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10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100">
                <a:ea typeface="Angsana New"/>
                <a:cs typeface="Angsana New"/>
              </a:rPr>
              <a:t> | the number  of 1</a:t>
            </a:r>
            <a:r>
              <a:rPr lang="en-US" altLang="en-US" sz="210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100">
                <a:ea typeface="Angsana New"/>
                <a:cs typeface="Angsana New"/>
              </a:rPr>
              <a:t>s in </a:t>
            </a:r>
            <a:r>
              <a:rPr lang="en-US" altLang="en-US" sz="210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100">
                <a:ea typeface="Angsana New"/>
                <a:cs typeface="Angsana New"/>
              </a:rPr>
              <a:t> is even}.</a:t>
            </a:r>
            <a:endParaRPr lang="el-GR" altLang="en-US" sz="2100">
              <a:ea typeface="Angsana New"/>
              <a:cs typeface="Angsana New"/>
            </a:endParaRPr>
          </a:p>
          <a:p>
            <a:pPr lvl="1" eaLnBrk="1" hangingPunct="1"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L’ </a:t>
            </a:r>
            <a:r>
              <a:rPr lang="en-US" altLang="en-US" sz="2100">
                <a:ea typeface="Angsana New"/>
                <a:cs typeface="Angsana New"/>
              </a:rPr>
              <a:t>= {</a:t>
            </a:r>
            <a:r>
              <a:rPr lang="en-US" altLang="en-US" sz="210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10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100">
                <a:ea typeface="Angsana New"/>
                <a:cs typeface="Angsana New"/>
              </a:rPr>
              <a:t> | the number  of 1</a:t>
            </a:r>
            <a:r>
              <a:rPr lang="en-US" altLang="en-US" sz="210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100">
                <a:ea typeface="Angsana New"/>
                <a:cs typeface="Angsana New"/>
              </a:rPr>
              <a:t>s in </a:t>
            </a:r>
            <a:r>
              <a:rPr lang="en-US" altLang="en-US" sz="210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100">
                <a:ea typeface="Angsana New"/>
                <a:cs typeface="Angsana New"/>
              </a:rPr>
              <a:t> is not even}.</a:t>
            </a:r>
            <a:endParaRPr lang="el-GR" altLang="en-US" sz="2100">
              <a:ea typeface="Angsana New"/>
              <a:cs typeface="Angsana New"/>
            </a:endParaRPr>
          </a:p>
          <a:p>
            <a:pPr lvl="1" eaLnBrk="1" hangingPunct="1"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100">
                <a:latin typeface="Times New Roman" pitchFamily="18" charset="0"/>
                <a:ea typeface="Cordia New"/>
                <a:cs typeface="Times New Roman" pitchFamily="18" charset="0"/>
              </a:rPr>
              <a:t>L’ </a:t>
            </a:r>
            <a:r>
              <a:rPr lang="en-US" altLang="en-US" sz="2100">
                <a:ea typeface="Angsana New"/>
                <a:cs typeface="Angsana New"/>
              </a:rPr>
              <a:t>= {</a:t>
            </a:r>
            <a:r>
              <a:rPr lang="en-US" altLang="en-US" sz="210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10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10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100">
                <a:ea typeface="Angsana New"/>
                <a:cs typeface="Angsana New"/>
              </a:rPr>
              <a:t> | the number  of 1</a:t>
            </a:r>
            <a:r>
              <a:rPr lang="en-US" altLang="en-US" sz="210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100">
                <a:ea typeface="Angsana New"/>
                <a:cs typeface="Angsana New"/>
              </a:rPr>
              <a:t>s in </a:t>
            </a:r>
            <a:r>
              <a:rPr lang="en-US" altLang="en-US" sz="210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100">
                <a:ea typeface="Angsana New"/>
                <a:cs typeface="Angsana New"/>
              </a:rPr>
              <a:t> is odd}.</a:t>
            </a:r>
            <a:endParaRPr lang="th-TH" altLang="en-US" sz="2100">
              <a:ea typeface="Angsana New"/>
              <a:cs typeface="Angsana New"/>
            </a:endParaRPr>
          </a:p>
          <a:p>
            <a:pPr eaLnBrk="1" hangingPunct="1"/>
            <a:endParaRPr lang="en-US" altLang="en-US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270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Union</a:t>
            </a:r>
          </a:p>
        </p:txBody>
      </p:sp>
      <p:sp>
        <p:nvSpPr>
          <p:cNvPr id="512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963738"/>
            <a:ext cx="7886700" cy="352583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5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Let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>
                <a:ea typeface="Cordia New"/>
                <a:cs typeface="Cordia New"/>
              </a:rPr>
              <a:t> and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 be languages over an alphabet </a:t>
            </a:r>
            <a:r>
              <a:rPr lang="el-GR" altLang="en-US" sz="240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400">
                <a:ea typeface="Cordia New"/>
                <a:cs typeface="Times New Roman" pitchFamily="18" charset="0"/>
              </a:rPr>
              <a:t>.  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5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	The union of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sz="2400">
                <a:ea typeface="Cordia New"/>
                <a:cs typeface="Cordia New"/>
              </a:rPr>
              <a:t>and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,   denoted by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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,   is 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5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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 </a:t>
            </a:r>
            <a:r>
              <a:rPr lang="en-US" altLang="en-US" sz="2400">
                <a:ea typeface="Cordia New"/>
                <a:cs typeface="Cordia New"/>
              </a:rPr>
              <a:t> =  {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>
                <a:ea typeface="Cordia New"/>
                <a:cs typeface="Cordia New"/>
              </a:rPr>
              <a:t> |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>
                <a:ea typeface="Cordia New"/>
                <a:cs typeface="Cordia New"/>
              </a:rPr>
              <a:t> is in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sz="2400">
                <a:ea typeface="Cordia New"/>
                <a:cs typeface="Cordia New"/>
              </a:rPr>
              <a:t>or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 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}.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5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Example:</a:t>
            </a: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spcAft>
                <a:spcPct val="5000"/>
              </a:spcAft>
              <a:buFont typeface="Arial" pitchFamily="34" charset="0"/>
              <a:buNone/>
            </a:pPr>
            <a:r>
              <a:rPr lang="en-US" altLang="en-US" sz="2000">
                <a:ea typeface="Cordia New"/>
                <a:cs typeface="Cordia New"/>
              </a:rPr>
              <a:t>{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sz="2000">
                <a:ea typeface="Cordia New"/>
                <a:cs typeface="Cordia New"/>
              </a:rPr>
              <a:t>{0,1}* | 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begins with 0 } </a:t>
            </a:r>
            <a:r>
              <a:rPr lang="en-US" altLang="en-US" sz="210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 </a:t>
            </a:r>
            <a:r>
              <a:rPr lang="en-US" altLang="en-US" sz="2000">
                <a:ea typeface="Cordia New"/>
                <a:cs typeface="Cordia New"/>
              </a:rPr>
              <a:t>{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  <a:sym typeface="Symbol" pitchFamily="18" charset="2"/>
              </a:rPr>
              <a:t></a:t>
            </a:r>
            <a:r>
              <a:rPr lang="en-US" altLang="en-US" sz="2000">
                <a:ea typeface="Cordia New"/>
                <a:cs typeface="Cordia New"/>
              </a:rPr>
              <a:t>{0,1}*|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ends with 0} </a:t>
            </a: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spcAft>
                <a:spcPct val="5000"/>
              </a:spcAft>
              <a:buFont typeface="Arial" pitchFamily="34" charset="0"/>
              <a:buNone/>
            </a:pPr>
            <a:r>
              <a:rPr lang="en-US" altLang="en-US" sz="2000">
                <a:ea typeface="Cordia New"/>
                <a:cs typeface="Cordia New"/>
              </a:rPr>
              <a:t>	= {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</a:t>
            </a:r>
            <a:r>
              <a:rPr lang="en-US" altLang="en-US" sz="200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sz="2000">
                <a:ea typeface="Cordia New"/>
                <a:cs typeface="Cordia New"/>
              </a:rPr>
              <a:t>{0,1}*|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begins </a:t>
            </a:r>
            <a:r>
              <a:rPr lang="en-US" altLang="en-US" sz="2000">
                <a:solidFill>
                  <a:srgbClr val="FF0000"/>
                </a:solidFill>
                <a:ea typeface="Cordia New"/>
                <a:cs typeface="Cordia New"/>
              </a:rPr>
              <a:t>or</a:t>
            </a:r>
            <a:r>
              <a:rPr lang="en-US" altLang="en-US" sz="2000">
                <a:ea typeface="Cordia New"/>
                <a:cs typeface="Cordia New"/>
              </a:rPr>
              <a:t> ends with 0}</a:t>
            </a:r>
            <a:endParaRPr lang="th-TH" altLang="en-US" sz="2000">
              <a:ea typeface="Cordia New"/>
            </a:endParaRPr>
          </a:p>
          <a:p>
            <a:pPr eaLnBrk="1" hangingPunct="1"/>
            <a:endParaRPr lang="en-US" altLang="en-US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7143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Intersection</a:t>
            </a:r>
          </a:p>
        </p:txBody>
      </p:sp>
      <p:sp>
        <p:nvSpPr>
          <p:cNvPr id="522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2003425"/>
            <a:ext cx="7886700" cy="3486150"/>
          </a:xfrm>
        </p:spPr>
        <p:txBody>
          <a:bodyPr/>
          <a:lstStyle/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Let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>
                <a:ea typeface="Cordia New"/>
                <a:cs typeface="Cordia New"/>
              </a:rPr>
              <a:t> and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 be languages over an alphabet </a:t>
            </a:r>
            <a:r>
              <a:rPr lang="el-GR" altLang="en-US" sz="240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400">
                <a:ea typeface="Cordia New"/>
                <a:cs typeface="Times New Roman" pitchFamily="18" charset="0"/>
              </a:rPr>
              <a:t>.</a:t>
            </a:r>
          </a:p>
          <a:p>
            <a:pPr marL="428625" indent="-428625" eaLnBrk="1" hangingPunct="1">
              <a:lnSpc>
                <a:spcPct val="120000"/>
              </a:lnSpc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	The intersection of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sz="2400">
                <a:ea typeface="Cordia New"/>
                <a:cs typeface="Cordia New"/>
              </a:rPr>
              <a:t>and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, denoted by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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, is {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>
                <a:ea typeface="Cordia New"/>
                <a:cs typeface="Cordia New"/>
              </a:rPr>
              <a:t> |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>
                <a:ea typeface="Cordia New"/>
                <a:cs typeface="Cordia New"/>
              </a:rPr>
              <a:t> is in 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sz="2400">
                <a:ea typeface="Cordia New"/>
                <a:cs typeface="Cordia New"/>
              </a:rPr>
              <a:t>and</a:t>
            </a:r>
            <a:r>
              <a:rPr lang="en-US" altLang="en-US" sz="2400" i="1">
                <a:latin typeface="Times New Roman" pitchFamily="18" charset="0"/>
                <a:ea typeface="Cordia New"/>
                <a:cs typeface="Cordia New"/>
              </a:rPr>
              <a:t> L</a:t>
            </a:r>
            <a:r>
              <a:rPr lang="en-US" altLang="en-US" sz="2400" i="1" baseline="-2500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>
                <a:ea typeface="Cordia New"/>
                <a:cs typeface="Cordia New"/>
              </a:rPr>
              <a:t>}.</a:t>
            </a:r>
          </a:p>
          <a:p>
            <a:pPr marL="428625" indent="-428625" eaLnBrk="1" hangingPunct="1">
              <a:lnSpc>
                <a:spcPct val="120000"/>
              </a:lnSpc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Example:</a:t>
            </a:r>
          </a:p>
          <a:p>
            <a:pPr marL="428625" indent="-428625" eaLnBrk="1" hangingPunct="1">
              <a:lnSpc>
                <a:spcPct val="120000"/>
              </a:lnSpc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>
                <a:ea typeface="Cordia New"/>
                <a:cs typeface="Cordia New"/>
              </a:rPr>
              <a:t> </a:t>
            </a:r>
            <a:r>
              <a:rPr lang="en-US" altLang="en-US" sz="2000">
                <a:ea typeface="Cordia New"/>
                <a:cs typeface="Cordia New"/>
              </a:rPr>
              <a:t>{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  <a:sym typeface="Symbol" pitchFamily="18" charset="2"/>
              </a:rPr>
              <a:t></a:t>
            </a:r>
            <a:r>
              <a:rPr lang="en-US" altLang="en-US" sz="2000">
                <a:ea typeface="Cordia New"/>
                <a:cs typeface="Cordia New"/>
              </a:rPr>
              <a:t>{0,1}* |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begins with 0} </a:t>
            </a:r>
            <a:r>
              <a:rPr lang="en-US" altLang="en-US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 </a:t>
            </a:r>
            <a:r>
              <a:rPr lang="en-US" altLang="en-US" sz="2000">
                <a:ea typeface="Cordia New"/>
                <a:cs typeface="Cordia New"/>
              </a:rPr>
              <a:t>{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  <a:sym typeface="Symbol" pitchFamily="18" charset="2"/>
              </a:rPr>
              <a:t></a:t>
            </a:r>
            <a:r>
              <a:rPr lang="en-US" altLang="en-US" sz="2000">
                <a:ea typeface="Cordia New"/>
                <a:cs typeface="Cordia New"/>
              </a:rPr>
              <a:t>{0,1}*|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ends with 0} </a:t>
            </a:r>
          </a:p>
          <a:p>
            <a:pPr marL="628650" lvl="1" indent="-285750" eaLnBrk="1" hangingPunct="1">
              <a:lnSpc>
                <a:spcPct val="115000"/>
              </a:lnSpc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000">
                <a:ea typeface="Cordia New"/>
                <a:cs typeface="Cordia New"/>
              </a:rPr>
              <a:t>	= {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  <a:sym typeface="Symbol" pitchFamily="18" charset="2"/>
              </a:rPr>
              <a:t></a:t>
            </a:r>
            <a:r>
              <a:rPr lang="en-US" altLang="en-US" sz="2000">
                <a:ea typeface="Cordia New"/>
                <a:cs typeface="Cordia New"/>
              </a:rPr>
              <a:t>{0,1}*| </a:t>
            </a:r>
            <a:r>
              <a:rPr lang="en-US" altLang="en-US" sz="2000" i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000">
                <a:ea typeface="Cordia New"/>
                <a:cs typeface="Cordia New"/>
              </a:rPr>
              <a:t> begins </a:t>
            </a:r>
            <a:r>
              <a:rPr lang="en-US" altLang="en-US" sz="2000">
                <a:solidFill>
                  <a:srgbClr val="FF0000"/>
                </a:solidFill>
                <a:ea typeface="Cordia New"/>
                <a:cs typeface="Cordia New"/>
              </a:rPr>
              <a:t>and</a:t>
            </a:r>
            <a:r>
              <a:rPr lang="en-US" altLang="en-US" sz="2000">
                <a:ea typeface="Cordia New"/>
                <a:cs typeface="Cordia New"/>
              </a:rPr>
              <a:t> ends with 0}</a:t>
            </a:r>
            <a:endParaRPr lang="th-TH" altLang="en-US" sz="2100">
              <a:ea typeface="Cordia New"/>
            </a:endParaRPr>
          </a:p>
          <a:p>
            <a:pPr marL="428625" indent="-428625" eaLnBrk="1" hangingPunct="1"/>
            <a:endParaRPr lang="en-US" altLang="en-US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609600"/>
            <a:ext cx="7886700" cy="7350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Concatenation</a:t>
            </a:r>
          </a:p>
        </p:txBody>
      </p:sp>
      <p:sp>
        <p:nvSpPr>
          <p:cNvPr id="532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14500"/>
            <a:ext cx="7886700" cy="4144963"/>
          </a:xfrm>
        </p:spPr>
        <p:txBody>
          <a:bodyPr>
            <a:normAutofit fontScale="70000" lnSpcReduction="20000"/>
          </a:bodyPr>
          <a:lstStyle/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Let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dirty="0">
                <a:ea typeface="Cordia New"/>
                <a:cs typeface="Cordia New"/>
              </a:rPr>
              <a:t> and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dirty="0">
                <a:ea typeface="Cordia New"/>
                <a:cs typeface="Cordia New"/>
              </a:rPr>
              <a:t> be languages over an alphabet </a:t>
            </a:r>
            <a:r>
              <a:rPr lang="el-GR" altLang="en-US" dirty="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dirty="0">
                <a:ea typeface="Cordia New"/>
                <a:cs typeface="Times New Roman" pitchFamily="18" charset="0"/>
              </a:rPr>
              <a:t>.  </a:t>
            </a:r>
          </a:p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Times New Roman" pitchFamily="18" charset="0"/>
              </a:rPr>
              <a:t>	The concatenation of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dirty="0">
                <a:ea typeface="Cordia New"/>
                <a:cs typeface="Cordia New"/>
              </a:rPr>
              <a:t> and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dirty="0">
                <a:ea typeface="Cordia New"/>
                <a:cs typeface="Cordia New"/>
              </a:rPr>
              <a:t>, denoted by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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dirty="0">
                <a:ea typeface="Cordia New"/>
                <a:cs typeface="Cordia New"/>
              </a:rPr>
              <a:t>, is {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w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w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2</a:t>
            </a:r>
            <a:r>
              <a:rPr lang="en-US" altLang="en-US" dirty="0">
                <a:ea typeface="Cordia New"/>
                <a:cs typeface="Cordia New"/>
              </a:rPr>
              <a:t>|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w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1 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is in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1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and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w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2 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is in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L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2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}</a:t>
            </a:r>
            <a:r>
              <a:rPr lang="en-US" altLang="en-US" dirty="0">
                <a:ea typeface="Cordia New"/>
                <a:cs typeface="Cordia New"/>
              </a:rPr>
              <a:t>.</a:t>
            </a:r>
          </a:p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Example</a:t>
            </a:r>
          </a:p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b="1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b="1" dirty="0">
                <a:ea typeface="Cordia New"/>
                <a:cs typeface="Cordia New"/>
              </a:rPr>
              <a:t>  = {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 </a:t>
            </a:r>
            <a:r>
              <a:rPr lang="en-US" altLang="en-US" b="1" dirty="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b="1" dirty="0">
                <a:ea typeface="Cordia New"/>
                <a:cs typeface="Cordia New"/>
              </a:rPr>
              <a:t>{0,1}*|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begins with 1}      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b="1" i="1" baseline="-25000" dirty="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b="1" dirty="0">
                <a:ea typeface="Cordia New"/>
                <a:cs typeface="Cordia New"/>
              </a:rPr>
              <a:t>  ={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</a:t>
            </a:r>
            <a:r>
              <a:rPr lang="en-US" altLang="en-US" b="1" dirty="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b="1" dirty="0">
                <a:ea typeface="Cordia New"/>
                <a:cs typeface="Cordia New"/>
              </a:rPr>
              <a:t>{0,1}*|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ends with 0}</a:t>
            </a:r>
            <a:r>
              <a:rPr lang="en-US" altLang="en-US" dirty="0">
                <a:ea typeface="Cordia New"/>
                <a:cs typeface="Cordia New"/>
              </a:rPr>
              <a:t> </a:t>
            </a:r>
          </a:p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    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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2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= {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{0,1}*|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begins with 1 and ends with 0 and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length</a:t>
            </a:r>
            <a:r>
              <a:rPr lang="en-US" altLang="en-US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(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) </a:t>
            </a:r>
            <a:r>
              <a:rPr lang="en-US" altLang="en-US" sz="18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</a:t>
            </a:r>
            <a:r>
              <a:rPr lang="en-US" altLang="en-US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sz="1800" dirty="0">
                <a:solidFill>
                  <a:srgbClr val="00B050"/>
                </a:solidFill>
                <a:ea typeface="Cordia New"/>
                <a:cs typeface="Cordia New"/>
              </a:rPr>
              <a:t>2} </a:t>
            </a:r>
          </a:p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sz="1800" b="1" dirty="0">
                <a:ea typeface="Cordia New"/>
                <a:cs typeface="Cordia New"/>
              </a:rPr>
              <a:t> </a:t>
            </a:r>
            <a:r>
              <a:rPr lang="en-US" altLang="en-US" sz="1800" b="1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1800" b="1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1800" b="1" dirty="0">
                <a:ea typeface="Cordia New"/>
                <a:cs typeface="Cordia New"/>
              </a:rPr>
              <a:t>  = {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</a:t>
            </a:r>
            <a:r>
              <a:rPr lang="en-US" altLang="en-US" b="1" dirty="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b="1" dirty="0">
                <a:ea typeface="Cordia New"/>
                <a:cs typeface="Cordia New"/>
              </a:rPr>
              <a:t>{0,1}*|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ends with 0}</a:t>
            </a:r>
            <a:r>
              <a:rPr lang="en-US" altLang="en-US" sz="2700" b="1" dirty="0">
                <a:ea typeface="Cordia New"/>
                <a:cs typeface="Cordia New"/>
                <a:sym typeface="Symbol" pitchFamily="18" charset="2"/>
              </a:rPr>
              <a:t>      </a:t>
            </a:r>
            <a:r>
              <a:rPr lang="en-US" altLang="en-US" sz="1800" b="1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1800" b="1" i="1" baseline="-25000" dirty="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1800" b="1" dirty="0">
                <a:ea typeface="Cordia New"/>
                <a:cs typeface="Cordia New"/>
                <a:sym typeface="Symbol" pitchFamily="18" charset="2"/>
              </a:rPr>
              <a:t> =</a:t>
            </a:r>
            <a:r>
              <a:rPr lang="en-US" altLang="en-US" sz="2700" b="1" dirty="0">
                <a:ea typeface="Cordia New"/>
                <a:cs typeface="Cordia New"/>
                <a:sym typeface="Symbol" pitchFamily="18" charset="2"/>
              </a:rPr>
              <a:t> </a:t>
            </a:r>
            <a:r>
              <a:rPr lang="en-US" altLang="en-US" b="1" dirty="0">
                <a:ea typeface="Cordia New"/>
                <a:cs typeface="Cordia New"/>
              </a:rPr>
              <a:t>{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</a:t>
            </a:r>
            <a:r>
              <a:rPr lang="en-US" altLang="en-US" b="1" dirty="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b="1" dirty="0">
                <a:ea typeface="Cordia New"/>
                <a:cs typeface="Cordia New"/>
              </a:rPr>
              <a:t>{0,1}*|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begins with 1}</a:t>
            </a:r>
            <a:r>
              <a:rPr lang="en-US" altLang="en-US" dirty="0">
                <a:ea typeface="Cordia New"/>
                <a:cs typeface="Cordia New"/>
              </a:rPr>
              <a:t> </a:t>
            </a:r>
          </a:p>
          <a:p>
            <a:pPr marL="428625" indent="-428625" eaLnBrk="1" hangingPunct="1">
              <a:lnSpc>
                <a:spcPct val="115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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-25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2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= = {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{0,1}*|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has 01 as a substring} </a:t>
            </a:r>
            <a:endParaRPr lang="el-GR" altLang="en-US" dirty="0">
              <a:solidFill>
                <a:srgbClr val="00B050"/>
              </a:solidFill>
              <a:ea typeface="Cordia New"/>
              <a:cs typeface="Cordia New"/>
            </a:endParaRPr>
          </a:p>
          <a:p>
            <a:pPr marL="428625" indent="-428625" eaLnBrk="1" hangingPunct="1"/>
            <a:endParaRPr lang="en-US" altLang="en-US" dirty="0">
              <a:solidFill>
                <a:srgbClr val="FF0000"/>
              </a:solidFill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7143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Reversal</a:t>
            </a:r>
          </a:p>
        </p:txBody>
      </p:sp>
      <p:sp>
        <p:nvSpPr>
          <p:cNvPr id="542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14500"/>
            <a:ext cx="7886700" cy="3775075"/>
          </a:xfrm>
        </p:spPr>
        <p:txBody>
          <a:bodyPr>
            <a:normAutofit fontScale="85000" lnSpcReduction="20000"/>
          </a:bodyPr>
          <a:lstStyle/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Let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dirty="0">
                <a:ea typeface="Cordia New"/>
                <a:cs typeface="Cordia New"/>
              </a:rPr>
              <a:t> be a language over an alphabet </a:t>
            </a:r>
            <a:r>
              <a:rPr lang="el-GR" altLang="en-US" dirty="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dirty="0">
                <a:ea typeface="Cordia New"/>
                <a:cs typeface="Times New Roman" pitchFamily="18" charset="0"/>
              </a:rPr>
              <a:t>.  </a:t>
            </a:r>
          </a:p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dirty="0">
                <a:ea typeface="Cordia New"/>
                <a:cs typeface="Times New Roman" pitchFamily="18" charset="0"/>
              </a:rPr>
              <a:t>The reversal of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dirty="0">
                <a:ea typeface="Cordia New"/>
                <a:cs typeface="Cordia New"/>
              </a:rPr>
              <a:t>, denoted by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30000" dirty="0">
                <a:latin typeface="Times New Roman" pitchFamily="18" charset="0"/>
                <a:ea typeface="Cordia New"/>
                <a:cs typeface="Cordia New"/>
              </a:rPr>
              <a:t>R</a:t>
            </a:r>
            <a:r>
              <a:rPr lang="en-US" altLang="en-US" dirty="0">
                <a:ea typeface="Cordia New"/>
                <a:cs typeface="Cordia New"/>
              </a:rPr>
              <a:t>, is {</a:t>
            </a:r>
            <a:r>
              <a:rPr lang="en-US" altLang="en-US" i="1" dirty="0" err="1">
                <a:latin typeface="Times New Roman" pitchFamily="18" charset="0"/>
                <a:ea typeface="Cordia New"/>
                <a:cs typeface="Cordia New"/>
              </a:rPr>
              <a:t>w</a:t>
            </a:r>
            <a:r>
              <a:rPr lang="en-US" altLang="en-US" i="1" baseline="30000" dirty="0" err="1">
                <a:latin typeface="Times New Roman" pitchFamily="18" charset="0"/>
                <a:ea typeface="Cordia New"/>
                <a:cs typeface="Cordia New"/>
              </a:rPr>
              <a:t>R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dirty="0">
                <a:ea typeface="Cordia New"/>
                <a:cs typeface="Cordia New"/>
              </a:rPr>
              <a:t>|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w</a:t>
            </a:r>
            <a:r>
              <a:rPr lang="en-US" altLang="en-US" i="1" baseline="-25000" dirty="0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is in</a:t>
            </a:r>
            <a:r>
              <a:rPr lang="en-US" altLang="en-US" i="1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L</a:t>
            </a:r>
            <a:r>
              <a:rPr lang="en-US" altLang="en-US" dirty="0">
                <a:ea typeface="Cordia New"/>
                <a:cs typeface="Cordia New"/>
                <a:sym typeface="Symbol" pitchFamily="18" charset="2"/>
              </a:rPr>
              <a:t>}</a:t>
            </a:r>
            <a:r>
              <a:rPr lang="en-US" altLang="en-US" dirty="0">
                <a:ea typeface="Cordia New"/>
                <a:cs typeface="Cordia New"/>
              </a:rPr>
              <a:t>.</a:t>
            </a:r>
          </a:p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Example</a:t>
            </a:r>
          </a:p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L =  </a:t>
            </a:r>
            <a:r>
              <a:rPr lang="en-US" altLang="en-US" b="1" dirty="0">
                <a:ea typeface="Cordia New"/>
                <a:cs typeface="Cordia New"/>
              </a:rPr>
              <a:t>{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 </a:t>
            </a:r>
            <a:r>
              <a:rPr lang="en-US" altLang="en-US" b="1" dirty="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b="1" dirty="0">
                <a:ea typeface="Cordia New"/>
                <a:cs typeface="Cordia New"/>
              </a:rPr>
              <a:t>{0,1}*|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begins with 1}              </a:t>
            </a:r>
            <a:endParaRPr lang="en-US" altLang="en-US" b="1" i="1" baseline="30000" dirty="0">
              <a:latin typeface="Times New Roman" pitchFamily="18" charset="0"/>
              <a:ea typeface="Cordia New"/>
              <a:cs typeface="Cordia New"/>
            </a:endParaRPr>
          </a:p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b="1" dirty="0">
                <a:ea typeface="Cordia New"/>
                <a:cs typeface="Cordia New"/>
              </a:rPr>
              <a:t> </a:t>
            </a:r>
            <a:r>
              <a:rPr lang="en-US" altLang="en-US" dirty="0">
                <a:ea typeface="Cordia New"/>
                <a:cs typeface="Cordia New"/>
              </a:rPr>
              <a:t>             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i="1" baseline="30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R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= {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{0,1}*|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ends with 1}</a:t>
            </a:r>
            <a:r>
              <a:rPr lang="en-US" altLang="en-US" dirty="0">
                <a:ea typeface="Cordia New"/>
                <a:cs typeface="Cordia New"/>
              </a:rPr>
              <a:t> </a:t>
            </a:r>
          </a:p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L =  </a:t>
            </a:r>
            <a:r>
              <a:rPr lang="en-US" altLang="en-US" b="1" dirty="0">
                <a:ea typeface="Cordia New"/>
                <a:cs typeface="Cordia New"/>
              </a:rPr>
              <a:t>{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</a:t>
            </a:r>
            <a:r>
              <a:rPr lang="en-US" altLang="en-US" b="1" dirty="0"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b="1" dirty="0">
                <a:ea typeface="Cordia New"/>
                <a:cs typeface="Cordia New"/>
              </a:rPr>
              <a:t>{0,1}*| </a:t>
            </a:r>
            <a:r>
              <a:rPr lang="en-US" altLang="en-US" b="1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b="1" dirty="0">
                <a:ea typeface="Cordia New"/>
                <a:cs typeface="Cordia New"/>
              </a:rPr>
              <a:t> has 10 as a substring}</a:t>
            </a:r>
            <a:r>
              <a:rPr lang="en-US" altLang="en-US" dirty="0">
                <a:ea typeface="Cordia New"/>
                <a:cs typeface="Cordia New"/>
              </a:rPr>
              <a:t>  </a:t>
            </a:r>
          </a:p>
          <a:p>
            <a:pPr marL="428625" indent="-428625" eaLnBrk="1" hangingPunct="1">
              <a:lnSpc>
                <a:spcPct val="120000"/>
              </a:lnSpc>
              <a:spcBef>
                <a:spcPct val="30000"/>
              </a:spcBef>
              <a:buFont typeface="Arial" pitchFamily="34" charset="0"/>
              <a:buNone/>
            </a:pPr>
            <a:r>
              <a:rPr lang="en-US" altLang="en-US" i="1" dirty="0">
                <a:latin typeface="Times New Roman" pitchFamily="18" charset="0"/>
                <a:ea typeface="Cordia New"/>
                <a:cs typeface="Cordia New"/>
              </a:rPr>
              <a:t>          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 L</a:t>
            </a:r>
            <a:r>
              <a:rPr lang="en-US" altLang="en-US" i="1" baseline="30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R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= {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 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{0,1}*| </a:t>
            </a:r>
            <a:r>
              <a:rPr lang="en-US" altLang="en-US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dirty="0">
                <a:solidFill>
                  <a:srgbClr val="00B050"/>
                </a:solidFill>
                <a:ea typeface="Cordia New"/>
                <a:cs typeface="Cordia New"/>
              </a:rPr>
              <a:t> has 01 as a substring}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</a:t>
            </a:r>
            <a:endParaRPr lang="el-GR" altLang="en-US" dirty="0">
              <a:solidFill>
                <a:srgbClr val="FF0000"/>
              </a:solidFill>
              <a:ea typeface="Cordia New"/>
              <a:cs typeface="Cordia New"/>
            </a:endParaRPr>
          </a:p>
          <a:p>
            <a:pPr marL="428625" indent="-428625" eaLnBrk="1" hangingPunct="1"/>
            <a:endParaRPr lang="en-US" altLang="en-US" dirty="0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381000"/>
            <a:ext cx="7886700" cy="6556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>
                <a:solidFill>
                  <a:srgbClr val="FF0000"/>
                </a:solidFill>
                <a:ea typeface="Angsana New"/>
                <a:cs typeface="Angsana New"/>
              </a:rPr>
              <a:t>Kleene’s</a:t>
            </a:r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 closure</a:t>
            </a:r>
          </a:p>
        </p:txBody>
      </p:sp>
      <p:sp>
        <p:nvSpPr>
          <p:cNvPr id="552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>
            <a:normAutofit/>
          </a:bodyPr>
          <a:lstStyle/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buFont typeface="Arial" pitchFamily="34" charset="0"/>
              <a:buNone/>
            </a:pPr>
            <a:r>
              <a:rPr lang="en-US" altLang="en-US" sz="2400" dirty="0">
                <a:ea typeface="Cordia New"/>
                <a:cs typeface="Cordia New"/>
              </a:rPr>
              <a:t>Let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dirty="0">
                <a:ea typeface="Cordia New"/>
                <a:cs typeface="Cordia New"/>
              </a:rPr>
              <a:t> be a language over an alphabet </a:t>
            </a:r>
            <a:r>
              <a:rPr lang="el-GR" altLang="en-US" sz="2400" dirty="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400" dirty="0">
                <a:ea typeface="Cordia New"/>
                <a:cs typeface="Times New Roman" pitchFamily="18" charset="0"/>
              </a:rPr>
              <a:t>.  </a:t>
            </a:r>
          </a:p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buFont typeface="Arial" pitchFamily="34" charset="0"/>
              <a:buNone/>
            </a:pPr>
            <a:r>
              <a:rPr lang="en-US" altLang="en-US" sz="2400" dirty="0">
                <a:ea typeface="Cordia New"/>
                <a:cs typeface="Cordia New"/>
              </a:rPr>
              <a:t>	The </a:t>
            </a:r>
            <a:r>
              <a:rPr lang="en-US" altLang="en-US" sz="2400" dirty="0" err="1">
                <a:ea typeface="Cordia New"/>
                <a:cs typeface="Cordia New"/>
              </a:rPr>
              <a:t>Kleene</a:t>
            </a:r>
            <a:r>
              <a:rPr lang="en-US" altLang="en-US" sz="2400" dirty="0" err="1">
                <a:latin typeface="Arial" pitchFamily="34" charset="0"/>
                <a:ea typeface="Cordia New"/>
                <a:cs typeface="Cordia New"/>
              </a:rPr>
              <a:t>’</a:t>
            </a:r>
            <a:r>
              <a:rPr lang="en-US" altLang="en-US" sz="2400" dirty="0" err="1">
                <a:ea typeface="Cordia New"/>
                <a:cs typeface="Cordia New"/>
              </a:rPr>
              <a:t>s</a:t>
            </a:r>
            <a:r>
              <a:rPr lang="en-US" altLang="en-US" sz="2400" dirty="0">
                <a:ea typeface="Cordia New"/>
                <a:cs typeface="Cordia New"/>
              </a:rPr>
              <a:t> closure of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dirty="0">
                <a:ea typeface="Cordia New"/>
                <a:cs typeface="Cordia New"/>
              </a:rPr>
              <a:t>, denoted by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L*</a:t>
            </a:r>
            <a:r>
              <a:rPr lang="en-US" altLang="en-US" sz="2400" dirty="0">
                <a:ea typeface="Cordia New"/>
                <a:cs typeface="Cordia New"/>
              </a:rPr>
              <a:t>, is {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 dirty="0">
                <a:ea typeface="Cordia New"/>
                <a:cs typeface="Cordia New"/>
              </a:rPr>
              <a:t> | for an integer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n </a:t>
            </a:r>
            <a:r>
              <a:rPr lang="en-US" altLang="en-US" sz="2400" dirty="0">
                <a:ea typeface="Cordia New"/>
                <a:cs typeface="Cordia New"/>
                <a:sym typeface="Symbol" pitchFamily="18" charset="2"/>
              </a:rPr>
              <a:t> </a:t>
            </a:r>
            <a:r>
              <a:rPr lang="en-US" altLang="en-US" sz="2400" dirty="0">
                <a:ea typeface="Cordia New"/>
                <a:cs typeface="Cordia New"/>
              </a:rPr>
              <a:t>0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x </a:t>
            </a:r>
            <a:r>
              <a:rPr lang="en-US" altLang="en-US" sz="2400" dirty="0">
                <a:ea typeface="Cordia New"/>
                <a:cs typeface="Cordia New"/>
              </a:rPr>
              <a:t>=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 x</a:t>
            </a:r>
            <a:r>
              <a:rPr lang="en-US" altLang="en-US" sz="2400" i="1" baseline="-25000" dirty="0">
                <a:latin typeface="Times New Roman" pitchFamily="18" charset="0"/>
                <a:ea typeface="Cordia New"/>
                <a:cs typeface="Cordia New"/>
              </a:rPr>
              <a:t>2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 … </a:t>
            </a:r>
            <a:r>
              <a:rPr lang="en-US" altLang="en-US" sz="2400" i="1" dirty="0" err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 i="1" baseline="-25000" dirty="0" err="1">
                <a:latin typeface="Times New Roman" pitchFamily="18" charset="0"/>
                <a:ea typeface="Cordia New"/>
                <a:cs typeface="Cordia New"/>
              </a:rPr>
              <a:t>n</a:t>
            </a:r>
            <a:r>
              <a:rPr lang="en-US" altLang="en-US" sz="2400" dirty="0">
                <a:ea typeface="Cordia New"/>
                <a:cs typeface="Cordia New"/>
              </a:rPr>
              <a:t> and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 i="1" baseline="-25000" dirty="0">
                <a:latin typeface="Times New Roman" pitchFamily="18" charset="0"/>
                <a:ea typeface="Cordia New"/>
                <a:cs typeface="Cordia New"/>
              </a:rPr>
              <a:t>1</a:t>
            </a:r>
            <a:r>
              <a:rPr lang="en-US" altLang="en-US" sz="2400" dirty="0">
                <a:ea typeface="Cordia New"/>
                <a:cs typeface="Cordia New"/>
              </a:rPr>
              <a:t>,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 i="1" baseline="-25000" dirty="0">
                <a:latin typeface="Times New Roman" pitchFamily="18" charset="0"/>
                <a:ea typeface="Cordia New"/>
                <a:cs typeface="Cordia New"/>
              </a:rPr>
              <a:t>2 </a:t>
            </a:r>
            <a:r>
              <a:rPr lang="en-US" altLang="en-US" sz="2400" dirty="0">
                <a:ea typeface="Cordia New"/>
                <a:cs typeface="Cordia New"/>
              </a:rPr>
              <a:t>,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 …</a:t>
            </a:r>
            <a:r>
              <a:rPr lang="en-US" altLang="en-US" sz="2400" dirty="0">
                <a:ea typeface="Cordia New"/>
                <a:cs typeface="Cordia New"/>
              </a:rPr>
              <a:t>,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 </a:t>
            </a:r>
            <a:r>
              <a:rPr lang="en-US" altLang="en-US" sz="2400" i="1" dirty="0" err="1">
                <a:latin typeface="Times New Roman" pitchFamily="18" charset="0"/>
                <a:ea typeface="Cordia New"/>
                <a:cs typeface="Cordia New"/>
              </a:rPr>
              <a:t>x</a:t>
            </a:r>
            <a:r>
              <a:rPr lang="en-US" altLang="en-US" sz="2400" i="1" baseline="-25000" dirty="0" err="1">
                <a:latin typeface="Times New Roman" pitchFamily="18" charset="0"/>
                <a:ea typeface="Cordia New"/>
                <a:cs typeface="Cordia New"/>
              </a:rPr>
              <a:t>n</a:t>
            </a:r>
            <a:r>
              <a:rPr lang="en-US" altLang="en-US" sz="2400" dirty="0">
                <a:ea typeface="Cordia New"/>
                <a:cs typeface="Cordia New"/>
              </a:rPr>
              <a:t> are in </a:t>
            </a:r>
            <a:r>
              <a:rPr lang="en-US" altLang="en-US" sz="2400" i="1" dirty="0"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dirty="0">
                <a:ea typeface="Cordia New"/>
                <a:cs typeface="Cordia New"/>
              </a:rPr>
              <a:t>}.</a:t>
            </a:r>
          </a:p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buFont typeface="Arial" pitchFamily="34" charset="0"/>
              <a:buNone/>
            </a:pPr>
            <a:r>
              <a:rPr lang="en-US" altLang="en-US" sz="2400" dirty="0">
                <a:ea typeface="Cordia New"/>
                <a:cs typeface="Cordia New"/>
              </a:rPr>
              <a:t>	That is,</a:t>
            </a:r>
            <a:r>
              <a:rPr lang="en-US" altLang="en-US" sz="2400" dirty="0">
                <a:solidFill>
                  <a:srgbClr val="00B050"/>
                </a:solidFill>
                <a:ea typeface="Cordia New"/>
                <a:cs typeface="Cordia New"/>
              </a:rPr>
              <a:t> </a:t>
            </a:r>
            <a:r>
              <a:rPr lang="en-US" altLang="en-US" sz="2400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L* </a:t>
            </a:r>
            <a:r>
              <a:rPr lang="en-US" altLang="en-US" sz="24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= </a:t>
            </a:r>
            <a:r>
              <a:rPr lang="en-US" altLang="en-US" sz="2400" dirty="0">
                <a:solidFill>
                  <a:srgbClr val="00B050"/>
                </a:solidFill>
                <a:ea typeface="Cordia New"/>
                <a:cs typeface="Cordia New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</a:t>
            </a:r>
            <a:r>
              <a:rPr lang="en-US" altLang="en-US" sz="2400" i="1" baseline="-25000" dirty="0" err="1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i</a:t>
            </a:r>
            <a:r>
              <a:rPr lang="en-US" altLang="en-US" sz="2400" baseline="36000" dirty="0">
                <a:solidFill>
                  <a:srgbClr val="00B050"/>
                </a:solidFill>
                <a:ea typeface="Cordia New"/>
                <a:cs typeface="Cordia New"/>
                <a:sym typeface="Symbol" pitchFamily="18" charset="2"/>
              </a:rPr>
              <a:t></a:t>
            </a:r>
            <a:r>
              <a:rPr lang="en-US" altLang="en-US" sz="2400" baseline="-25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= 0   </a:t>
            </a:r>
            <a:r>
              <a:rPr lang="en-US" altLang="en-US" sz="2400" i="1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L</a:t>
            </a:r>
            <a:r>
              <a:rPr lang="en-US" altLang="en-US" sz="2400" i="1" baseline="30000" dirty="0">
                <a:solidFill>
                  <a:srgbClr val="00B050"/>
                </a:solidFill>
                <a:latin typeface="Times New Roman" pitchFamily="18" charset="0"/>
                <a:ea typeface="Cordia New"/>
                <a:cs typeface="Cordia New"/>
              </a:rPr>
              <a:t>i</a:t>
            </a:r>
          </a:p>
          <a:p>
            <a:pPr marL="428625" indent="-428625" eaLnBrk="1" hangingPunct="1">
              <a:lnSpc>
                <a:spcPct val="100000"/>
              </a:lnSpc>
              <a:spcBef>
                <a:spcPct val="60000"/>
              </a:spcBef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 dirty="0">
                <a:ea typeface="Cordia New"/>
                <a:cs typeface="Cordia New"/>
              </a:rPr>
              <a:t>Example: Let </a:t>
            </a:r>
            <a:r>
              <a:rPr lang="el-GR" altLang="en-US" sz="2400" dirty="0">
                <a:latin typeface="Times New Roman" pitchFamily="18" charset="0"/>
                <a:ea typeface="Cordia New"/>
                <a:cs typeface="Times New Roman" pitchFamily="18" charset="0"/>
              </a:rPr>
              <a:t>Σ</a:t>
            </a:r>
            <a:r>
              <a:rPr lang="en-US" altLang="en-US" sz="2400" dirty="0">
                <a:ea typeface="Cordia New"/>
                <a:cs typeface="Cordia New"/>
              </a:rPr>
              <a:t> = {0,1} and </a:t>
            </a:r>
          </a:p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 dirty="0">
                <a:ea typeface="Cordia New"/>
                <a:cs typeface="Cordia New"/>
              </a:rPr>
              <a:t>	</a:t>
            </a:r>
            <a:r>
              <a:rPr lang="en-US" altLang="en-US" sz="2400" i="1" dirty="0">
                <a:latin typeface="Times New Roman" pitchFamily="18" charset="0"/>
                <a:ea typeface="Angsana New"/>
                <a:cs typeface="Angsana New"/>
              </a:rPr>
              <a:t>L</a:t>
            </a:r>
            <a:r>
              <a:rPr lang="en-US" altLang="en-US" sz="2400" i="1" baseline="-25000" dirty="0">
                <a:latin typeface="Times New Roman" pitchFamily="18" charset="0"/>
                <a:ea typeface="Angsana New"/>
                <a:cs typeface="Angsana New"/>
              </a:rPr>
              <a:t>e</a:t>
            </a:r>
            <a:r>
              <a:rPr lang="en-US" altLang="en-US" sz="2400" dirty="0">
                <a:ea typeface="Angsana New"/>
                <a:cs typeface="Angsana New"/>
              </a:rPr>
              <a:t> = {</a:t>
            </a:r>
            <a:r>
              <a:rPr lang="en-US" altLang="en-US" sz="2400" dirty="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400" dirty="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400" dirty="0">
                <a:ea typeface="Angsana New"/>
                <a:cs typeface="Angsana New"/>
              </a:rPr>
              <a:t> | the number of 1</a:t>
            </a:r>
            <a:r>
              <a:rPr lang="en-US" altLang="en-US" sz="2400" dirty="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400" dirty="0">
                <a:ea typeface="Angsana New"/>
                <a:cs typeface="Angsana New"/>
              </a:rPr>
              <a:t>s in 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400" dirty="0">
                <a:ea typeface="Angsana New"/>
                <a:cs typeface="Angsana New"/>
              </a:rPr>
              <a:t> is even}</a:t>
            </a:r>
            <a:endParaRPr lang="en-US" altLang="en-US" sz="2400" dirty="0">
              <a:ea typeface="Cordia New"/>
              <a:cs typeface="Cordia New"/>
            </a:endParaRPr>
          </a:p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spcAft>
                <a:spcPct val="20000"/>
              </a:spcAft>
              <a:buFont typeface="Arial" pitchFamily="34" charset="0"/>
              <a:buNone/>
            </a:pPr>
            <a:r>
              <a:rPr lang="th-TH" altLang="en-US" sz="2400" i="1" dirty="0">
                <a:latin typeface="Times New Roman" pitchFamily="18" charset="0"/>
                <a:ea typeface="Cordia New"/>
              </a:rPr>
              <a:t>      L</a:t>
            </a:r>
            <a:r>
              <a:rPr lang="th-TH" altLang="en-US" sz="2400" i="1" baseline="-25000" dirty="0">
                <a:latin typeface="Times New Roman" pitchFamily="18" charset="0"/>
                <a:ea typeface="Cordia New"/>
              </a:rPr>
              <a:t>e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400" dirty="0">
                <a:ea typeface="Angsana New"/>
                <a:cs typeface="Angsana New"/>
              </a:rPr>
              <a:t> </a:t>
            </a:r>
            <a:r>
              <a:rPr lang="en-US" altLang="en-US" sz="2400" dirty="0">
                <a:ea typeface="Cordia New"/>
                <a:cs typeface="Cordia New"/>
              </a:rPr>
              <a:t>= </a:t>
            </a:r>
            <a:r>
              <a:rPr lang="en-US" altLang="en-US" sz="2400" dirty="0">
                <a:ea typeface="Angsana New"/>
                <a:cs typeface="Angsana New"/>
              </a:rPr>
              <a:t>{</a:t>
            </a:r>
            <a:r>
              <a:rPr lang="en-US" altLang="en-US" sz="2400" dirty="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400" dirty="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400" dirty="0">
                <a:ea typeface="Angsana New"/>
                <a:cs typeface="Angsana New"/>
              </a:rPr>
              <a:t> | the number of 1</a:t>
            </a:r>
            <a:r>
              <a:rPr lang="en-US" altLang="en-US" sz="2400" dirty="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400" dirty="0">
                <a:ea typeface="Angsana New"/>
                <a:cs typeface="Angsana New"/>
              </a:rPr>
              <a:t>s in 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400" dirty="0">
                <a:ea typeface="Angsana New"/>
                <a:cs typeface="Angsana New"/>
              </a:rPr>
              <a:t> is even}</a:t>
            </a:r>
            <a:endParaRPr lang="el-GR" altLang="en-US" sz="2400" dirty="0">
              <a:ea typeface="Angsana New"/>
              <a:cs typeface="Angsana New"/>
            </a:endParaRPr>
          </a:p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 dirty="0">
                <a:ea typeface="Angsana New"/>
                <a:cs typeface="Angsana New"/>
              </a:rPr>
              <a:t>      (</a:t>
            </a:r>
            <a:r>
              <a:rPr lang="en-US" altLang="en-US" sz="2400" dirty="0">
                <a:ea typeface="Angsana New"/>
                <a:cs typeface="Angsana New"/>
                <a:sym typeface="Symbol" pitchFamily="18" charset="2"/>
              </a:rPr>
              <a:t></a:t>
            </a:r>
            <a:r>
              <a:rPr lang="en-US" altLang="en-US" sz="2400" i="1" dirty="0">
                <a:latin typeface="Times New Roman" pitchFamily="18" charset="0"/>
                <a:ea typeface="Angsana New"/>
                <a:cs typeface="Angsana New"/>
              </a:rPr>
              <a:t>L</a:t>
            </a:r>
            <a:r>
              <a:rPr lang="en-US" altLang="en-US" sz="2400" i="1" baseline="-25000" dirty="0">
                <a:latin typeface="Times New Roman" pitchFamily="18" charset="0"/>
                <a:ea typeface="Angsana New"/>
                <a:cs typeface="Angsana New"/>
              </a:rPr>
              <a:t>e</a:t>
            </a:r>
            <a:r>
              <a:rPr lang="en-US" altLang="en-US" sz="2400" dirty="0">
                <a:ea typeface="Angsana New"/>
                <a:cs typeface="Angsana New"/>
              </a:rPr>
              <a:t>)*</a:t>
            </a:r>
            <a:r>
              <a:rPr lang="en-US" altLang="en-US" sz="2400" i="1" baseline="-25000" dirty="0">
                <a:ea typeface="Cordia New"/>
                <a:cs typeface="Cordia New"/>
              </a:rPr>
              <a:t> </a:t>
            </a:r>
            <a:r>
              <a:rPr lang="en-US" altLang="en-US" sz="2400" dirty="0">
                <a:ea typeface="Angsana New"/>
                <a:cs typeface="Angsana New"/>
              </a:rPr>
              <a:t>= {</a:t>
            </a:r>
            <a:r>
              <a:rPr lang="en-US" altLang="en-US" sz="2400" dirty="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400" dirty="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400" dirty="0">
                <a:ea typeface="Angsana New"/>
                <a:cs typeface="Angsana New"/>
              </a:rPr>
              <a:t>| the number of 1</a:t>
            </a:r>
            <a:r>
              <a:rPr lang="en-US" altLang="en-US" sz="2400" dirty="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400" dirty="0">
                <a:ea typeface="Angsana New"/>
                <a:cs typeface="Angsana New"/>
              </a:rPr>
              <a:t>s in 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400" dirty="0">
                <a:ea typeface="Angsana New"/>
                <a:cs typeface="Angsana New"/>
              </a:rPr>
              <a:t> is odd}* </a:t>
            </a:r>
          </a:p>
          <a:p>
            <a:pPr marL="428625" indent="-428625" eaLnBrk="1" hangingPunct="1">
              <a:lnSpc>
                <a:spcPct val="100000"/>
              </a:lnSpc>
              <a:spcBef>
                <a:spcPct val="10000"/>
              </a:spcBef>
              <a:spcAft>
                <a:spcPct val="20000"/>
              </a:spcAft>
              <a:buFont typeface="Arial" pitchFamily="34" charset="0"/>
              <a:buNone/>
            </a:pPr>
            <a:r>
              <a:rPr lang="en-US" altLang="en-US" sz="2400" dirty="0">
                <a:ea typeface="Angsana New"/>
                <a:cs typeface="Angsana New"/>
              </a:rPr>
              <a:t>                 = {</a:t>
            </a:r>
            <a:r>
              <a:rPr lang="en-US" altLang="en-US" sz="2400" dirty="0">
                <a:ea typeface="Angsana New"/>
                <a:cs typeface="Angsana New"/>
                <a:sym typeface="Symbol" pitchFamily="18" charset="2"/>
              </a:rPr>
              <a:t></a:t>
            </a:r>
            <a:r>
              <a:rPr lang="el-GR" altLang="en-US" sz="2400" dirty="0">
                <a:latin typeface="Times New Roman" pitchFamily="18" charset="0"/>
                <a:ea typeface="Cordia New"/>
                <a:cs typeface="Times New Roman" pitchFamily="18" charset="0"/>
                <a:sym typeface="Symbol" pitchFamily="18" charset="2"/>
              </a:rPr>
              <a:t>Σ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*</a:t>
            </a:r>
            <a:r>
              <a:rPr lang="en-US" altLang="en-US" sz="2400" dirty="0">
                <a:ea typeface="Angsana New"/>
                <a:cs typeface="Angsana New"/>
              </a:rPr>
              <a:t>| the number of 1</a:t>
            </a:r>
            <a:r>
              <a:rPr lang="en-US" altLang="en-US" sz="2400" dirty="0">
                <a:latin typeface="Arial" pitchFamily="34" charset="0"/>
                <a:ea typeface="Angsana New"/>
                <a:cs typeface="Angsana New"/>
              </a:rPr>
              <a:t>’</a:t>
            </a:r>
            <a:r>
              <a:rPr lang="en-US" altLang="en-US" sz="2400" dirty="0">
                <a:ea typeface="Angsana New"/>
                <a:cs typeface="Angsana New"/>
              </a:rPr>
              <a:t>s in </a:t>
            </a:r>
            <a:r>
              <a:rPr lang="en-US" altLang="en-US" sz="2400" dirty="0">
                <a:ea typeface="Cordia New"/>
                <a:cs typeface="Arial" pitchFamily="34" charset="0"/>
                <a:sym typeface="Symbol" pitchFamily="18" charset="2"/>
              </a:rPr>
              <a:t></a:t>
            </a:r>
            <a:r>
              <a:rPr lang="en-US" altLang="en-US" sz="2400" dirty="0">
                <a:ea typeface="Angsana New"/>
                <a:cs typeface="Angsana New"/>
              </a:rPr>
              <a:t> &gt; 0}</a:t>
            </a:r>
            <a:endParaRPr lang="th-TH" altLang="en-US" sz="2400" dirty="0">
              <a:ea typeface="Angsana New"/>
              <a:cs typeface="Angsana New"/>
            </a:endParaRPr>
          </a:p>
          <a:p>
            <a:pPr marL="428625" indent="-428625" eaLnBrk="1" hangingPunct="1">
              <a:lnSpc>
                <a:spcPct val="80000"/>
              </a:lnSpc>
            </a:pPr>
            <a:endParaRPr lang="en-US" altLang="en-US" sz="2400" dirty="0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153400" cy="44291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IN" altLang="en-US" sz="3600" dirty="0">
                <a:solidFill>
                  <a:srgbClr val="FF0000"/>
                </a:solidFill>
                <a:ea typeface="Angsana New"/>
                <a:cs typeface="Angsana New"/>
              </a:rPr>
              <a:t>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412875"/>
            <a:ext cx="8602663" cy="5184775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IN" sz="2800" dirty="0">
                <a:ea typeface="+mn-ea"/>
              </a:rPr>
              <a:t>A </a:t>
            </a:r>
            <a:r>
              <a:rPr lang="en-IN" sz="2800" b="1" dirty="0">
                <a:ea typeface="+mn-ea"/>
              </a:rPr>
              <a:t>grammar</a:t>
            </a:r>
            <a:r>
              <a:rPr lang="en-IN" sz="2800" dirty="0">
                <a:ea typeface="+mn-ea"/>
              </a:rPr>
              <a:t> (when the context is not given, often called a </a:t>
            </a:r>
            <a:r>
              <a:rPr lang="en-IN" sz="2800" b="1" dirty="0">
                <a:ea typeface="+mn-ea"/>
              </a:rPr>
              <a:t>formal grammar</a:t>
            </a:r>
            <a:r>
              <a:rPr lang="en-IN" sz="2800" dirty="0">
                <a:ea typeface="+mn-ea"/>
              </a:rPr>
              <a:t> for clarity) </a:t>
            </a:r>
            <a:r>
              <a:rPr lang="en-IN" sz="2800" b="1" i="1" dirty="0">
                <a:solidFill>
                  <a:srgbClr val="00B050"/>
                </a:solidFill>
                <a:ea typeface="+mn-ea"/>
              </a:rPr>
              <a:t>describes how to form strings from a language's </a:t>
            </a:r>
            <a:r>
              <a:rPr lang="en-IN" sz="2800" b="1" i="1" dirty="0">
                <a:solidFill>
                  <a:srgbClr val="FF0000"/>
                </a:solidFill>
                <a:ea typeface="+mn-ea"/>
              </a:rPr>
              <a:t>alphabet</a:t>
            </a:r>
            <a:r>
              <a:rPr lang="en-IN" sz="2800" i="1" dirty="0">
                <a:solidFill>
                  <a:srgbClr val="FF0000"/>
                </a:solidFill>
                <a:ea typeface="+mn-ea"/>
              </a:rPr>
              <a:t> </a:t>
            </a:r>
            <a:r>
              <a:rPr lang="en-IN" sz="2800" b="1" i="1" dirty="0">
                <a:solidFill>
                  <a:srgbClr val="00B050"/>
                </a:solidFill>
                <a:ea typeface="+mn-ea"/>
              </a:rPr>
              <a:t>that are valid according to the language's</a:t>
            </a:r>
            <a:r>
              <a:rPr lang="en-IN" sz="2800" i="1" dirty="0">
                <a:solidFill>
                  <a:srgbClr val="00B050"/>
                </a:solidFill>
                <a:ea typeface="+mn-ea"/>
              </a:rPr>
              <a:t> </a:t>
            </a:r>
            <a:r>
              <a:rPr lang="en-IN" sz="2800" b="1" i="1" dirty="0">
                <a:solidFill>
                  <a:srgbClr val="FF0000"/>
                </a:solidFill>
                <a:ea typeface="+mn-ea"/>
              </a:rPr>
              <a:t>syntax</a:t>
            </a:r>
            <a:r>
              <a:rPr lang="en-IN" sz="2800" b="1" dirty="0">
                <a:solidFill>
                  <a:srgbClr val="00B050"/>
                </a:solidFill>
                <a:ea typeface="+mn-ea"/>
              </a:rPr>
              <a:t>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IN" sz="2800" dirty="0">
                <a:ea typeface="+mn-ea"/>
              </a:rPr>
              <a:t>A grammar does not describe the </a:t>
            </a:r>
            <a:r>
              <a:rPr lang="en-IN" sz="2800" dirty="0">
                <a:solidFill>
                  <a:srgbClr val="FF0000"/>
                </a:solidFill>
                <a:ea typeface="+mn-ea"/>
              </a:rPr>
              <a:t>meaning of the strings</a:t>
            </a:r>
            <a:r>
              <a:rPr lang="en-IN" sz="2800" dirty="0">
                <a:ea typeface="+mn-ea"/>
              </a:rPr>
              <a:t> or what can be done with them in whatever context—only their form.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IN" sz="2800" dirty="0">
                <a:ea typeface="+mn-ea"/>
              </a:rPr>
              <a:t>A formal grammar is defined as a set of </a:t>
            </a:r>
            <a:r>
              <a:rPr lang="en-IN" sz="2800" dirty="0">
                <a:solidFill>
                  <a:srgbClr val="FF0000"/>
                </a:solidFill>
                <a:ea typeface="+mn-ea"/>
              </a:rPr>
              <a:t>production rules</a:t>
            </a:r>
            <a:r>
              <a:rPr lang="en-IN" sz="2800" dirty="0">
                <a:ea typeface="+mn-ea"/>
              </a:rPr>
              <a:t> for </a:t>
            </a:r>
            <a:r>
              <a:rPr lang="en-IN" sz="2800" dirty="0">
                <a:solidFill>
                  <a:srgbClr val="FF0000"/>
                </a:solidFill>
                <a:ea typeface="+mn-ea"/>
              </a:rPr>
              <a:t>strings</a:t>
            </a:r>
            <a:r>
              <a:rPr lang="en-IN" sz="2800" dirty="0">
                <a:ea typeface="+mn-ea"/>
              </a:rPr>
              <a:t> in a formal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>
          <a:xfrm>
            <a:off x="1835150" y="765175"/>
            <a:ext cx="4321175" cy="944563"/>
          </a:xfrm>
        </p:spPr>
        <p:txBody>
          <a:bodyPr/>
          <a:lstStyle/>
          <a:p>
            <a:r>
              <a:rPr lang="en-IN" altLang="en-US" sz="4000" dirty="0">
                <a:solidFill>
                  <a:srgbClr val="FF0000"/>
                </a:solidFill>
                <a:ea typeface="Angsana New"/>
                <a:cs typeface="Angsana New"/>
              </a:rPr>
              <a:t>Grammars</a:t>
            </a:r>
            <a:endParaRPr lang="en-US" altLang="en-US" sz="4000" b="1" i="1" dirty="0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573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87525"/>
            <a:ext cx="8120063" cy="47371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 b="1" i="1" dirty="0">
                <a:ea typeface="Cordia New"/>
                <a:cs typeface="Cordia New"/>
              </a:rPr>
              <a:t>Definition: </a:t>
            </a:r>
            <a:r>
              <a:rPr lang="en-US" altLang="en-US" dirty="0">
                <a:ea typeface="Cordia New"/>
                <a:cs typeface="Cordia New"/>
              </a:rPr>
              <a:t>A grammar is a 4-tuple  G = (N, T, P, S), where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N is a finite set of symbols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called non-terminals </a:t>
            </a:r>
            <a:r>
              <a:rPr lang="en-US" altLang="en-US" dirty="0">
                <a:ea typeface="Cordia New"/>
                <a:cs typeface="Cordia New"/>
              </a:rPr>
              <a:t>(uppercase alpha)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T  is a finite set of symbols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called terminals </a:t>
            </a:r>
            <a:r>
              <a:rPr lang="en-US" altLang="en-US" dirty="0">
                <a:ea typeface="Cordia New"/>
                <a:cs typeface="Cordia New"/>
              </a:rPr>
              <a:t>(lowercase alpha)</a:t>
            </a:r>
          </a:p>
          <a:p>
            <a:pPr eaLnBrk="1" hangingPunct="1"/>
            <a:endParaRPr lang="en-US" altLang="en-US" dirty="0">
              <a:ea typeface="Cordia New"/>
              <a:cs typeface="Cordia New"/>
            </a:endParaRP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S  is the start symbol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P is the set of productions of the form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</a:t>
            </a:r>
            <a:endParaRPr lang="en-US" altLang="en-US" b="1" i="1" dirty="0">
              <a:ea typeface="Cordia New"/>
              <a:cs typeface="Cordia New"/>
            </a:endParaRPr>
          </a:p>
        </p:txBody>
      </p:sp>
      <p:graphicFrame>
        <p:nvGraphicFramePr>
          <p:cNvPr id="57348" name="Object 3"/>
          <p:cNvGraphicFramePr>
            <a:graphicFrameLocks noChangeAspect="1"/>
          </p:cNvGraphicFramePr>
          <p:nvPr/>
        </p:nvGraphicFramePr>
        <p:xfrm>
          <a:off x="1047750" y="2978150"/>
          <a:ext cx="28416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0" imgH="3048000" progId="Equation.3">
                  <p:embed/>
                </p:oleObj>
              </mc:Choice>
              <mc:Fallback>
                <p:oleObj name="Equation" r:id="rId2" imgW="3048000" imgH="3048000" progId="Equation.3">
                  <p:embed/>
                  <p:pic>
                    <p:nvPicPr>
                      <p:cNvPr id="5734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2978150"/>
                        <a:ext cx="28416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4"/>
          <p:cNvGraphicFramePr>
            <a:graphicFrameLocks noChangeAspect="1"/>
          </p:cNvGraphicFramePr>
          <p:nvPr/>
        </p:nvGraphicFramePr>
        <p:xfrm>
          <a:off x="4724400" y="2895600"/>
          <a:ext cx="7445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77600" imgH="4876800" progId="Equation.3">
                  <p:embed/>
                </p:oleObj>
              </mc:Choice>
              <mc:Fallback>
                <p:oleObj name="Equation" r:id="rId4" imgW="11277600" imgH="4876800" progId="Equation.3">
                  <p:embed/>
                  <p:pic>
                    <p:nvPicPr>
                      <p:cNvPr id="573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95600"/>
                        <a:ext cx="744538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5"/>
          <p:cNvGraphicFramePr>
            <a:graphicFrameLocks noChangeAspect="1"/>
          </p:cNvGraphicFramePr>
          <p:nvPr/>
        </p:nvGraphicFramePr>
        <p:xfrm>
          <a:off x="3276600" y="3810000"/>
          <a:ext cx="17129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544800" imgH="4876800" progId="Equation.3">
                  <p:embed/>
                </p:oleObj>
              </mc:Choice>
              <mc:Fallback>
                <p:oleObj name="Equation" r:id="rId6" imgW="15544800" imgH="4876800" progId="Equation.3">
                  <p:embed/>
                  <p:pic>
                    <p:nvPicPr>
                      <p:cNvPr id="573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10000"/>
                        <a:ext cx="171291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064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Grammars</a:t>
            </a:r>
            <a:endParaRPr lang="en-US" altLang="en-US" dirty="0">
              <a:ea typeface="Angsana New"/>
              <a:cs typeface="Angsana New"/>
            </a:endParaRPr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38313"/>
            <a:ext cx="7886700" cy="306705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Let G = (N, T, P, S) be a grammar.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b="1" dirty="0">
                <a:solidFill>
                  <a:srgbClr val="FF0000"/>
                </a:solidFill>
                <a:ea typeface="Cordia New"/>
                <a:cs typeface="Cordia New"/>
              </a:rPr>
              <a:t>Then L(G) is called the language generated by G.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L(G) = {                                       }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Grammars are language generating device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Automata are language accepting device</a:t>
            </a:r>
          </a:p>
        </p:txBody>
      </p:sp>
      <p:graphicFrame>
        <p:nvGraphicFramePr>
          <p:cNvPr id="58372" name="Object 3"/>
          <p:cNvGraphicFramePr>
            <a:graphicFrameLocks noChangeAspect="1"/>
          </p:cNvGraphicFramePr>
          <p:nvPr/>
        </p:nvGraphicFramePr>
        <p:xfrm>
          <a:off x="2057400" y="2743200"/>
          <a:ext cx="241141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45600" imgH="6705600" progId="Equation.3">
                  <p:embed/>
                </p:oleObj>
              </mc:Choice>
              <mc:Fallback>
                <p:oleObj name="Equation" r:id="rId2" imgW="21945600" imgH="6705600" progId="Equation.3">
                  <p:embed/>
                  <p:pic>
                    <p:nvPicPr>
                      <p:cNvPr id="5837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43200"/>
                        <a:ext cx="2411412" cy="636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886700" cy="6365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Chomsky Hierarchy (Classification of Grammars)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33400" y="1676400"/>
          <a:ext cx="8105080" cy="4624660"/>
        </p:xfrm>
        <a:graphic>
          <a:graphicData uri="http://schemas.openxmlformats.org/drawingml/2006/table">
            <a:tbl>
              <a:tblPr/>
              <a:tblGrid>
                <a:gridCol w="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32">
                <a:tc>
                  <a:txBody>
                    <a:bodyPr/>
                    <a:lstStyle/>
                    <a:p>
                      <a:r>
                        <a:rPr lang="en-IN" sz="1600" b="1" dirty="0"/>
                        <a:t> 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0000CC"/>
                          </a:solidFill>
                        </a:rPr>
                        <a:t>Language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0000CC"/>
                          </a:solidFill>
                        </a:rPr>
                        <a:t>Grammar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0000CC"/>
                          </a:solidFill>
                        </a:rPr>
                        <a:t>Machine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0000CC"/>
                          </a:solidFill>
                        </a:rPr>
                        <a:t>Example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1482">
                <a:tc>
                  <a:txBody>
                    <a:bodyPr/>
                    <a:lstStyle/>
                    <a:p>
                      <a:r>
                        <a:rPr lang="en-IN" sz="1600" b="1" dirty="0"/>
                        <a:t>Type 3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Regular languages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Regular grammars </a:t>
                      </a:r>
                      <a:br>
                        <a:rPr lang="en-IN" sz="1600" b="1" dirty="0"/>
                      </a:br>
                      <a:r>
                        <a:rPr lang="en-IN" sz="1600" b="1" dirty="0"/>
                        <a:t>• Right-linear grammars</a:t>
                      </a:r>
                      <a:br>
                        <a:rPr lang="en-IN" sz="1600" b="1" dirty="0"/>
                      </a:br>
                      <a:r>
                        <a:rPr lang="en-IN" sz="1600" b="1" dirty="0"/>
                        <a:t>• Left-linear grammars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Finite-state automata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a*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603">
                <a:tc>
                  <a:txBody>
                    <a:bodyPr/>
                    <a:lstStyle/>
                    <a:p>
                      <a:r>
                        <a:rPr lang="en-IN" sz="1600" b="1"/>
                        <a:t>Type 2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Context-free languages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Context-free grammars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Push-down automata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a</a:t>
                      </a:r>
                      <a:r>
                        <a:rPr lang="en-IN" sz="1600" b="1" baseline="30000" dirty="0" err="1"/>
                        <a:t>n</a:t>
                      </a:r>
                      <a:r>
                        <a:rPr lang="en-IN" sz="1600" b="1" dirty="0" err="1"/>
                        <a:t>b</a:t>
                      </a:r>
                      <a:r>
                        <a:rPr lang="en-IN" sz="1600" b="1" baseline="30000" dirty="0" err="1"/>
                        <a:t>n</a:t>
                      </a:r>
                      <a:endParaRPr lang="en-IN" sz="1600" b="1" dirty="0"/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925">
                <a:tc>
                  <a:txBody>
                    <a:bodyPr/>
                    <a:lstStyle/>
                    <a:p>
                      <a:r>
                        <a:rPr lang="en-IN" sz="1600" b="1"/>
                        <a:t>Type 1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Context-sensitive languages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Context-sensitive grammars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Linear-bound automata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a</a:t>
                      </a:r>
                      <a:r>
                        <a:rPr lang="en-IN" sz="1600" b="1" baseline="30000" dirty="0" err="1"/>
                        <a:t>n</a:t>
                      </a:r>
                      <a:r>
                        <a:rPr lang="en-IN" sz="1600" b="1" dirty="0" err="1"/>
                        <a:t>b</a:t>
                      </a:r>
                      <a:r>
                        <a:rPr lang="en-IN" sz="1600" b="1" baseline="30000" dirty="0" err="1"/>
                        <a:t>n</a:t>
                      </a:r>
                      <a:r>
                        <a:rPr lang="en-IN" sz="1600" b="1" dirty="0" err="1"/>
                        <a:t>c</a:t>
                      </a:r>
                      <a:r>
                        <a:rPr lang="en-IN" sz="1600" b="1" baseline="30000" dirty="0" err="1"/>
                        <a:t>n</a:t>
                      </a:r>
                      <a:endParaRPr lang="en-IN" sz="1600" b="1" dirty="0"/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818">
                <a:tc>
                  <a:txBody>
                    <a:bodyPr/>
                    <a:lstStyle/>
                    <a:p>
                      <a:r>
                        <a:rPr lang="en-IN" sz="1600" b="1"/>
                        <a:t>Type 0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Recursive languages</a:t>
                      </a:r>
                      <a:br>
                        <a:rPr lang="en-IN" sz="1600" b="1"/>
                      </a:br>
                      <a:r>
                        <a:rPr lang="en-IN" sz="1600" b="1"/>
                        <a:t>Recursively enumerable languages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Unrestricted grammars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Turing machines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any computable function</a:t>
                      </a:r>
                    </a:p>
                  </a:txBody>
                  <a:tcPr marL="45938" marR="45938" marT="45951" marB="45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>
          <a:xfrm>
            <a:off x="395288" y="620713"/>
            <a:ext cx="8153400" cy="44291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IN" altLang="en-US" sz="3600" dirty="0">
                <a:solidFill>
                  <a:srgbClr val="FF0000"/>
                </a:solidFill>
                <a:ea typeface="Angsana New"/>
                <a:cs typeface="Angsana New"/>
              </a:rPr>
              <a:t>Grammars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208963" cy="5059362"/>
          </a:xfrm>
        </p:spPr>
        <p:txBody>
          <a:bodyPr/>
          <a:lstStyle/>
          <a:p>
            <a:pPr eaLnBrk="1" hangingPunct="1"/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Chomsky Hierarchy is a broad classification of the various types of grammar available</a:t>
            </a:r>
          </a:p>
          <a:p>
            <a:pPr eaLnBrk="1" hangingPunct="1"/>
            <a:r>
              <a:rPr lang="en-IN" altLang="en-US" sz="2000" i="1" u="sng" dirty="0">
                <a:latin typeface="Arial" pitchFamily="34" charset="0"/>
                <a:ea typeface="Cordia New"/>
                <a:cs typeface="Arial" pitchFamily="34" charset="0"/>
              </a:rPr>
              <a:t>These include </a:t>
            </a:r>
          </a:p>
          <a:p>
            <a:pPr eaLnBrk="1" hangingPunct="1">
              <a:buFontTx/>
              <a:buNone/>
            </a:pPr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	</a:t>
            </a:r>
            <a:r>
              <a:rPr lang="en-IN" altLang="en-US" sz="2000" b="1" i="1" dirty="0">
                <a:latin typeface="Arial" pitchFamily="34" charset="0"/>
                <a:ea typeface="Cordia New"/>
                <a:cs typeface="Arial" pitchFamily="34" charset="0"/>
              </a:rPr>
              <a:t>Unrestricted grammar – Type 0- </a:t>
            </a:r>
          </a:p>
          <a:p>
            <a:pPr eaLnBrk="1" hangingPunct="1">
              <a:buFontTx/>
              <a:buNone/>
            </a:pPr>
            <a:r>
              <a:rPr lang="en-IN" altLang="en-US" sz="2000" b="1" i="1" dirty="0">
                <a:latin typeface="Arial" pitchFamily="34" charset="0"/>
                <a:ea typeface="Cordia New"/>
                <a:cs typeface="Arial" pitchFamily="34" charset="0"/>
              </a:rPr>
              <a:t>	 context-sensitive grammar -Type 1</a:t>
            </a:r>
          </a:p>
          <a:p>
            <a:pPr eaLnBrk="1" hangingPunct="1">
              <a:buFontTx/>
              <a:buNone/>
            </a:pPr>
            <a:r>
              <a:rPr lang="en-IN" altLang="en-US" sz="2000" b="1" i="1" dirty="0">
                <a:latin typeface="Arial" pitchFamily="34" charset="0"/>
                <a:ea typeface="Cordia New"/>
                <a:cs typeface="Arial" pitchFamily="34" charset="0"/>
              </a:rPr>
              <a:t>	 context-free grammar–Type 2</a:t>
            </a:r>
          </a:p>
          <a:p>
            <a:pPr eaLnBrk="1" hangingPunct="1">
              <a:buFontTx/>
              <a:buNone/>
            </a:pPr>
            <a:r>
              <a:rPr lang="en-IN" altLang="en-US" sz="2000" b="1" i="1" dirty="0">
                <a:latin typeface="Arial" pitchFamily="34" charset="0"/>
                <a:ea typeface="Cordia New"/>
                <a:cs typeface="Arial" pitchFamily="34" charset="0"/>
              </a:rPr>
              <a:t>	and restricted grammar-Type 3</a:t>
            </a:r>
          </a:p>
          <a:p>
            <a:pPr eaLnBrk="1" hangingPunct="1"/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Grammars are </a:t>
            </a:r>
            <a:r>
              <a:rPr lang="en-IN" altLang="en-US" sz="2000" dirty="0" err="1">
                <a:latin typeface="Arial" pitchFamily="34" charset="0"/>
                <a:ea typeface="Cordia New"/>
                <a:cs typeface="Arial" pitchFamily="34" charset="0"/>
              </a:rPr>
              <a:t>classiﬁed</a:t>
            </a:r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 by the form of their productions.</a:t>
            </a:r>
          </a:p>
          <a:p>
            <a:pPr eaLnBrk="1" hangingPunct="1"/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Each category represents a class of languages that can be recognized by a </a:t>
            </a:r>
            <a:r>
              <a:rPr lang="en-IN" altLang="en-US" sz="2000" dirty="0" err="1">
                <a:latin typeface="Arial" pitchFamily="34" charset="0"/>
                <a:ea typeface="Cordia New"/>
                <a:cs typeface="Arial" pitchFamily="34" charset="0"/>
              </a:rPr>
              <a:t>diﬀerent</a:t>
            </a:r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 automaton</a:t>
            </a:r>
          </a:p>
          <a:p>
            <a:pPr eaLnBrk="1" hangingPunct="1"/>
            <a:r>
              <a:rPr lang="en-IN" altLang="en-US" sz="2000" dirty="0">
                <a:latin typeface="Arial" pitchFamily="34" charset="0"/>
                <a:ea typeface="Cordia New"/>
                <a:cs typeface="Arial" pitchFamily="34" charset="0"/>
              </a:rPr>
              <a:t>The classes are nested, with type 0 being the largest and most general, and type 3 being the smallest and most restricted.</a:t>
            </a:r>
          </a:p>
          <a:p>
            <a:pPr eaLnBrk="1" hangingPunct="1"/>
            <a:endParaRPr lang="en-IN" altLang="en-US" dirty="0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9412" y="1430338"/>
            <a:ext cx="8459788" cy="4860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153400" cy="44291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IN" altLang="en-US" sz="3600" dirty="0">
                <a:solidFill>
                  <a:srgbClr val="FF0000"/>
                </a:solidFill>
                <a:ea typeface="Angsana New"/>
                <a:cs typeface="Angsana New"/>
              </a:rPr>
              <a:t>Grammars</a:t>
            </a:r>
          </a:p>
        </p:txBody>
      </p:sp>
      <p:sp>
        <p:nvSpPr>
          <p:cNvPr id="645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1825625"/>
            <a:ext cx="8286750" cy="4351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According to chomsky hierarchy, grammars are divided of 4 types:</a:t>
            </a: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Type 0 known as </a:t>
            </a:r>
            <a:r>
              <a:rPr lang="en-IN" altLang="en-US" sz="2000">
                <a:solidFill>
                  <a:srgbClr val="FF0000"/>
                </a:solidFill>
                <a:latin typeface="Arial" pitchFamily="34" charset="0"/>
                <a:ea typeface="Cordia New"/>
                <a:cs typeface="Arial" pitchFamily="34" charset="0"/>
              </a:rPr>
              <a:t>unrestricted grammar.</a:t>
            </a: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Type 1 known as </a:t>
            </a:r>
            <a:r>
              <a:rPr lang="en-IN" altLang="en-US" sz="2000">
                <a:solidFill>
                  <a:srgbClr val="FF0000"/>
                </a:solidFill>
                <a:latin typeface="Arial" pitchFamily="34" charset="0"/>
                <a:ea typeface="Cordia New"/>
                <a:cs typeface="Arial" pitchFamily="34" charset="0"/>
              </a:rPr>
              <a:t>context sensitive grammar.</a:t>
            </a: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Type 2 known as </a:t>
            </a:r>
            <a:r>
              <a:rPr lang="en-IN" altLang="en-US" sz="2000">
                <a:solidFill>
                  <a:srgbClr val="FF0000"/>
                </a:solidFill>
                <a:latin typeface="Arial" pitchFamily="34" charset="0"/>
                <a:ea typeface="Cordia New"/>
                <a:cs typeface="Arial" pitchFamily="34" charset="0"/>
              </a:rPr>
              <a:t>context free grammar.</a:t>
            </a: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Type 3 </a:t>
            </a:r>
            <a:r>
              <a:rPr lang="en-IN" altLang="en-US" sz="2000">
                <a:solidFill>
                  <a:srgbClr val="FF0000"/>
                </a:solidFill>
                <a:latin typeface="Arial" pitchFamily="34" charset="0"/>
                <a:ea typeface="Cordia New"/>
                <a:cs typeface="Arial" pitchFamily="34" charset="0"/>
              </a:rPr>
              <a:t>Regular Grammar.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IN" altLang="en-US">
              <a:solidFill>
                <a:srgbClr val="FF0000"/>
              </a:solidFill>
              <a:latin typeface="Arial" pitchFamily="34" charset="0"/>
              <a:ea typeface="Cordia New"/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T or ∑ = set of alphabet/Character/terminals = ( a, b,c,…., +,-,*, …. )</a:t>
            </a: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V or N = Set of non-terminals or variables =( A,B,C, …., )- can be replaced during the processing of grammar by replacing it by various rule/production</a:t>
            </a:r>
          </a:p>
          <a:p>
            <a:pPr eaLnBrk="1" hangingPunct="1">
              <a:lnSpc>
                <a:spcPct val="80000"/>
              </a:lnSpc>
            </a:pPr>
            <a:r>
              <a:rPr lang="en-IN" altLang="en-US" sz="2000">
                <a:latin typeface="Arial" pitchFamily="34" charset="0"/>
                <a:ea typeface="Cordia New"/>
                <a:cs typeface="Arial" pitchFamily="34" charset="0"/>
              </a:rPr>
              <a:t>∑ U V  or  T U V,T+V = combination of variables and terminals aXXaY, a,aA,Aa, BaA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827088"/>
            <a:ext cx="7886700" cy="863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Grammars and Languages</a:t>
            </a:r>
            <a:b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</a:br>
            <a:endParaRPr lang="en-US" altLang="en-US">
              <a:solidFill>
                <a:srgbClr val="FF0000"/>
              </a:solidFill>
              <a:ea typeface="Angsana New"/>
              <a:cs typeface="Angsana New"/>
            </a:endParaRPr>
          </a:p>
        </p:txBody>
      </p:sp>
      <p:sp>
        <p:nvSpPr>
          <p:cNvPr id="6553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0" y="1481138"/>
            <a:ext cx="8531225" cy="4900612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3658394" y="2518569"/>
            <a:ext cx="431800" cy="4206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213225" y="2513013"/>
            <a:ext cx="430213" cy="42068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42" name="TextBox 18"/>
          <p:cNvSpPr txBox="1">
            <a:spLocks noChangeArrowheads="1"/>
          </p:cNvSpPr>
          <p:nvPr/>
        </p:nvSpPr>
        <p:spPr bwMode="auto">
          <a:xfrm>
            <a:off x="1944688" y="4730750"/>
            <a:ext cx="1076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FF0000"/>
                </a:solidFill>
              </a:rPr>
              <a:t>Napoleon</a:t>
            </a:r>
          </a:p>
        </p:txBody>
      </p:sp>
      <p:sp>
        <p:nvSpPr>
          <p:cNvPr id="65543" name="TextBox 19"/>
          <p:cNvSpPr txBox="1">
            <a:spLocks noChangeArrowheads="1"/>
          </p:cNvSpPr>
          <p:nvPr/>
        </p:nvSpPr>
        <p:spPr bwMode="auto">
          <a:xfrm>
            <a:off x="3984625" y="2195513"/>
            <a:ext cx="32226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/>
              <a:t> S</a:t>
            </a:r>
          </a:p>
        </p:txBody>
      </p:sp>
      <p:sp>
        <p:nvSpPr>
          <p:cNvPr id="65544" name="TextBox 20"/>
          <p:cNvSpPr txBox="1">
            <a:spLocks noChangeArrowheads="1"/>
          </p:cNvSpPr>
          <p:nvPr/>
        </p:nvSpPr>
        <p:spPr bwMode="auto">
          <a:xfrm>
            <a:off x="3425825" y="2881313"/>
            <a:ext cx="6175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NP1</a:t>
            </a:r>
          </a:p>
        </p:txBody>
      </p:sp>
      <p:sp>
        <p:nvSpPr>
          <p:cNvPr id="65545" name="TextBox 21"/>
          <p:cNvSpPr txBox="1">
            <a:spLocks noChangeArrowheads="1"/>
          </p:cNvSpPr>
          <p:nvPr/>
        </p:nvSpPr>
        <p:spPr bwMode="auto">
          <a:xfrm>
            <a:off x="4454525" y="2871788"/>
            <a:ext cx="4540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VP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5400000">
            <a:off x="2970213" y="3302000"/>
            <a:ext cx="561975" cy="4476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>
            <a:off x="3860006" y="3159919"/>
            <a:ext cx="646113" cy="5873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>
            <a:off x="4164806" y="3404394"/>
            <a:ext cx="714375" cy="1666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16200000" flipH="1">
            <a:off x="4694238" y="3160713"/>
            <a:ext cx="728662" cy="60166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6200000" flipH="1">
            <a:off x="4452144" y="3340894"/>
            <a:ext cx="695325" cy="27463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51" name="TextBox 49"/>
          <p:cNvSpPr txBox="1">
            <a:spLocks noChangeArrowheads="1"/>
          </p:cNvSpPr>
          <p:nvPr/>
        </p:nvSpPr>
        <p:spPr bwMode="auto">
          <a:xfrm>
            <a:off x="2798763" y="3813175"/>
            <a:ext cx="4730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PN</a:t>
            </a:r>
          </a:p>
        </p:txBody>
      </p:sp>
      <p:sp>
        <p:nvSpPr>
          <p:cNvPr id="65552" name="TextBox 50"/>
          <p:cNvSpPr txBox="1">
            <a:spLocks noChangeArrowheads="1"/>
          </p:cNvSpPr>
          <p:nvPr/>
        </p:nvSpPr>
        <p:spPr bwMode="auto">
          <a:xfrm>
            <a:off x="3451226" y="3810000"/>
            <a:ext cx="673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b="1" dirty="0">
                <a:solidFill>
                  <a:srgbClr val="0000CC"/>
                </a:solidFill>
              </a:rPr>
              <a:t>VER</a:t>
            </a:r>
          </a:p>
        </p:txBody>
      </p:sp>
      <p:sp>
        <p:nvSpPr>
          <p:cNvPr id="65553" name="TextBox 51"/>
          <p:cNvSpPr txBox="1">
            <a:spLocks noChangeArrowheads="1"/>
          </p:cNvSpPr>
          <p:nvPr/>
        </p:nvSpPr>
        <p:spPr bwMode="auto">
          <a:xfrm>
            <a:off x="4189413" y="3822700"/>
            <a:ext cx="61753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ART</a:t>
            </a:r>
          </a:p>
        </p:txBody>
      </p:sp>
      <p:sp>
        <p:nvSpPr>
          <p:cNvPr id="65554" name="TextBox 52"/>
          <p:cNvSpPr txBox="1">
            <a:spLocks noChangeArrowheads="1"/>
          </p:cNvSpPr>
          <p:nvPr/>
        </p:nvSpPr>
        <p:spPr bwMode="auto">
          <a:xfrm>
            <a:off x="4686300" y="3810000"/>
            <a:ext cx="6175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ADJ</a:t>
            </a:r>
          </a:p>
        </p:txBody>
      </p:sp>
      <p:sp>
        <p:nvSpPr>
          <p:cNvPr id="65555" name="TextBox 53"/>
          <p:cNvSpPr txBox="1">
            <a:spLocks noChangeArrowheads="1"/>
          </p:cNvSpPr>
          <p:nvPr/>
        </p:nvSpPr>
        <p:spPr bwMode="auto">
          <a:xfrm>
            <a:off x="5149850" y="3792538"/>
            <a:ext cx="6175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NP2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 rot="5400000">
            <a:off x="2398713" y="4229100"/>
            <a:ext cx="561975" cy="4476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  <a:stCxn id="65552" idx="2"/>
          </p:cNvCxnSpPr>
          <p:nvPr/>
        </p:nvCxnSpPr>
        <p:spPr>
          <a:xfrm>
            <a:off x="3787776" y="4179332"/>
            <a:ext cx="82549" cy="58634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rot="16200000" flipH="1">
            <a:off x="4161631" y="4431507"/>
            <a:ext cx="611187" cy="127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16200000" flipH="1">
            <a:off x="4658519" y="4418807"/>
            <a:ext cx="611187" cy="127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16200000" flipH="1">
            <a:off x="5430838" y="4151312"/>
            <a:ext cx="623888" cy="48736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61" name="TextBox 63"/>
          <p:cNvSpPr txBox="1">
            <a:spLocks noChangeArrowheads="1"/>
          </p:cNvSpPr>
          <p:nvPr/>
        </p:nvSpPr>
        <p:spPr bwMode="auto">
          <a:xfrm>
            <a:off x="3719513" y="4773613"/>
            <a:ext cx="3365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FF0000"/>
                </a:solidFill>
              </a:rPr>
              <a:t>is</a:t>
            </a:r>
          </a:p>
        </p:txBody>
      </p:sp>
      <p:sp>
        <p:nvSpPr>
          <p:cNvPr id="65562" name="TextBox 64"/>
          <p:cNvSpPr txBox="1">
            <a:spLocks noChangeArrowheads="1"/>
          </p:cNvSpPr>
          <p:nvPr/>
        </p:nvSpPr>
        <p:spPr bwMode="auto">
          <a:xfrm>
            <a:off x="4362450" y="4789488"/>
            <a:ext cx="2524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5563" name="TextBox 65"/>
          <p:cNvSpPr txBox="1">
            <a:spLocks noChangeArrowheads="1"/>
          </p:cNvSpPr>
          <p:nvPr/>
        </p:nvSpPr>
        <p:spPr bwMode="auto">
          <a:xfrm>
            <a:off x="4741863" y="4795838"/>
            <a:ext cx="7445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FF0000"/>
                </a:solidFill>
              </a:rPr>
              <a:t>great</a:t>
            </a:r>
          </a:p>
        </p:txBody>
      </p:sp>
      <p:sp>
        <p:nvSpPr>
          <p:cNvPr id="65564" name="TextBox 66"/>
          <p:cNvSpPr txBox="1">
            <a:spLocks noChangeArrowheads="1"/>
          </p:cNvSpPr>
          <p:nvPr/>
        </p:nvSpPr>
        <p:spPr bwMode="auto">
          <a:xfrm>
            <a:off x="5640388" y="4792663"/>
            <a:ext cx="10112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>
                <a:solidFill>
                  <a:srgbClr val="FF0000"/>
                </a:solidFill>
              </a:rPr>
              <a:t>warrior</a:t>
            </a:r>
          </a:p>
        </p:txBody>
      </p:sp>
      <p:sp>
        <p:nvSpPr>
          <p:cNvPr id="65565" name="TextBox 67"/>
          <p:cNvSpPr txBox="1">
            <a:spLocks noChangeArrowheads="1"/>
          </p:cNvSpPr>
          <p:nvPr/>
        </p:nvSpPr>
        <p:spPr bwMode="auto">
          <a:xfrm>
            <a:off x="6410325" y="2114550"/>
            <a:ext cx="1990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/>
              <a:t>Derivation Tree</a:t>
            </a:r>
          </a:p>
        </p:txBody>
      </p:sp>
      <p:sp>
        <p:nvSpPr>
          <p:cNvPr id="65566" name="TextBox 68"/>
          <p:cNvSpPr txBox="1">
            <a:spLocks noChangeArrowheads="1"/>
          </p:cNvSpPr>
          <p:nvPr/>
        </p:nvSpPr>
        <p:spPr bwMode="auto">
          <a:xfrm>
            <a:off x="6484938" y="2755900"/>
            <a:ext cx="18065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 dirty="0"/>
              <a:t>Syntax Tree</a:t>
            </a:r>
          </a:p>
        </p:txBody>
      </p:sp>
      <p:sp>
        <p:nvSpPr>
          <p:cNvPr id="65567" name="TextBox 69"/>
          <p:cNvSpPr txBox="1">
            <a:spLocks noChangeArrowheads="1"/>
          </p:cNvSpPr>
          <p:nvPr/>
        </p:nvSpPr>
        <p:spPr bwMode="auto">
          <a:xfrm>
            <a:off x="6972300" y="2401888"/>
            <a:ext cx="6477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b="1" dirty="0"/>
              <a:t>or</a:t>
            </a:r>
          </a:p>
        </p:txBody>
      </p:sp>
      <p:sp>
        <p:nvSpPr>
          <p:cNvPr id="65568" name="TextBox 70"/>
          <p:cNvSpPr txBox="1">
            <a:spLocks noChangeArrowheads="1"/>
          </p:cNvSpPr>
          <p:nvPr/>
        </p:nvSpPr>
        <p:spPr bwMode="auto">
          <a:xfrm>
            <a:off x="6997700" y="3016250"/>
            <a:ext cx="3937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b="1" dirty="0"/>
              <a:t>or</a:t>
            </a:r>
          </a:p>
        </p:txBody>
      </p:sp>
      <p:sp>
        <p:nvSpPr>
          <p:cNvPr id="65569" name="TextBox 71"/>
          <p:cNvSpPr txBox="1">
            <a:spLocks noChangeArrowheads="1"/>
          </p:cNvSpPr>
          <p:nvPr/>
        </p:nvSpPr>
        <p:spPr bwMode="auto">
          <a:xfrm>
            <a:off x="6540500" y="3303588"/>
            <a:ext cx="1990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/>
              <a:t>Parse Tree       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762000"/>
            <a:ext cx="7886700" cy="7350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Angsana New"/>
                <a:cs typeface="Angsana New"/>
              </a:rPr>
              <a:t>Derivation</a:t>
            </a:r>
          </a:p>
        </p:txBody>
      </p:sp>
      <p:sp>
        <p:nvSpPr>
          <p:cNvPr id="6656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58950"/>
            <a:ext cx="7886700" cy="395763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&lt;S&gt; →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VP</a:t>
            </a:r>
            <a:r>
              <a:rPr lang="en-US" altLang="en-US">
                <a:ea typeface="Cordia New"/>
                <a:cs typeface="Cordia New"/>
              </a:rPr>
              <a:t>&gt;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 →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PN</a:t>
            </a:r>
            <a:r>
              <a:rPr lang="en-US" altLang="en-US">
                <a:ea typeface="Cordia New"/>
                <a:cs typeface="Cordia New"/>
              </a:rPr>
              <a:t>&gt;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PN</a:t>
            </a:r>
            <a:r>
              <a:rPr lang="en-US" altLang="en-US">
                <a:ea typeface="Cordia New"/>
                <a:cs typeface="Cordia New"/>
              </a:rPr>
              <a:t>&gt;  →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Napoleon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VP</a:t>
            </a:r>
            <a:r>
              <a:rPr lang="en-US" altLang="en-US">
                <a:ea typeface="Cordia New"/>
                <a:cs typeface="Cordia New"/>
              </a:rPr>
              <a:t>&gt; →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→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is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→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→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great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 </a:t>
            </a:r>
            <a:r>
              <a:rPr lang="en-US" altLang="en-US">
                <a:ea typeface="Cordia New"/>
                <a:cs typeface="Cordia New"/>
              </a:rPr>
              <a:t>→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warrior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>
              <a:solidFill>
                <a:srgbClr val="FF0000"/>
              </a:solidFill>
              <a:ea typeface="Cordia New"/>
              <a:cs typeface="Cordia New"/>
            </a:endParaRPr>
          </a:p>
        </p:txBody>
      </p:sp>
      <p:sp>
        <p:nvSpPr>
          <p:cNvPr id="66564" name="TextBox 7"/>
          <p:cNvSpPr txBox="1">
            <a:spLocks noChangeArrowheads="1"/>
          </p:cNvSpPr>
          <p:nvPr/>
        </p:nvSpPr>
        <p:spPr bwMode="auto">
          <a:xfrm>
            <a:off x="5799138" y="1836738"/>
            <a:ext cx="2097087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/>
              <a:t>  Rules </a:t>
            </a:r>
          </a:p>
          <a:p>
            <a:pPr eaLnBrk="1" hangingPunct="1"/>
            <a:r>
              <a:rPr lang="en-US" altLang="en-US" sz="1800" b="1"/>
              <a:t>     or </a:t>
            </a:r>
          </a:p>
          <a:p>
            <a:pPr eaLnBrk="1" hangingPunct="1"/>
            <a:r>
              <a:rPr lang="en-US" altLang="en-US" sz="1800" b="1"/>
              <a:t>Productions</a:t>
            </a:r>
          </a:p>
          <a:p>
            <a:pPr eaLnBrk="1" hangingPunct="1"/>
            <a:r>
              <a:rPr lang="en-US" altLang="en-US" sz="1800" b="1"/>
              <a:t>     or</a:t>
            </a:r>
          </a:p>
          <a:p>
            <a:pPr eaLnBrk="1" hangingPunct="1"/>
            <a:r>
              <a:rPr lang="en-US" altLang="en-US" sz="1800" b="1"/>
              <a:t>Production rules</a:t>
            </a:r>
          </a:p>
          <a:p>
            <a:pPr eaLnBrk="1" hangingPunct="1"/>
            <a:endParaRPr lang="en-US" altLang="en-US" sz="1800" b="1"/>
          </a:p>
        </p:txBody>
      </p:sp>
      <p:sp>
        <p:nvSpPr>
          <p:cNvPr id="66565" name="TextBox 8"/>
          <p:cNvSpPr txBox="1">
            <a:spLocks noChangeArrowheads="1"/>
          </p:cNvSpPr>
          <p:nvPr/>
        </p:nvSpPr>
        <p:spPr bwMode="auto">
          <a:xfrm>
            <a:off x="5913438" y="3529013"/>
            <a:ext cx="20970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/>
              <a:t> </a:t>
            </a:r>
            <a:r>
              <a:rPr lang="en-US" altLang="en-US" sz="1800"/>
              <a:t>→  -  rewritten as</a:t>
            </a:r>
            <a:r>
              <a:rPr lang="en-US" altLang="en-US" sz="1800" b="1"/>
              <a:t> </a:t>
            </a:r>
          </a:p>
        </p:txBody>
      </p:sp>
      <p:sp>
        <p:nvSpPr>
          <p:cNvPr id="66566" name="TextBox 10"/>
          <p:cNvSpPr txBox="1">
            <a:spLocks noChangeArrowheads="1"/>
          </p:cNvSpPr>
          <p:nvPr/>
        </p:nvSpPr>
        <p:spPr bwMode="auto">
          <a:xfrm>
            <a:off x="5930900" y="3965575"/>
            <a:ext cx="20955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800" b="1"/>
              <a:t> </a:t>
            </a:r>
            <a:r>
              <a:rPr lang="en-US" altLang="en-US" sz="1800"/>
              <a:t>  -  directly derives</a:t>
            </a:r>
            <a:r>
              <a:rPr lang="en-US" altLang="en-US" sz="1800" b="1"/>
              <a:t> </a:t>
            </a:r>
          </a:p>
        </p:txBody>
      </p:sp>
      <p:sp>
        <p:nvSpPr>
          <p:cNvPr id="66567" name="Rectangle 2"/>
          <p:cNvSpPr>
            <a:spLocks noChangeArrowheads="1"/>
          </p:cNvSpPr>
          <p:nvPr/>
        </p:nvSpPr>
        <p:spPr bwMode="auto">
          <a:xfrm>
            <a:off x="0" y="660400"/>
            <a:ext cx="1381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 anchor="ctr">
            <a:spAutoFit/>
          </a:bodyPr>
          <a:lstStyle/>
          <a:p>
            <a:pPr eaLnBrk="1" hangingPunct="1"/>
            <a:endParaRPr lang="en-US" altLang="en-US" sz="2100"/>
          </a:p>
        </p:txBody>
      </p:sp>
      <p:pic>
        <p:nvPicPr>
          <p:cNvPr id="66568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857250"/>
            <a:ext cx="100013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0" y="660400"/>
            <a:ext cx="1381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 anchor="ctr">
            <a:spAutoFit/>
          </a:bodyPr>
          <a:lstStyle/>
          <a:p>
            <a:pPr eaLnBrk="1" hangingPunct="1"/>
            <a:endParaRPr lang="en-US" altLang="en-US" sz="2100"/>
          </a:p>
        </p:txBody>
      </p:sp>
      <p:pic>
        <p:nvPicPr>
          <p:cNvPr id="66570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857250"/>
            <a:ext cx="100013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571" name="Object 15"/>
          <p:cNvGraphicFramePr>
            <a:graphicFrameLocks noChangeAspect="1"/>
          </p:cNvGraphicFramePr>
          <p:nvPr/>
        </p:nvGraphicFramePr>
        <p:xfrm>
          <a:off x="4500563" y="3370263"/>
          <a:ext cx="142875" cy="1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665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370263"/>
                        <a:ext cx="142875" cy="11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2" name="Object 6"/>
          <p:cNvGraphicFramePr>
            <a:graphicFrameLocks noChangeAspect="1"/>
          </p:cNvGraphicFramePr>
          <p:nvPr/>
        </p:nvGraphicFramePr>
        <p:xfrm>
          <a:off x="5721350" y="4003675"/>
          <a:ext cx="4413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6657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0" y="4003675"/>
                        <a:ext cx="44132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Derivation</a:t>
            </a:r>
            <a:endParaRPr lang="en-US" altLang="en-US">
              <a:ea typeface="Angsana New"/>
              <a:cs typeface="Angsana New"/>
            </a:endParaRPr>
          </a:p>
        </p:txBody>
      </p:sp>
      <p:sp>
        <p:nvSpPr>
          <p:cNvPr id="6758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925638"/>
            <a:ext cx="7886700" cy="378142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Font typeface="Arial" pitchFamily="34" charset="0"/>
              <a:buNone/>
            </a:pP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&lt;S&gt;        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VP</a:t>
            </a:r>
            <a:r>
              <a:rPr lang="en-US" altLang="en-US">
                <a:ea typeface="Cordia New"/>
                <a:cs typeface="Cordia New"/>
              </a:rPr>
              <a:t>&gt;         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PN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VP</a:t>
            </a:r>
            <a:r>
              <a:rPr lang="en-US" altLang="en-US">
                <a:ea typeface="Cordia New"/>
                <a:cs typeface="Cordia New"/>
              </a:rPr>
              <a:t>&gt;   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Napoleon</a:t>
            </a:r>
            <a:r>
              <a:rPr lang="en-US" altLang="en-US">
                <a:ea typeface="Cordia New"/>
                <a:cs typeface="Cordia New"/>
              </a:rPr>
              <a:t>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VP</a:t>
            </a:r>
            <a:r>
              <a:rPr lang="en-US" altLang="en-US">
                <a:ea typeface="Cordia New"/>
                <a:cs typeface="Cordia New"/>
              </a:rPr>
              <a:t>&gt;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  Napoleon</a:t>
            </a:r>
            <a:r>
              <a:rPr lang="en-US" altLang="en-US">
                <a:ea typeface="Cordia New"/>
                <a:cs typeface="Cordia New"/>
              </a:rPr>
              <a:t>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  Napoleon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is</a:t>
            </a:r>
            <a:r>
              <a:rPr lang="en-US" altLang="en-US">
                <a:ea typeface="Cordia New"/>
                <a:cs typeface="Cordia New"/>
              </a:rPr>
              <a:t>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  Napoleon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is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 </a:t>
            </a: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  Napoleon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is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 great</a:t>
            </a:r>
            <a:r>
              <a:rPr lang="en-US" altLang="en-US">
                <a:ea typeface="Cordia New"/>
                <a:cs typeface="Cordia New"/>
              </a:rPr>
              <a:t>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  Napoleon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is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 great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warrior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                           </a:t>
            </a:r>
            <a:r>
              <a:rPr lang="en-US" altLang="en-US" b="1">
                <a:ea typeface="Cordia New"/>
                <a:cs typeface="Cordia New"/>
              </a:rPr>
              <a:t>Leftmost Derivation</a:t>
            </a:r>
          </a:p>
        </p:txBody>
      </p:sp>
      <p:graphicFrame>
        <p:nvGraphicFramePr>
          <p:cNvPr id="67588" name="Object 7"/>
          <p:cNvGraphicFramePr>
            <a:graphicFrameLocks noChangeAspect="1"/>
          </p:cNvGraphicFramePr>
          <p:nvPr/>
        </p:nvGraphicFramePr>
        <p:xfrm>
          <a:off x="1282700" y="2287588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758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287588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6"/>
          <p:cNvGraphicFramePr>
            <a:graphicFrameLocks noChangeAspect="1"/>
          </p:cNvGraphicFramePr>
          <p:nvPr/>
        </p:nvGraphicFramePr>
        <p:xfrm>
          <a:off x="3733800" y="23336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8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336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7"/>
          <p:cNvGraphicFramePr>
            <a:graphicFrameLocks noChangeAspect="1"/>
          </p:cNvGraphicFramePr>
          <p:nvPr/>
        </p:nvGraphicFramePr>
        <p:xfrm>
          <a:off x="5746750" y="23336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0" y="23336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8"/>
          <p:cNvGraphicFramePr>
            <a:graphicFrameLocks noChangeAspect="1"/>
          </p:cNvGraphicFramePr>
          <p:nvPr/>
        </p:nvGraphicFramePr>
        <p:xfrm>
          <a:off x="1293813" y="2640013"/>
          <a:ext cx="423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9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2640013"/>
                        <a:ext cx="42386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9"/>
          <p:cNvGraphicFramePr>
            <a:graphicFrameLocks noChangeAspect="1"/>
          </p:cNvGraphicFramePr>
          <p:nvPr/>
        </p:nvGraphicFramePr>
        <p:xfrm>
          <a:off x="1260475" y="30480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9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0480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3" name="Object 10"/>
          <p:cNvGraphicFramePr>
            <a:graphicFrameLocks noChangeAspect="1"/>
          </p:cNvGraphicFramePr>
          <p:nvPr/>
        </p:nvGraphicFramePr>
        <p:xfrm>
          <a:off x="1266825" y="3427413"/>
          <a:ext cx="4254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9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3427413"/>
                        <a:ext cx="42545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4" name="Object 11"/>
          <p:cNvGraphicFramePr>
            <a:graphicFrameLocks noChangeAspect="1"/>
          </p:cNvGraphicFramePr>
          <p:nvPr/>
        </p:nvGraphicFramePr>
        <p:xfrm>
          <a:off x="1263650" y="3814763"/>
          <a:ext cx="425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9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814763"/>
                        <a:ext cx="42545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5" name="Object 12"/>
          <p:cNvGraphicFramePr>
            <a:graphicFrameLocks noChangeAspect="1"/>
          </p:cNvGraphicFramePr>
          <p:nvPr/>
        </p:nvGraphicFramePr>
        <p:xfrm>
          <a:off x="1270000" y="4183063"/>
          <a:ext cx="425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759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4183063"/>
                        <a:ext cx="42545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129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371600"/>
            <a:ext cx="7886700" cy="407511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&lt;S&gt;        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VP</a:t>
            </a:r>
            <a:r>
              <a:rPr lang="en-US" altLang="en-US">
                <a:ea typeface="Cordia New"/>
                <a:cs typeface="Cordia New"/>
              </a:rPr>
              <a:t>&gt;        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 NP2&gt;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ADV</a:t>
            </a:r>
            <a:r>
              <a:rPr lang="en-US" altLang="en-US">
                <a:ea typeface="Cordia New"/>
                <a:cs typeface="Cordia New"/>
              </a:rPr>
              <a:t>&gt;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warrior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ART</a:t>
            </a:r>
            <a:r>
              <a:rPr lang="en-US" altLang="en-US">
                <a:ea typeface="Cordia New"/>
                <a:cs typeface="Cordia New"/>
              </a:rPr>
              <a:t>&gt;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great warrior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</a:t>
            </a: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VER</a:t>
            </a:r>
            <a:r>
              <a:rPr lang="en-US" altLang="en-US">
                <a:ea typeface="Cordia New"/>
                <a:cs typeface="Cordia New"/>
              </a:rPr>
              <a:t>&gt;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 great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warrior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</a:t>
            </a:r>
            <a:r>
              <a:rPr lang="en-US" altLang="en-US">
                <a:ea typeface="Cordia New"/>
                <a:cs typeface="Cordia New"/>
              </a:rPr>
              <a:t>&lt;</a:t>
            </a:r>
            <a:r>
              <a:rPr lang="en-US" altLang="en-US">
                <a:solidFill>
                  <a:srgbClr val="0000CC"/>
                </a:solidFill>
                <a:ea typeface="Cordia New"/>
                <a:cs typeface="Cordia New"/>
              </a:rPr>
              <a:t>NP1</a:t>
            </a:r>
            <a:r>
              <a:rPr lang="en-US" altLang="en-US">
                <a:ea typeface="Cordia New"/>
                <a:cs typeface="Cordia New"/>
              </a:rPr>
              <a:t>&gt;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is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 great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warrior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Napoleon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is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 great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warrior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>
              <a:solidFill>
                <a:srgbClr val="FF00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                                 </a:t>
            </a:r>
            <a:r>
              <a:rPr lang="en-US" altLang="en-US" b="1">
                <a:ea typeface="Cordia New"/>
                <a:cs typeface="Cordia New"/>
              </a:rPr>
              <a:t>Rightmost Derivation</a:t>
            </a:r>
            <a:endParaRPr lang="en-US" altLang="en-US">
              <a:solidFill>
                <a:srgbClr val="FF00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>
              <a:ea typeface="Cordia New"/>
              <a:cs typeface="Cordia New"/>
            </a:endParaRP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1143000" y="1371600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8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71600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1143000" y="1774825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86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74825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1143000" y="2149475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86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49475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1143000" y="2544763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86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44763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1143000" y="2911475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8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11475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1143000" y="3286125"/>
          <a:ext cx="4302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686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86125"/>
                        <a:ext cx="43021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/>
          <p:cNvGraphicFramePr>
            <a:graphicFrameLocks noChangeAspect="1"/>
          </p:cNvGraphicFramePr>
          <p:nvPr/>
        </p:nvGraphicFramePr>
        <p:xfrm>
          <a:off x="1136650" y="3714750"/>
          <a:ext cx="4302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68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3714750"/>
                        <a:ext cx="43021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762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Derivation</a:t>
            </a:r>
            <a:endParaRPr lang="en-US" altLang="en-US">
              <a:ea typeface="Angsana New"/>
              <a:cs typeface="Angsana New"/>
            </a:endParaRPr>
          </a:p>
        </p:txBody>
      </p:sp>
      <p:sp>
        <p:nvSpPr>
          <p:cNvPr id="696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855788"/>
            <a:ext cx="7886700" cy="3821112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Non terminals  -  N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Terminals – T</a:t>
            </a:r>
          </a:p>
          <a:p>
            <a:pPr eaLnBrk="1" hangingPunct="1"/>
            <a:r>
              <a:rPr lang="en-US" altLang="en-US" dirty="0">
                <a:ea typeface="Cordia New"/>
                <a:cs typeface="Cordia New"/>
              </a:rPr>
              <a:t> Total alphabet -  V</a:t>
            </a:r>
            <a:r>
              <a:rPr lang="en-US" altLang="en-US" dirty="0">
                <a:latin typeface="Times New Roman" pitchFamily="18" charset="0"/>
                <a:ea typeface="Cordia New"/>
                <a:cs typeface="Cordia New"/>
                <a:sym typeface="Symbol" pitchFamily="18" charset="2"/>
              </a:rPr>
              <a:t> = N  </a:t>
            </a:r>
            <a:r>
              <a:rPr lang="en-US" altLang="en-US" dirty="0">
                <a:ea typeface="Cordia New"/>
                <a:cs typeface="Cordia New"/>
              </a:rPr>
              <a:t>T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are strings in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is  obtained from      in one step</a:t>
            </a:r>
          </a:p>
          <a:p>
            <a:pPr eaLnBrk="1" hangingPunct="1">
              <a:buFont typeface="Arial" pitchFamily="34" charset="0"/>
              <a:buNone/>
            </a:pPr>
            <a:r>
              <a:rPr lang="el-GR" altLang="en-US" dirty="0">
                <a:ea typeface="Cordia New"/>
                <a:cs typeface="Cordia New"/>
              </a:rPr>
              <a:t> </a:t>
            </a:r>
            <a:r>
              <a:rPr lang="en-US" altLang="en-US" dirty="0">
                <a:ea typeface="Cordia New"/>
                <a:cs typeface="Cordia New"/>
              </a:rPr>
              <a:t>                                     is  obtained from      in zero or more steps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reflexive transitive closure of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</a:t>
            </a:r>
          </a:p>
        </p:txBody>
      </p:sp>
      <p:graphicFrame>
        <p:nvGraphicFramePr>
          <p:cNvPr id="69636" name="Object 3"/>
          <p:cNvGraphicFramePr>
            <a:graphicFrameLocks noChangeAspect="1"/>
          </p:cNvGraphicFramePr>
          <p:nvPr/>
        </p:nvGraphicFramePr>
        <p:xfrm>
          <a:off x="1004888" y="2976563"/>
          <a:ext cx="12636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25600" imgH="5486400" progId="Equation.3">
                  <p:embed/>
                </p:oleObj>
              </mc:Choice>
              <mc:Fallback>
                <p:oleObj name="Equation" r:id="rId2" imgW="14325600" imgH="5486400" progId="Equation.3">
                  <p:embed/>
                  <p:pic>
                    <p:nvPicPr>
                      <p:cNvPr id="6963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2976563"/>
                        <a:ext cx="126365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3"/>
          <p:cNvGraphicFramePr>
            <a:graphicFrameLocks noChangeAspect="1"/>
          </p:cNvGraphicFramePr>
          <p:nvPr/>
        </p:nvGraphicFramePr>
        <p:xfrm>
          <a:off x="4648200" y="3005138"/>
          <a:ext cx="3937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4876800" progId="Equation.3">
                  <p:embed/>
                </p:oleObj>
              </mc:Choice>
              <mc:Fallback>
                <p:oleObj name="Equation" r:id="rId4" imgW="4572000" imgH="4876800" progId="Equation.3">
                  <p:embed/>
                  <p:pic>
                    <p:nvPicPr>
                      <p:cNvPr id="6963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05138"/>
                        <a:ext cx="39370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4"/>
          <p:cNvGraphicFramePr>
            <a:graphicFrameLocks noChangeAspect="1"/>
          </p:cNvGraphicFramePr>
          <p:nvPr/>
        </p:nvGraphicFramePr>
        <p:xfrm>
          <a:off x="1155700" y="3387725"/>
          <a:ext cx="9937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277600" imgH="4876800" progId="Equation.3">
                  <p:embed/>
                </p:oleObj>
              </mc:Choice>
              <mc:Fallback>
                <p:oleObj name="Equation" r:id="rId6" imgW="11277600" imgH="4876800" progId="Equation.3">
                  <p:embed/>
                  <p:pic>
                    <p:nvPicPr>
                      <p:cNvPr id="6963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3387725"/>
                        <a:ext cx="993775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5"/>
          <p:cNvGraphicFramePr>
            <a:graphicFrameLocks noChangeAspect="1"/>
          </p:cNvGraphicFramePr>
          <p:nvPr/>
        </p:nvGraphicFramePr>
        <p:xfrm>
          <a:off x="3028950" y="3394075"/>
          <a:ext cx="3238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57600" imgH="4876800" progId="Equation.3">
                  <p:embed/>
                </p:oleObj>
              </mc:Choice>
              <mc:Fallback>
                <p:oleObj name="Equation" r:id="rId8" imgW="3657600" imgH="4876800" progId="Equation.3">
                  <p:embed/>
                  <p:pic>
                    <p:nvPicPr>
                      <p:cNvPr id="6963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3394075"/>
                        <a:ext cx="32385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6"/>
          <p:cNvGraphicFramePr>
            <a:graphicFrameLocks noChangeAspect="1"/>
          </p:cNvGraphicFramePr>
          <p:nvPr/>
        </p:nvGraphicFramePr>
        <p:xfrm>
          <a:off x="5695950" y="3459163"/>
          <a:ext cx="32385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57600" imgH="3352800" progId="Equation.3">
                  <p:embed/>
                </p:oleObj>
              </mc:Choice>
              <mc:Fallback>
                <p:oleObj name="Equation" r:id="rId10" imgW="3657600" imgH="3352800" progId="Equation.3">
                  <p:embed/>
                  <p:pic>
                    <p:nvPicPr>
                      <p:cNvPr id="6964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3459163"/>
                        <a:ext cx="323850" cy="258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7"/>
          <p:cNvGraphicFramePr>
            <a:graphicFrameLocks noChangeAspect="1"/>
          </p:cNvGraphicFramePr>
          <p:nvPr/>
        </p:nvGraphicFramePr>
        <p:xfrm>
          <a:off x="1057275" y="3770313"/>
          <a:ext cx="11287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01600" imgH="5486400" progId="Equation.3">
                  <p:embed/>
                </p:oleObj>
              </mc:Choice>
              <mc:Fallback>
                <p:oleObj name="Equation" r:id="rId12" imgW="12801600" imgH="5486400" progId="Equation.3">
                  <p:embed/>
                  <p:pic>
                    <p:nvPicPr>
                      <p:cNvPr id="6964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3770313"/>
                        <a:ext cx="1128713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8"/>
          <p:cNvGraphicFramePr>
            <a:graphicFrameLocks noChangeAspect="1"/>
          </p:cNvGraphicFramePr>
          <p:nvPr/>
        </p:nvGraphicFramePr>
        <p:xfrm>
          <a:off x="3030538" y="3783013"/>
          <a:ext cx="32226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57600" imgH="4876800" progId="Equation.3">
                  <p:embed/>
                </p:oleObj>
              </mc:Choice>
              <mc:Fallback>
                <p:oleObj name="Equation" r:id="rId14" imgW="3657600" imgH="4876800" progId="Equation.3">
                  <p:embed/>
                  <p:pic>
                    <p:nvPicPr>
                      <p:cNvPr id="6964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3783013"/>
                        <a:ext cx="322262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9"/>
          <p:cNvGraphicFramePr>
            <a:graphicFrameLocks noChangeAspect="1"/>
          </p:cNvGraphicFramePr>
          <p:nvPr/>
        </p:nvGraphicFramePr>
        <p:xfrm>
          <a:off x="5695950" y="3856038"/>
          <a:ext cx="32385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57600" imgH="3352800" progId="Equation.3">
                  <p:embed/>
                </p:oleObj>
              </mc:Choice>
              <mc:Fallback>
                <p:oleObj name="Equation" r:id="rId15" imgW="3657600" imgH="3352800" progId="Equation.3">
                  <p:embed/>
                  <p:pic>
                    <p:nvPicPr>
                      <p:cNvPr id="6964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3856038"/>
                        <a:ext cx="323850" cy="258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1"/>
          <p:cNvGraphicFramePr>
            <a:graphicFrameLocks noChangeAspect="1"/>
          </p:cNvGraphicFramePr>
          <p:nvPr/>
        </p:nvGraphicFramePr>
        <p:xfrm>
          <a:off x="1752600" y="4800600"/>
          <a:ext cx="5095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91200" imgH="4876800" progId="Equation.3">
                  <p:embed/>
                </p:oleObj>
              </mc:Choice>
              <mc:Fallback>
                <p:oleObj name="Equation" r:id="rId16" imgW="5791200" imgH="4876800" progId="Equation.3">
                  <p:embed/>
                  <p:pic>
                    <p:nvPicPr>
                      <p:cNvPr id="6964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00600"/>
                        <a:ext cx="509588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2"/>
          <p:cNvGraphicFramePr>
            <a:graphicFrameLocks noChangeAspect="1"/>
          </p:cNvGraphicFramePr>
          <p:nvPr/>
        </p:nvGraphicFramePr>
        <p:xfrm>
          <a:off x="6248400" y="4876800"/>
          <a:ext cx="40322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0" imgH="3657600" progId="Equation.3">
                  <p:embed/>
                </p:oleObj>
              </mc:Choice>
              <mc:Fallback>
                <p:oleObj name="Equation" r:id="rId18" imgW="4572000" imgH="3657600" progId="Equation.3">
                  <p:embed/>
                  <p:pic>
                    <p:nvPicPr>
                      <p:cNvPr id="6964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876800"/>
                        <a:ext cx="403225" cy="280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888"/>
            <a:ext cx="7886700" cy="5000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a typeface="+mj-ea"/>
              </a:rPr>
              <a:t>Grammar  (Examples)</a:t>
            </a:r>
            <a:endParaRPr lang="en-US" dirty="0">
              <a:ea typeface="+mj-ea"/>
            </a:endParaRPr>
          </a:p>
        </p:txBody>
      </p:sp>
      <p:sp>
        <p:nvSpPr>
          <p:cNvPr id="706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651000"/>
            <a:ext cx="7886700" cy="3967163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G = ({S, A}, {a, b}, P, S), where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P: S → aA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A → b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                       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3608388" y="3074988"/>
            <a:ext cx="420687" cy="26828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1" name="TextBox 7"/>
          <p:cNvSpPr txBox="1">
            <a:spLocks noChangeArrowheads="1"/>
          </p:cNvSpPr>
          <p:nvPr/>
        </p:nvSpPr>
        <p:spPr bwMode="auto">
          <a:xfrm>
            <a:off x="3897313" y="2630488"/>
            <a:ext cx="27781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sp>
        <p:nvSpPr>
          <p:cNvPr id="70662" name="TextBox 9"/>
          <p:cNvSpPr txBox="1">
            <a:spLocks noChangeArrowheads="1"/>
          </p:cNvSpPr>
          <p:nvPr/>
        </p:nvSpPr>
        <p:spPr bwMode="auto">
          <a:xfrm>
            <a:off x="3536950" y="3292475"/>
            <a:ext cx="27781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a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16200000" flipH="1">
            <a:off x="4031456" y="3064669"/>
            <a:ext cx="411163" cy="2571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4" name="TextBox 16"/>
          <p:cNvSpPr txBox="1">
            <a:spLocks noChangeArrowheads="1"/>
          </p:cNvSpPr>
          <p:nvPr/>
        </p:nvSpPr>
        <p:spPr bwMode="auto">
          <a:xfrm>
            <a:off x="4224338" y="3292475"/>
            <a:ext cx="34131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A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16200000" flipH="1">
            <a:off x="4190206" y="3772694"/>
            <a:ext cx="403225" cy="142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6" name="TextBox 21"/>
          <p:cNvSpPr txBox="1">
            <a:spLocks noChangeArrowheads="1"/>
          </p:cNvSpPr>
          <p:nvPr/>
        </p:nvSpPr>
        <p:spPr bwMode="auto">
          <a:xfrm>
            <a:off x="4268788" y="3930650"/>
            <a:ext cx="27781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b</a:t>
            </a:r>
          </a:p>
        </p:txBody>
      </p:sp>
      <p:sp>
        <p:nvSpPr>
          <p:cNvPr id="70667" name="TextBox 22"/>
          <p:cNvSpPr txBox="1">
            <a:spLocks noChangeArrowheads="1"/>
          </p:cNvSpPr>
          <p:nvPr/>
        </p:nvSpPr>
        <p:spPr bwMode="auto">
          <a:xfrm>
            <a:off x="735013" y="4603750"/>
            <a:ext cx="225266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L(G) = { ab }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064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Grammar</a:t>
            </a:r>
            <a:endParaRPr lang="en-US" altLang="en-US">
              <a:ea typeface="Angsana New"/>
              <a:cs typeface="Angsana New"/>
            </a:endParaRPr>
          </a:p>
        </p:txBody>
      </p:sp>
      <p:sp>
        <p:nvSpPr>
          <p:cNvPr id="7168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78000"/>
            <a:ext cx="7886700" cy="3919538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G = ({S}, {a, b}, P, S), where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P:  S → aS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S → b           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>
              <a:ea typeface="Cordia New"/>
              <a:cs typeface="Cordia New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906713" y="2497138"/>
            <a:ext cx="300037" cy="989012"/>
            <a:chOff x="5917516" y="3444236"/>
            <a:chExt cx="400594" cy="1320355"/>
          </a:xfrm>
        </p:grpSpPr>
        <p:sp>
          <p:nvSpPr>
            <p:cNvPr id="71726" name="TextBox 5"/>
            <p:cNvSpPr txBox="1">
              <a:spLocks noChangeArrowheads="1"/>
            </p:cNvSpPr>
            <p:nvPr/>
          </p:nvSpPr>
          <p:spPr bwMode="auto">
            <a:xfrm>
              <a:off x="5917516" y="3444236"/>
              <a:ext cx="400594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S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rot="16200000" flipH="1">
              <a:off x="5863491" y="4098054"/>
              <a:ext cx="500167" cy="190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28" name="TextBox 7"/>
            <p:cNvSpPr txBox="1">
              <a:spLocks noChangeArrowheads="1"/>
            </p:cNvSpPr>
            <p:nvPr/>
          </p:nvSpPr>
          <p:spPr bwMode="auto">
            <a:xfrm>
              <a:off x="5956705" y="4210594"/>
              <a:ext cx="32657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b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490913" y="2482850"/>
            <a:ext cx="809625" cy="1600200"/>
            <a:chOff x="5098903" y="2595150"/>
            <a:chExt cx="1219207" cy="2182327"/>
          </a:xfrm>
        </p:grpSpPr>
        <p:cxnSp>
          <p:nvCxnSpPr>
            <p:cNvPr id="10" name="Straight Arrow Connector 9"/>
            <p:cNvCxnSpPr/>
            <p:nvPr/>
          </p:nvCxnSpPr>
          <p:spPr>
            <a:xfrm rot="5400000">
              <a:off x="5168035" y="3157348"/>
              <a:ext cx="523932" cy="3131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19" name="TextBox 10"/>
            <p:cNvSpPr txBox="1">
              <a:spLocks noChangeArrowheads="1"/>
            </p:cNvSpPr>
            <p:nvPr/>
          </p:nvSpPr>
          <p:spPr bwMode="auto">
            <a:xfrm>
              <a:off x="5521275" y="2595150"/>
              <a:ext cx="326571" cy="5668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S</a:t>
              </a:r>
            </a:p>
          </p:txBody>
        </p:sp>
        <p:sp>
          <p:nvSpPr>
            <p:cNvPr id="71720" name="TextBox 11"/>
            <p:cNvSpPr txBox="1">
              <a:spLocks noChangeArrowheads="1"/>
            </p:cNvSpPr>
            <p:nvPr/>
          </p:nvSpPr>
          <p:spPr bwMode="auto">
            <a:xfrm>
              <a:off x="5098903" y="3418108"/>
              <a:ext cx="326571" cy="5668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a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rot="16200000" flipH="1">
              <a:off x="5665686" y="3143952"/>
              <a:ext cx="508776" cy="2988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71"/>
            <p:cNvGrpSpPr>
              <a:grpSpLocks/>
            </p:cNvGrpSpPr>
            <p:nvPr/>
          </p:nvGrpSpPr>
          <p:grpSpPr bwMode="auto">
            <a:xfrm>
              <a:off x="5917516" y="3444236"/>
              <a:ext cx="400594" cy="1333241"/>
              <a:chOff x="5917516" y="3444236"/>
              <a:chExt cx="400594" cy="1333241"/>
            </a:xfrm>
          </p:grpSpPr>
          <p:sp>
            <p:nvSpPr>
              <p:cNvPr id="71723" name="TextBox 14"/>
              <p:cNvSpPr txBox="1">
                <a:spLocks noChangeArrowheads="1"/>
              </p:cNvSpPr>
              <p:nvPr/>
            </p:nvSpPr>
            <p:spPr bwMode="auto">
              <a:xfrm>
                <a:off x="5917516" y="3444236"/>
                <a:ext cx="400594" cy="5668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en-US" sz="2100"/>
                  <a:t>S</a:t>
                </a: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 rot="16200000" flipH="1">
                <a:off x="5863656" y="4099039"/>
                <a:ext cx="500116" cy="167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725" name="TextBox 16"/>
              <p:cNvSpPr txBox="1">
                <a:spLocks noChangeArrowheads="1"/>
              </p:cNvSpPr>
              <p:nvPr/>
            </p:nvSpPr>
            <p:spPr bwMode="auto">
              <a:xfrm>
                <a:off x="5956705" y="4210595"/>
                <a:ext cx="326570" cy="5668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en-US" sz="2100"/>
                  <a:t>b</a:t>
                </a:r>
              </a:p>
            </p:txBody>
          </p:sp>
        </p:grpSp>
      </p:grpSp>
      <p:sp>
        <p:nvSpPr>
          <p:cNvPr id="71686" name="TextBox 18"/>
          <p:cNvSpPr txBox="1">
            <a:spLocks noChangeArrowheads="1"/>
          </p:cNvSpPr>
          <p:nvPr/>
        </p:nvSpPr>
        <p:spPr bwMode="auto">
          <a:xfrm>
            <a:off x="4821238" y="2466975"/>
            <a:ext cx="22066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4535488" y="2747963"/>
            <a:ext cx="330200" cy="638175"/>
            <a:chOff x="6688233" y="3048001"/>
            <a:chExt cx="487688" cy="1044190"/>
          </a:xfrm>
        </p:grpSpPr>
        <p:cxnSp>
          <p:nvCxnSpPr>
            <p:cNvPr id="30" name="Straight Arrow Connector 29"/>
            <p:cNvCxnSpPr/>
            <p:nvPr/>
          </p:nvCxnSpPr>
          <p:spPr>
            <a:xfrm rot="5400000">
              <a:off x="6757782" y="3151956"/>
              <a:ext cx="522094" cy="3141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17" name="TextBox 30"/>
            <p:cNvSpPr txBox="1">
              <a:spLocks noChangeArrowheads="1"/>
            </p:cNvSpPr>
            <p:nvPr/>
          </p:nvSpPr>
          <p:spPr bwMode="auto">
            <a:xfrm>
              <a:off x="6688233" y="3413751"/>
              <a:ext cx="326570" cy="678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a</a:t>
              </a: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 rot="16200000" flipH="1">
            <a:off x="4934744" y="2794794"/>
            <a:ext cx="311150" cy="2016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89" name="TextBox 21"/>
          <p:cNvSpPr txBox="1">
            <a:spLocks noChangeArrowheads="1"/>
          </p:cNvSpPr>
          <p:nvPr/>
        </p:nvSpPr>
        <p:spPr bwMode="auto">
          <a:xfrm>
            <a:off x="5087938" y="2987675"/>
            <a:ext cx="271462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16200000" flipH="1">
            <a:off x="5360988" y="3935412"/>
            <a:ext cx="306388" cy="1111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1" name="TextBox 23"/>
          <p:cNvSpPr txBox="1">
            <a:spLocks noChangeArrowheads="1"/>
          </p:cNvSpPr>
          <p:nvPr/>
        </p:nvSpPr>
        <p:spPr bwMode="auto">
          <a:xfrm>
            <a:off x="5391150" y="4024313"/>
            <a:ext cx="2619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b</a:t>
            </a: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4849813" y="3240088"/>
            <a:ext cx="330200" cy="639762"/>
            <a:chOff x="6688233" y="3048001"/>
            <a:chExt cx="487688" cy="1044190"/>
          </a:xfrm>
        </p:grpSpPr>
        <p:cxnSp>
          <p:nvCxnSpPr>
            <p:cNvPr id="28" name="Straight Arrow Connector 27"/>
            <p:cNvCxnSpPr/>
            <p:nvPr/>
          </p:nvCxnSpPr>
          <p:spPr>
            <a:xfrm rot="5400000">
              <a:off x="6757134" y="3152605"/>
              <a:ext cx="523391" cy="3141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15" name="TextBox 28"/>
            <p:cNvSpPr txBox="1">
              <a:spLocks noChangeArrowheads="1"/>
            </p:cNvSpPr>
            <p:nvPr/>
          </p:nvSpPr>
          <p:spPr bwMode="auto">
            <a:xfrm>
              <a:off x="6688233" y="3413751"/>
              <a:ext cx="326570" cy="678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a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rot="16200000" flipH="1">
            <a:off x="5204618" y="3294857"/>
            <a:ext cx="328613" cy="203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4" name="TextBox 26"/>
          <p:cNvSpPr txBox="1">
            <a:spLocks noChangeArrowheads="1"/>
          </p:cNvSpPr>
          <p:nvPr/>
        </p:nvSpPr>
        <p:spPr bwMode="auto">
          <a:xfrm>
            <a:off x="5364163" y="3489325"/>
            <a:ext cx="220662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sp>
        <p:nvSpPr>
          <p:cNvPr id="71695" name="TextBox 32"/>
          <p:cNvSpPr txBox="1">
            <a:spLocks noChangeArrowheads="1"/>
          </p:cNvSpPr>
          <p:nvPr/>
        </p:nvSpPr>
        <p:spPr bwMode="auto">
          <a:xfrm>
            <a:off x="6161088" y="2424113"/>
            <a:ext cx="1920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5915025" y="2676525"/>
            <a:ext cx="284163" cy="615950"/>
            <a:chOff x="6688233" y="3048001"/>
            <a:chExt cx="487688" cy="1121893"/>
          </a:xfrm>
        </p:grpSpPr>
        <p:cxnSp>
          <p:nvCxnSpPr>
            <p:cNvPr id="49" name="Straight Arrow Connector 48"/>
            <p:cNvCxnSpPr/>
            <p:nvPr/>
          </p:nvCxnSpPr>
          <p:spPr>
            <a:xfrm rot="5400000">
              <a:off x="6757583" y="3153019"/>
              <a:ext cx="523358" cy="3133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13" name="TextBox 49"/>
            <p:cNvSpPr txBox="1">
              <a:spLocks noChangeArrowheads="1"/>
            </p:cNvSpPr>
            <p:nvPr/>
          </p:nvSpPr>
          <p:spPr bwMode="auto">
            <a:xfrm>
              <a:off x="6688233" y="3413752"/>
              <a:ext cx="326571" cy="756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a</a:t>
              </a:r>
            </a:p>
          </p:txBody>
        </p:sp>
      </p:grpSp>
      <p:cxnSp>
        <p:nvCxnSpPr>
          <p:cNvPr id="35" name="Straight Arrow Connector 34"/>
          <p:cNvCxnSpPr/>
          <p:nvPr/>
        </p:nvCxnSpPr>
        <p:spPr>
          <a:xfrm rot="16200000" flipH="1">
            <a:off x="6254751" y="2770187"/>
            <a:ext cx="279400" cy="1746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8" name="TextBox 35"/>
          <p:cNvSpPr txBox="1">
            <a:spLocks noChangeArrowheads="1"/>
          </p:cNvSpPr>
          <p:nvPr/>
        </p:nvSpPr>
        <p:spPr bwMode="auto">
          <a:xfrm>
            <a:off x="6392863" y="2890838"/>
            <a:ext cx="23495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rot="16200000" flipH="1">
            <a:off x="6866731" y="4294982"/>
            <a:ext cx="276225" cy="11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00" name="TextBox 37"/>
          <p:cNvSpPr txBox="1">
            <a:spLocks noChangeArrowheads="1"/>
          </p:cNvSpPr>
          <p:nvPr/>
        </p:nvSpPr>
        <p:spPr bwMode="auto">
          <a:xfrm>
            <a:off x="6905625" y="4370388"/>
            <a:ext cx="22701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b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6246813" y="3249612"/>
            <a:ext cx="287338" cy="18256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02" name="TextBox 47"/>
          <p:cNvSpPr txBox="1">
            <a:spLocks noChangeArrowheads="1"/>
          </p:cNvSpPr>
          <p:nvPr/>
        </p:nvSpPr>
        <p:spPr bwMode="auto">
          <a:xfrm>
            <a:off x="6157913" y="3338513"/>
            <a:ext cx="1905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a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rot="16200000" flipH="1">
            <a:off x="6519069" y="3229769"/>
            <a:ext cx="293687" cy="1746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04" name="TextBox 40"/>
          <p:cNvSpPr txBox="1">
            <a:spLocks noChangeArrowheads="1"/>
          </p:cNvSpPr>
          <p:nvPr/>
        </p:nvSpPr>
        <p:spPr bwMode="auto">
          <a:xfrm>
            <a:off x="6632575" y="3370263"/>
            <a:ext cx="1905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grpSp>
        <p:nvGrpSpPr>
          <p:cNvPr id="9" name="Group 63"/>
          <p:cNvGrpSpPr>
            <a:grpSpLocks/>
          </p:cNvGrpSpPr>
          <p:nvPr/>
        </p:nvGrpSpPr>
        <p:grpSpPr bwMode="auto">
          <a:xfrm>
            <a:off x="6424613" y="3657600"/>
            <a:ext cx="284162" cy="615950"/>
            <a:chOff x="6688233" y="3048001"/>
            <a:chExt cx="487688" cy="1121893"/>
          </a:xfrm>
        </p:grpSpPr>
        <p:cxnSp>
          <p:nvCxnSpPr>
            <p:cNvPr id="45" name="Straight Arrow Connector 44"/>
            <p:cNvCxnSpPr/>
            <p:nvPr/>
          </p:nvCxnSpPr>
          <p:spPr>
            <a:xfrm rot="5400000">
              <a:off x="6757582" y="3153021"/>
              <a:ext cx="523358" cy="3133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11" name="TextBox 45"/>
            <p:cNvSpPr txBox="1">
              <a:spLocks noChangeArrowheads="1"/>
            </p:cNvSpPr>
            <p:nvPr/>
          </p:nvSpPr>
          <p:spPr bwMode="auto">
            <a:xfrm>
              <a:off x="6688233" y="3413752"/>
              <a:ext cx="326571" cy="756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a</a:t>
              </a:r>
            </a:p>
          </p:txBody>
        </p:sp>
      </p:grpSp>
      <p:sp>
        <p:nvSpPr>
          <p:cNvPr id="71706" name="TextBox 42"/>
          <p:cNvSpPr txBox="1">
            <a:spLocks noChangeArrowheads="1"/>
          </p:cNvSpPr>
          <p:nvPr/>
        </p:nvSpPr>
        <p:spPr bwMode="auto">
          <a:xfrm>
            <a:off x="6862763" y="3856038"/>
            <a:ext cx="1920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S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rot="16200000" flipH="1">
            <a:off x="6730206" y="3704432"/>
            <a:ext cx="325437" cy="177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08" name="TextBox 50"/>
          <p:cNvSpPr txBox="1">
            <a:spLocks noChangeArrowheads="1"/>
          </p:cNvSpPr>
          <p:nvPr/>
        </p:nvSpPr>
        <p:spPr bwMode="auto">
          <a:xfrm>
            <a:off x="1235075" y="4422775"/>
            <a:ext cx="3484563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L(G) = { b, ab, a</a:t>
            </a:r>
            <a:r>
              <a:rPr lang="en-US" altLang="en-US" sz="2100" baseline="30000"/>
              <a:t>2</a:t>
            </a:r>
            <a:r>
              <a:rPr lang="en-US" altLang="en-US" sz="2100"/>
              <a:t>b, a</a:t>
            </a:r>
            <a:r>
              <a:rPr lang="en-US" altLang="en-US" sz="2100" baseline="30000"/>
              <a:t>3</a:t>
            </a:r>
            <a:r>
              <a:rPr lang="en-US" altLang="en-US" sz="2100"/>
              <a:t>b,. . .   }</a:t>
            </a:r>
          </a:p>
        </p:txBody>
      </p:sp>
      <p:sp>
        <p:nvSpPr>
          <p:cNvPr id="71709" name="TextBox 51"/>
          <p:cNvSpPr txBox="1">
            <a:spLocks noChangeArrowheads="1"/>
          </p:cNvSpPr>
          <p:nvPr/>
        </p:nvSpPr>
        <p:spPr bwMode="auto">
          <a:xfrm>
            <a:off x="1255713" y="4924425"/>
            <a:ext cx="3470275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L(G) = { a</a:t>
            </a:r>
            <a:r>
              <a:rPr lang="en-US" altLang="en-US" sz="2100" baseline="30000"/>
              <a:t>n</a:t>
            </a:r>
            <a:r>
              <a:rPr lang="en-US" altLang="en-US" sz="2100"/>
              <a:t>b / n ≥ 0   }  </a:t>
            </a:r>
          </a:p>
        </p:txBody>
      </p:sp>
      <p:sp>
        <p:nvSpPr>
          <p:cNvPr id="50" name="Slide Number Placeholder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033463"/>
            <a:ext cx="7886700" cy="6365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Grammar  (Examples)</a:t>
            </a:r>
            <a:endParaRPr lang="en-US" altLang="en-US">
              <a:ea typeface="Angsana New"/>
              <a:cs typeface="Angsana New"/>
            </a:endParaRPr>
          </a:p>
        </p:txBody>
      </p:sp>
      <p:graphicFrame>
        <p:nvGraphicFramePr>
          <p:cNvPr id="72707" name="Object 39"/>
          <p:cNvGraphicFramePr>
            <a:graphicFrameLocks noChangeAspect="1"/>
          </p:cNvGraphicFramePr>
          <p:nvPr/>
        </p:nvGraphicFramePr>
        <p:xfrm>
          <a:off x="519113" y="3835400"/>
          <a:ext cx="77692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477600" imgH="6705600" progId="Equation.3">
                  <p:embed/>
                </p:oleObj>
              </mc:Choice>
              <mc:Fallback>
                <p:oleObj name="Equation" r:id="rId2" imgW="87477600" imgH="6705600" progId="Equation.3">
                  <p:embed/>
                  <p:pic>
                    <p:nvPicPr>
                      <p:cNvPr id="7270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3835400"/>
                        <a:ext cx="776922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184650" y="2157413"/>
            <a:ext cx="385763" cy="1371600"/>
            <a:chOff x="3875338" y="2185837"/>
            <a:chExt cx="513782" cy="1829624"/>
          </a:xfrm>
        </p:grpSpPr>
        <p:sp>
          <p:nvSpPr>
            <p:cNvPr id="72735" name="TextBox 42"/>
            <p:cNvSpPr txBox="1">
              <a:spLocks noChangeArrowheads="1"/>
            </p:cNvSpPr>
            <p:nvPr/>
          </p:nvSpPr>
          <p:spPr bwMode="auto">
            <a:xfrm>
              <a:off x="3875338" y="2185837"/>
              <a:ext cx="500719" cy="98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 E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 rot="5400000">
              <a:off x="3900366" y="2848658"/>
              <a:ext cx="442582" cy="63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37" name="TextBox 44"/>
            <p:cNvSpPr txBox="1">
              <a:spLocks noChangeArrowheads="1"/>
            </p:cNvSpPr>
            <p:nvPr/>
          </p:nvSpPr>
          <p:spPr bwMode="auto">
            <a:xfrm>
              <a:off x="3911259" y="3030575"/>
              <a:ext cx="477861" cy="98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id</a:t>
              </a:r>
            </a:p>
          </p:txBody>
        </p:sp>
      </p:grpSp>
      <p:sp>
        <p:nvSpPr>
          <p:cNvPr id="52" name="Content Placeholder 2"/>
          <p:cNvSpPr txBox="1"/>
          <p:nvPr/>
        </p:nvSpPr>
        <p:spPr>
          <a:xfrm>
            <a:off x="549275" y="1611313"/>
            <a:ext cx="8297863" cy="4016375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/>
          <a:p>
            <a:pPr marL="171450" indent="-171450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defRPr/>
            </a:pPr>
            <a:r>
              <a:rPr lang="en-US" sz="2100" dirty="0">
                <a:latin typeface="+mn-lt"/>
                <a:ea typeface="+mn-ea"/>
                <a:cs typeface="+mn-cs"/>
              </a:rPr>
              <a:t>G= ({E}, {+, *, (, ), id }, P, E), where </a:t>
            </a:r>
          </a:p>
          <a:p>
            <a:pPr marL="171450" indent="-171450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defRPr/>
            </a:pPr>
            <a:r>
              <a:rPr lang="en-US" sz="2100" dirty="0">
                <a:latin typeface="+mn-lt"/>
                <a:ea typeface="+mn-ea"/>
                <a:cs typeface="+mn-cs"/>
              </a:rPr>
              <a:t>  P:  E → E + E  (rule 1)</a:t>
            </a:r>
          </a:p>
          <a:p>
            <a:pPr marL="171450" indent="-171450" eaLnBrk="1" hangingPunct="1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2100" dirty="0">
                <a:latin typeface="+mn-lt"/>
                <a:ea typeface="+mn-ea"/>
                <a:cs typeface="+mn-cs"/>
              </a:rPr>
              <a:t>       E → E </a:t>
            </a:r>
            <a:r>
              <a:rPr lang="en-US" sz="2100" dirty="0">
                <a:ea typeface="Angsana New" panose="020B0502040204020203" pitchFamily="18" charset="-34"/>
                <a:cs typeface="Angsana New" panose="020B0502040204020203" pitchFamily="18" charset="-34"/>
              </a:rPr>
              <a:t>* E  (rule 2)</a:t>
            </a:r>
            <a:endParaRPr lang="en-US" sz="2100" dirty="0">
              <a:latin typeface="+mn-lt"/>
              <a:ea typeface="+mn-ea"/>
              <a:cs typeface="+mn-cs"/>
            </a:endParaRPr>
          </a:p>
          <a:p>
            <a:pPr marL="171450" indent="-171450" eaLnBrk="1" hangingPunct="1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2100" dirty="0">
                <a:latin typeface="+mn-lt"/>
                <a:ea typeface="+mn-ea"/>
                <a:cs typeface="+mn-cs"/>
              </a:rPr>
              <a:t>       E → (</a:t>
            </a:r>
            <a:r>
              <a:rPr lang="en-US" sz="2100" dirty="0">
                <a:ea typeface="Angsana New" panose="020B0502040204020203" pitchFamily="18" charset="-34"/>
                <a:cs typeface="Angsana New" panose="020B0502040204020203" pitchFamily="18" charset="-34"/>
              </a:rPr>
              <a:t>E)      (rule 3)</a:t>
            </a:r>
            <a:endParaRPr lang="en-US" sz="2100" dirty="0">
              <a:latin typeface="+mn-lt"/>
              <a:ea typeface="+mn-ea"/>
              <a:cs typeface="+mn-cs"/>
            </a:endParaRPr>
          </a:p>
          <a:p>
            <a:pPr marL="171450" indent="-171450" eaLnBrk="1" hangingPunct="1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2100" dirty="0">
                <a:latin typeface="+mn-lt"/>
                <a:ea typeface="+mn-ea"/>
                <a:cs typeface="+mn-cs"/>
              </a:rPr>
              <a:t>       E → </a:t>
            </a:r>
            <a:r>
              <a:rPr lang="en-US" sz="2100" dirty="0">
                <a:ea typeface="Angsana New" panose="020B0502040204020203" pitchFamily="18" charset="-34"/>
                <a:cs typeface="Angsana New" panose="020B0502040204020203" pitchFamily="18" charset="-34"/>
              </a:rPr>
              <a:t>id        (rule 4)</a:t>
            </a:r>
            <a:endParaRPr lang="en-US" sz="2100" dirty="0">
              <a:latin typeface="+mn-lt"/>
              <a:ea typeface="+mn-ea"/>
              <a:cs typeface="+mn-cs"/>
            </a:endParaRPr>
          </a:p>
          <a:p>
            <a:pPr marL="171450" indent="-171450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defRPr/>
            </a:pPr>
            <a:r>
              <a:rPr lang="en-US" sz="2100" dirty="0">
                <a:ea typeface="Angsana New" panose="020B0502040204020203" pitchFamily="18" charset="-34"/>
                <a:cs typeface="Angsana New" panose="020B0502040204020203" pitchFamily="18" charset="-34"/>
              </a:rPr>
              <a:t>Leftmost derivation</a:t>
            </a:r>
            <a:r>
              <a:rPr lang="en-US" sz="2100" dirty="0">
                <a:latin typeface="+mn-lt"/>
                <a:ea typeface="+mn-ea"/>
                <a:cs typeface="+mn-cs"/>
              </a:rPr>
              <a:t>   </a:t>
            </a:r>
          </a:p>
          <a:p>
            <a:pPr marL="171450" indent="-171450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defRPr/>
            </a:pPr>
            <a:endParaRPr lang="en-US" sz="2100" dirty="0">
              <a:ea typeface="Angsana New" panose="020B0502040204020203" pitchFamily="18" charset="-34"/>
              <a:cs typeface="Angsana New" panose="020B0502040204020203" pitchFamily="18" charset="-34"/>
            </a:endParaRPr>
          </a:p>
          <a:p>
            <a:pPr marL="171450" indent="-171450" eaLnBrk="1" hangingPunct="1">
              <a:lnSpc>
                <a:spcPct val="90000"/>
              </a:lnSpc>
              <a:spcBef>
                <a:spcPts val="750"/>
              </a:spcBef>
              <a:defRPr/>
            </a:pPr>
            <a:endParaRPr lang="en-US" sz="2100" dirty="0">
              <a:ea typeface="Angsana New" panose="020B0502040204020203" pitchFamily="18" charset="-34"/>
              <a:cs typeface="Angsana New" panose="020B0502040204020203" pitchFamily="18" charset="-34"/>
            </a:endParaRPr>
          </a:p>
          <a:p>
            <a:pPr marL="171450" indent="-171450" eaLnBrk="1" hangingPunct="1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2100" dirty="0">
                <a:ea typeface="Angsana New" panose="020B0502040204020203" pitchFamily="18" charset="-34"/>
                <a:cs typeface="Angsana New" panose="020B0502040204020203" pitchFamily="18" charset="-34"/>
              </a:rPr>
              <a:t>Rightmost derivation                            </a:t>
            </a:r>
          </a:p>
          <a:p>
            <a:pPr marL="171450" indent="-171450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defRPr/>
            </a:pPr>
            <a:r>
              <a:rPr lang="en-US" sz="2100" dirty="0">
                <a:latin typeface="+mn-lt"/>
                <a:ea typeface="+mn-ea"/>
                <a:cs typeface="+mn-cs"/>
              </a:rPr>
              <a:t>                         </a:t>
            </a:r>
          </a:p>
        </p:txBody>
      </p:sp>
      <p:grpSp>
        <p:nvGrpSpPr>
          <p:cNvPr id="3" name="Group 76"/>
          <p:cNvGrpSpPr>
            <a:grpSpLocks/>
          </p:cNvGrpSpPr>
          <p:nvPr/>
        </p:nvGrpSpPr>
        <p:grpSpPr bwMode="auto">
          <a:xfrm>
            <a:off x="6124575" y="2101850"/>
            <a:ext cx="1001713" cy="1882775"/>
            <a:chOff x="8870843" y="2155372"/>
            <a:chExt cx="1335663" cy="2508882"/>
          </a:xfrm>
        </p:grpSpPr>
        <p:cxnSp>
          <p:nvCxnSpPr>
            <p:cNvPr id="78" name="Straight Arrow Connector 77"/>
            <p:cNvCxnSpPr/>
            <p:nvPr/>
          </p:nvCxnSpPr>
          <p:spPr>
            <a:xfrm rot="5400000">
              <a:off x="8963081" y="2719045"/>
              <a:ext cx="511930" cy="277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rot="16200000" flipH="1">
              <a:off x="9226609" y="2880955"/>
              <a:ext cx="490776" cy="169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27" name="TextBox 79"/>
            <p:cNvSpPr txBox="1">
              <a:spLocks noChangeArrowheads="1"/>
            </p:cNvSpPr>
            <p:nvPr/>
          </p:nvSpPr>
          <p:spPr bwMode="auto">
            <a:xfrm>
              <a:off x="9728645" y="3635823"/>
              <a:ext cx="477861" cy="984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id</a:t>
              </a:r>
            </a:p>
          </p:txBody>
        </p:sp>
        <p:sp>
          <p:nvSpPr>
            <p:cNvPr id="72728" name="TextBox 80"/>
            <p:cNvSpPr txBox="1">
              <a:spLocks noChangeArrowheads="1"/>
            </p:cNvSpPr>
            <p:nvPr/>
          </p:nvSpPr>
          <p:spPr bwMode="auto">
            <a:xfrm>
              <a:off x="9300450" y="2155372"/>
              <a:ext cx="28923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E</a:t>
              </a:r>
            </a:p>
          </p:txBody>
        </p:sp>
        <p:sp>
          <p:nvSpPr>
            <p:cNvPr id="72729" name="TextBox 81"/>
            <p:cNvSpPr txBox="1">
              <a:spLocks noChangeArrowheads="1"/>
            </p:cNvSpPr>
            <p:nvPr/>
          </p:nvSpPr>
          <p:spPr bwMode="auto">
            <a:xfrm>
              <a:off x="8887174" y="2998814"/>
              <a:ext cx="28923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E</a:t>
              </a:r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 rot="16200000" flipH="1">
              <a:off x="9471086" y="2638629"/>
              <a:ext cx="467506" cy="3683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31" name="TextBox 83"/>
            <p:cNvSpPr txBox="1">
              <a:spLocks noChangeArrowheads="1"/>
            </p:cNvSpPr>
            <p:nvPr/>
          </p:nvSpPr>
          <p:spPr bwMode="auto">
            <a:xfrm>
              <a:off x="9742835" y="2972096"/>
              <a:ext cx="35479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E</a:t>
              </a:r>
            </a:p>
          </p:txBody>
        </p:sp>
        <p:sp>
          <p:nvSpPr>
            <p:cNvPr id="72732" name="TextBox 84"/>
            <p:cNvSpPr txBox="1">
              <a:spLocks noChangeArrowheads="1"/>
            </p:cNvSpPr>
            <p:nvPr/>
          </p:nvSpPr>
          <p:spPr bwMode="auto">
            <a:xfrm>
              <a:off x="8870843" y="3679369"/>
              <a:ext cx="477861" cy="984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id</a:t>
              </a:r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rot="16200000" flipH="1">
              <a:off x="9744121" y="3565290"/>
              <a:ext cx="391351" cy="211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rot="16200000" flipH="1">
              <a:off x="8847682" y="3595964"/>
              <a:ext cx="391351" cy="1905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711" name="TextBox 120"/>
          <p:cNvSpPr txBox="1">
            <a:spLocks noChangeArrowheads="1"/>
          </p:cNvSpPr>
          <p:nvPr/>
        </p:nvSpPr>
        <p:spPr bwMode="auto">
          <a:xfrm>
            <a:off x="6462713" y="2778125"/>
            <a:ext cx="21590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/>
              <a:t>*</a:t>
            </a:r>
          </a:p>
        </p:txBody>
      </p:sp>
      <p:graphicFrame>
        <p:nvGraphicFramePr>
          <p:cNvPr id="72712" name="Object 121"/>
          <p:cNvGraphicFramePr>
            <a:graphicFrameLocks noChangeAspect="1"/>
          </p:cNvGraphicFramePr>
          <p:nvPr/>
        </p:nvGraphicFramePr>
        <p:xfrm>
          <a:off x="517525" y="4953000"/>
          <a:ext cx="76136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049600" imgH="6705600" progId="Equation.3">
                  <p:embed/>
                </p:oleObj>
              </mc:Choice>
              <mc:Fallback>
                <p:oleObj name="Equation" r:id="rId4" imgW="92049600" imgH="6705600" progId="Equation.3">
                  <p:embed/>
                  <p:pic>
                    <p:nvPicPr>
                      <p:cNvPr id="72712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4953000"/>
                        <a:ext cx="76136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4"/>
          <p:cNvGrpSpPr>
            <a:grpSpLocks/>
          </p:cNvGrpSpPr>
          <p:nvPr/>
        </p:nvGrpSpPr>
        <p:grpSpPr bwMode="auto">
          <a:xfrm>
            <a:off x="4779963" y="2155825"/>
            <a:ext cx="1001712" cy="1882775"/>
            <a:chOff x="8870843" y="2155372"/>
            <a:chExt cx="1335663" cy="2508882"/>
          </a:xfrm>
        </p:grpSpPr>
        <p:sp>
          <p:nvSpPr>
            <p:cNvPr id="72714" name="TextBox 135"/>
            <p:cNvSpPr txBox="1">
              <a:spLocks noChangeArrowheads="1"/>
            </p:cNvSpPr>
            <p:nvPr/>
          </p:nvSpPr>
          <p:spPr bwMode="auto">
            <a:xfrm>
              <a:off x="9320339" y="2976446"/>
              <a:ext cx="28923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+</a:t>
              </a:r>
            </a:p>
          </p:txBody>
        </p:sp>
        <p:cxnSp>
          <p:nvCxnSpPr>
            <p:cNvPr id="137" name="Straight Arrow Connector 136"/>
            <p:cNvCxnSpPr/>
            <p:nvPr/>
          </p:nvCxnSpPr>
          <p:spPr>
            <a:xfrm rot="5400000">
              <a:off x="8963081" y="2719044"/>
              <a:ext cx="511930" cy="2772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 rot="16200000" flipH="1">
              <a:off x="9226609" y="2880955"/>
              <a:ext cx="490776" cy="169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17" name="TextBox 138"/>
            <p:cNvSpPr txBox="1">
              <a:spLocks noChangeArrowheads="1"/>
            </p:cNvSpPr>
            <p:nvPr/>
          </p:nvSpPr>
          <p:spPr bwMode="auto">
            <a:xfrm>
              <a:off x="9728645" y="3635823"/>
              <a:ext cx="477861" cy="984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id</a:t>
              </a:r>
            </a:p>
          </p:txBody>
        </p:sp>
        <p:sp>
          <p:nvSpPr>
            <p:cNvPr id="72718" name="TextBox 139"/>
            <p:cNvSpPr txBox="1">
              <a:spLocks noChangeArrowheads="1"/>
            </p:cNvSpPr>
            <p:nvPr/>
          </p:nvSpPr>
          <p:spPr bwMode="auto">
            <a:xfrm>
              <a:off x="9300450" y="2155372"/>
              <a:ext cx="28923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E</a:t>
              </a:r>
            </a:p>
          </p:txBody>
        </p:sp>
        <p:sp>
          <p:nvSpPr>
            <p:cNvPr id="72719" name="TextBox 140"/>
            <p:cNvSpPr txBox="1">
              <a:spLocks noChangeArrowheads="1"/>
            </p:cNvSpPr>
            <p:nvPr/>
          </p:nvSpPr>
          <p:spPr bwMode="auto">
            <a:xfrm>
              <a:off x="8887174" y="2998814"/>
              <a:ext cx="28923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E</a:t>
              </a:r>
            </a:p>
          </p:txBody>
        </p:sp>
        <p:cxnSp>
          <p:nvCxnSpPr>
            <p:cNvPr id="142" name="Straight Arrow Connector 141"/>
            <p:cNvCxnSpPr/>
            <p:nvPr/>
          </p:nvCxnSpPr>
          <p:spPr>
            <a:xfrm rot="16200000" flipH="1">
              <a:off x="9471085" y="2638629"/>
              <a:ext cx="467506" cy="3683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21" name="TextBox 142"/>
            <p:cNvSpPr txBox="1">
              <a:spLocks noChangeArrowheads="1"/>
            </p:cNvSpPr>
            <p:nvPr/>
          </p:nvSpPr>
          <p:spPr bwMode="auto">
            <a:xfrm>
              <a:off x="9742835" y="2972096"/>
              <a:ext cx="35479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E</a:t>
              </a:r>
            </a:p>
          </p:txBody>
        </p:sp>
        <p:sp>
          <p:nvSpPr>
            <p:cNvPr id="72722" name="TextBox 143"/>
            <p:cNvSpPr txBox="1">
              <a:spLocks noChangeArrowheads="1"/>
            </p:cNvSpPr>
            <p:nvPr/>
          </p:nvSpPr>
          <p:spPr bwMode="auto">
            <a:xfrm>
              <a:off x="8870843" y="3679369"/>
              <a:ext cx="477861" cy="984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 sz="2100"/>
                <a:t>id</a:t>
              </a:r>
            </a:p>
          </p:txBody>
        </p:sp>
        <p:cxnSp>
          <p:nvCxnSpPr>
            <p:cNvPr id="145" name="Straight Arrow Connector 144"/>
            <p:cNvCxnSpPr/>
            <p:nvPr/>
          </p:nvCxnSpPr>
          <p:spPr>
            <a:xfrm rot="16200000" flipH="1">
              <a:off x="9744122" y="3565290"/>
              <a:ext cx="391351" cy="211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/>
            <p:nvPr/>
          </p:nvCxnSpPr>
          <p:spPr>
            <a:xfrm rot="16200000" flipH="1">
              <a:off x="8847681" y="3595964"/>
              <a:ext cx="391351" cy="190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153400" cy="8858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0 ( Unrestricted Grammar )</a:t>
            </a:r>
          </a:p>
        </p:txBody>
      </p:sp>
      <p:sp>
        <p:nvSpPr>
          <p:cNvPr id="7373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736013" cy="4876800"/>
          </a:xfrm>
        </p:spPr>
        <p:txBody>
          <a:bodyPr/>
          <a:lstStyle/>
          <a:p>
            <a:pPr eaLnBrk="1" hangingPunct="1"/>
            <a:r>
              <a:rPr lang="en-IN" altLang="en-US" sz="1800">
                <a:latin typeface="Arial" pitchFamily="34" charset="0"/>
                <a:ea typeface="Cordia New"/>
                <a:cs typeface="Arial" pitchFamily="34" charset="0"/>
              </a:rPr>
              <a:t>Type-0 grammars include all formal grammars. Type 0 grammar language are recognized by </a:t>
            </a:r>
            <a:r>
              <a:rPr lang="en-IN" altLang="en-US" sz="1800">
                <a:solidFill>
                  <a:srgbClr val="FF0000"/>
                </a:solidFill>
                <a:latin typeface="Arial" pitchFamily="34" charset="0"/>
                <a:ea typeface="Cordia New"/>
                <a:cs typeface="Arial" pitchFamily="34" charset="0"/>
              </a:rPr>
              <a:t>Turing machine</a:t>
            </a:r>
            <a:r>
              <a:rPr lang="en-IN" altLang="en-US" sz="1800">
                <a:solidFill>
                  <a:srgbClr val="FFC000"/>
                </a:solidFill>
                <a:latin typeface="Arial" pitchFamily="34" charset="0"/>
                <a:ea typeface="Cordia New"/>
                <a:cs typeface="Arial" pitchFamily="34" charset="0"/>
              </a:rPr>
              <a:t>.</a:t>
            </a:r>
          </a:p>
          <a:p>
            <a:pPr eaLnBrk="1" hangingPunct="1"/>
            <a:r>
              <a:rPr lang="en-IN" altLang="en-US" sz="1800">
                <a:latin typeface="Arial" pitchFamily="34" charset="0"/>
                <a:ea typeface="Cordia New"/>
                <a:cs typeface="Arial" pitchFamily="34" charset="0"/>
              </a:rPr>
              <a:t> These languages are also known as the recursively enumerable languages.</a:t>
            </a:r>
          </a:p>
          <a:p>
            <a:pPr eaLnBrk="1" hangingPunct="1"/>
            <a:r>
              <a:rPr lang="en-IN" altLang="en-US" sz="1800">
                <a:latin typeface="Arial" pitchFamily="34" charset="0"/>
                <a:ea typeface="Cordia New"/>
                <a:cs typeface="Arial" pitchFamily="34" charset="0"/>
              </a:rPr>
              <a:t>Grammar Production in the form of</a:t>
            </a:r>
          </a:p>
          <a:p>
            <a:pPr eaLnBrk="1" hangingPunct="1"/>
            <a:endParaRPr lang="en-IN" altLang="en-US">
              <a:latin typeface="Arial" pitchFamily="34" charset="0"/>
              <a:ea typeface="Cordia New"/>
              <a:cs typeface="Arial" pitchFamily="34" charset="0"/>
            </a:endParaRPr>
          </a:p>
        </p:txBody>
      </p:sp>
      <p:pic>
        <p:nvPicPr>
          <p:cNvPr id="7373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514600"/>
            <a:ext cx="14763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950" y="2957513"/>
            <a:ext cx="4464050" cy="366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7538" y="3141663"/>
            <a:ext cx="4608512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153400" cy="8858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0 ( Unrestricted Grammar )</a:t>
            </a:r>
          </a:p>
        </p:txBody>
      </p:sp>
      <p:sp>
        <p:nvSpPr>
          <p:cNvPr id="7577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64575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IN" altLang="en-US" b="1">
                <a:ea typeface="Cordia New"/>
                <a:cs typeface="Cordia New"/>
              </a:rPr>
              <a:t>Grammar:</a:t>
            </a:r>
            <a:r>
              <a:rPr lang="en-IN" altLang="en-US">
                <a:ea typeface="Cordia New"/>
                <a:cs typeface="Cordia New"/>
              </a:rPr>
              <a:t> Unrestricted</a:t>
            </a:r>
          </a:p>
          <a:p>
            <a:pPr eaLnBrk="1" hangingPunct="1"/>
            <a:r>
              <a:rPr lang="en-IN" altLang="en-US" b="1">
                <a:ea typeface="Cordia New"/>
                <a:cs typeface="Cordia New"/>
              </a:rPr>
              <a:t>Language:</a:t>
            </a:r>
            <a:r>
              <a:rPr lang="en-IN" altLang="en-US">
                <a:ea typeface="Cordia New"/>
                <a:cs typeface="Cordia New"/>
              </a:rPr>
              <a:t> Recursively Enumerable, Recursive</a:t>
            </a:r>
          </a:p>
          <a:p>
            <a:pPr eaLnBrk="1" hangingPunct="1"/>
            <a:r>
              <a:rPr lang="en-IN" altLang="en-US" b="1">
                <a:ea typeface="Cordia New"/>
                <a:cs typeface="Cordia New"/>
              </a:rPr>
              <a:t>Automaton:</a:t>
            </a:r>
            <a:r>
              <a:rPr lang="en-IN" altLang="en-US">
                <a:ea typeface="Cordia New"/>
                <a:cs typeface="Cordia New"/>
              </a:rPr>
              <a:t> Turing machine</a:t>
            </a:r>
          </a:p>
          <a:p>
            <a:pPr eaLnBrk="1" hangingPunct="1"/>
            <a:r>
              <a:rPr lang="en-IN" altLang="en-US" b="1">
                <a:ea typeface="Cordia New"/>
                <a:cs typeface="Cordia New"/>
              </a:rPr>
              <a:t>Definition:</a:t>
            </a:r>
            <a:r>
              <a:rPr lang="en-IN" altLang="en-US">
                <a:ea typeface="Cordia New"/>
                <a:cs typeface="Cordia New"/>
              </a:rPr>
              <a:t>(C</a:t>
            </a:r>
            <a:r>
              <a:rPr lang="en-IN" altLang="en-US" sz="1800">
                <a:ea typeface="Cordia New"/>
                <a:cs typeface="Cordia New"/>
              </a:rPr>
              <a:t>U</a:t>
            </a:r>
            <a:r>
              <a:rPr lang="en-IN" altLang="en-US">
                <a:ea typeface="Cordia New"/>
                <a:cs typeface="Cordia New"/>
              </a:rPr>
              <a:t>V)*→(∑</a:t>
            </a:r>
            <a:r>
              <a:rPr lang="en-IN" altLang="en-US" sz="1800">
                <a:ea typeface="Cordia New"/>
                <a:cs typeface="Cordia New"/>
              </a:rPr>
              <a:t>U</a:t>
            </a:r>
            <a:r>
              <a:rPr lang="en-IN" altLang="en-US">
                <a:ea typeface="Cordia New"/>
                <a:cs typeface="Cordia New"/>
              </a:rPr>
              <a:t>V)* With at least one variable in LHS</a:t>
            </a:r>
          </a:p>
          <a:p>
            <a:pPr eaLnBrk="1" hangingPunct="1">
              <a:buFontTx/>
              <a:buNone/>
            </a:pPr>
            <a:r>
              <a:rPr lang="en-IN" altLang="en-US" b="1" i="1">
                <a:ea typeface="Cordia New"/>
                <a:cs typeface="Cordia New"/>
              </a:rPr>
              <a:t>Example: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 S → Aa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 sBb → abc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a → Acb (not type-0 as there is no variable on LHS)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aB → BabcS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153400" cy="442913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1 (Context Sensitive )</a:t>
            </a:r>
          </a:p>
        </p:txBody>
      </p:sp>
      <p:sp>
        <p:nvSpPr>
          <p:cNvPr id="768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/>
          <a:lstStyle/>
          <a:p>
            <a:pPr eaLnBrk="1" hangingPunct="1"/>
            <a:r>
              <a:rPr lang="en-IN" altLang="en-US" sz="2000" dirty="0">
                <a:ea typeface="Cordia New"/>
                <a:cs typeface="Cordia New"/>
              </a:rPr>
              <a:t>Type-1 grammars generate the context-sensitive languages. The language generated by the grammar are recognized by the </a:t>
            </a:r>
            <a:r>
              <a:rPr lang="en-IN" altLang="en-US" sz="2000" b="1" dirty="0">
                <a:solidFill>
                  <a:srgbClr val="FF0000"/>
                </a:solidFill>
                <a:ea typeface="Cordia New"/>
                <a:cs typeface="Cordia New"/>
              </a:rPr>
              <a:t>Linear Bound Automata</a:t>
            </a:r>
            <a:r>
              <a:rPr lang="en-IN" altLang="en-US" sz="2000" dirty="0">
                <a:ea typeface="Cordia New"/>
                <a:cs typeface="Cordia New"/>
              </a:rPr>
              <a:t>.</a:t>
            </a:r>
          </a:p>
          <a:p>
            <a:pPr eaLnBrk="1" hangingPunct="1"/>
            <a:endParaRPr lang="en-IN" altLang="en-US" dirty="0">
              <a:ea typeface="Cordia New"/>
              <a:cs typeface="Cordia New"/>
            </a:endParaRPr>
          </a:p>
        </p:txBody>
      </p:sp>
      <p:pic>
        <p:nvPicPr>
          <p:cNvPr id="7680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2159000"/>
            <a:ext cx="3529013" cy="429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79838" y="2349500"/>
            <a:ext cx="518477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153400" cy="4429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1 (Context Sensitive )</a:t>
            </a:r>
          </a:p>
        </p:txBody>
      </p:sp>
      <p:sp>
        <p:nvSpPr>
          <p:cNvPr id="778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520113" cy="5218113"/>
          </a:xfrm>
        </p:spPr>
        <p:txBody>
          <a:bodyPr/>
          <a:lstStyle/>
          <a:p>
            <a:pPr eaLnBrk="1" hangingPunct="1"/>
            <a:r>
              <a:rPr lang="en-IN" altLang="en-US" b="1">
                <a:ea typeface="Cordia New"/>
                <a:cs typeface="Cordia New"/>
              </a:rPr>
              <a:t>Grammar:</a:t>
            </a:r>
            <a:r>
              <a:rPr lang="en-IN" altLang="en-US">
                <a:ea typeface="Cordia New"/>
                <a:cs typeface="Cordia New"/>
              </a:rPr>
              <a:t> context-sensitive</a:t>
            </a:r>
          </a:p>
          <a:p>
            <a:pPr eaLnBrk="1" hangingPunct="1"/>
            <a:r>
              <a:rPr lang="en-IN" altLang="en-US" b="1">
                <a:ea typeface="Cordia New"/>
                <a:cs typeface="Cordia New"/>
              </a:rPr>
              <a:t>Language:</a:t>
            </a:r>
            <a:r>
              <a:rPr lang="en-IN" altLang="en-US">
                <a:ea typeface="Cordia New"/>
                <a:cs typeface="Cordia New"/>
              </a:rPr>
              <a:t> context-sensitive</a:t>
            </a:r>
          </a:p>
          <a:p>
            <a:pPr eaLnBrk="1" hangingPunct="1"/>
            <a:r>
              <a:rPr lang="en-IN" altLang="en-US" b="1">
                <a:ea typeface="Cordia New"/>
                <a:cs typeface="Cordia New"/>
              </a:rPr>
              <a:t>Automaton:</a:t>
            </a:r>
            <a:r>
              <a:rPr lang="en-IN" altLang="en-US">
                <a:ea typeface="Cordia New"/>
                <a:cs typeface="Cordia New"/>
              </a:rPr>
              <a:t> linear-bounded automaton</a:t>
            </a:r>
          </a:p>
          <a:p>
            <a:pPr eaLnBrk="1" hangingPunct="1"/>
            <a:r>
              <a:rPr lang="en-IN" altLang="en-US" b="1">
                <a:ea typeface="Cordia New"/>
                <a:cs typeface="Cordia New"/>
              </a:rPr>
              <a:t>Definition:</a:t>
            </a:r>
            <a:r>
              <a:rPr lang="en-IN" altLang="en-US">
                <a:ea typeface="Cordia New"/>
                <a:cs typeface="Cordia New"/>
              </a:rPr>
              <a:t> (T</a:t>
            </a:r>
            <a:r>
              <a:rPr lang="en-IN" altLang="en-US" sz="1600">
                <a:ea typeface="Cordia New"/>
                <a:cs typeface="Cordia New"/>
              </a:rPr>
              <a:t>U</a:t>
            </a:r>
            <a:r>
              <a:rPr lang="en-IN" altLang="en-US">
                <a:ea typeface="Cordia New"/>
                <a:cs typeface="Cordia New"/>
              </a:rPr>
              <a:t>V)*→ (T</a:t>
            </a:r>
            <a:r>
              <a:rPr lang="en-IN" altLang="en-US" sz="1600">
                <a:ea typeface="Cordia New"/>
                <a:cs typeface="Cordia New"/>
              </a:rPr>
              <a:t>U</a:t>
            </a:r>
            <a:r>
              <a:rPr lang="en-IN" altLang="en-US">
                <a:ea typeface="Cordia New"/>
                <a:cs typeface="Cordia New"/>
              </a:rPr>
              <a:t>V)* Size of LHS ≤ RHS   </a:t>
            </a:r>
          </a:p>
          <a:p>
            <a:pPr eaLnBrk="1" hangingPunct="1"/>
            <a:r>
              <a:rPr lang="en-IN" altLang="en-US">
                <a:ea typeface="Cordia New"/>
                <a:cs typeface="Cordia New"/>
              </a:rPr>
              <a:t>i.e. if x→y then│x│≤ │y│   and  αAβ → αBβ     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</a:pPr>
            <a:r>
              <a:rPr lang="en-IN" altLang="en-US">
                <a:ea typeface="Cordia New"/>
                <a:cs typeface="Cordia New"/>
              </a:rPr>
              <a:t>Where  α = left context,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	β = right context,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	A = a Variable,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	B = anything (TUV)*(Should not be empty)</a:t>
            </a:r>
          </a:p>
          <a:p>
            <a:pPr eaLnBrk="1" hangingPunct="1">
              <a:lnSpc>
                <a:spcPts val="2875"/>
              </a:lnSpc>
              <a:spcBef>
                <a:spcPct val="0"/>
              </a:spcBef>
              <a:buFontTx/>
              <a:buNone/>
            </a:pPr>
            <a:r>
              <a:rPr lang="en-IN" altLang="en-US">
                <a:ea typeface="Cordia New"/>
                <a:cs typeface="Cordia New"/>
              </a:rPr>
              <a:t>T-Terminal (∑) and V- Nonterminal or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>
          <a:xfrm>
            <a:off x="250825" y="260350"/>
            <a:ext cx="8153400" cy="720725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2 ( Context Free )</a:t>
            </a:r>
            <a:b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</a:br>
            <a:endParaRPr lang="en-IN" altLang="en-US" dirty="0">
              <a:solidFill>
                <a:srgbClr val="FF0000"/>
              </a:solidFill>
              <a:cs typeface="Angsana New" panose="020B0502040204020203" pitchFamily="18" charset="-34"/>
            </a:endParaRPr>
          </a:p>
        </p:txBody>
      </p:sp>
      <p:sp>
        <p:nvSpPr>
          <p:cNvPr id="798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63525" y="1433513"/>
            <a:ext cx="8664575" cy="4987925"/>
          </a:xfrm>
        </p:spPr>
        <p:txBody>
          <a:bodyPr/>
          <a:lstStyle/>
          <a:p>
            <a:pPr eaLnBrk="1" hangingPunct="1"/>
            <a:r>
              <a:rPr lang="en-IN" altLang="en-US" sz="2000">
                <a:ea typeface="Cordia New"/>
                <a:cs typeface="Cordia New"/>
              </a:rPr>
              <a:t>Type-2 grammars generate </a:t>
            </a:r>
            <a:r>
              <a:rPr lang="en-IN" altLang="en-US" sz="2000">
                <a:solidFill>
                  <a:srgbClr val="FF0000"/>
                </a:solidFill>
                <a:ea typeface="Cordia New"/>
                <a:cs typeface="Cordia New"/>
              </a:rPr>
              <a:t>the context-free languages</a:t>
            </a:r>
            <a:r>
              <a:rPr lang="en-IN" altLang="en-US" sz="2000">
                <a:ea typeface="Cordia New"/>
                <a:cs typeface="Cordia New"/>
              </a:rPr>
              <a:t>. The language generated by the grammar is recognized by a </a:t>
            </a:r>
            <a:r>
              <a:rPr lang="en-IN" altLang="en-US" sz="2000">
                <a:solidFill>
                  <a:srgbClr val="FF0000"/>
                </a:solidFill>
                <a:ea typeface="Cordia New"/>
                <a:cs typeface="Cordia New"/>
              </a:rPr>
              <a:t>Non Deterministic Push down Automata</a:t>
            </a:r>
            <a:r>
              <a:rPr lang="en-IN" altLang="en-US" sz="2000">
                <a:ea typeface="Cordia New"/>
                <a:cs typeface="Cordia New"/>
              </a:rPr>
              <a:t>.</a:t>
            </a:r>
            <a:r>
              <a:rPr lang="en-IN" altLang="en-US" sz="2000">
                <a:solidFill>
                  <a:srgbClr val="FF0000"/>
                </a:solidFill>
                <a:ea typeface="Cordia New"/>
                <a:cs typeface="Cordia New"/>
              </a:rPr>
              <a:t>.</a:t>
            </a:r>
          </a:p>
        </p:txBody>
      </p:sp>
      <p:pic>
        <p:nvPicPr>
          <p:cNvPr id="7987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098675"/>
            <a:ext cx="3673475" cy="437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8050" y="2205038"/>
            <a:ext cx="554355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107950" y="260350"/>
            <a:ext cx="8153400" cy="887413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2 ( Context Free )</a:t>
            </a:r>
            <a:b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</a:br>
            <a:endParaRPr lang="en-IN" altLang="en-US" dirty="0">
              <a:solidFill>
                <a:srgbClr val="FF0000"/>
              </a:solidFill>
              <a:cs typeface="Angsana New" panose="020B0502040204020203" pitchFamily="18" charset="-34"/>
            </a:endParaRPr>
          </a:p>
        </p:txBody>
      </p:sp>
      <p:sp>
        <p:nvSpPr>
          <p:cNvPr id="808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28600" y="981075"/>
            <a:ext cx="8229600" cy="541972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Tx/>
              <a:buNone/>
            </a:pPr>
            <a:r>
              <a:rPr lang="en-IN" altLang="en-US" dirty="0">
                <a:ea typeface="Cordia New"/>
                <a:cs typeface="Cordia New"/>
              </a:rPr>
              <a:t>Grammar: context-free </a:t>
            </a:r>
          </a:p>
          <a:p>
            <a:pPr marL="0" indent="0" eaLnBrk="1" hangingPunct="1">
              <a:buFontTx/>
              <a:buNone/>
            </a:pPr>
            <a:r>
              <a:rPr lang="en-IN" altLang="en-US" dirty="0">
                <a:ea typeface="Cordia New"/>
                <a:cs typeface="Cordia New"/>
              </a:rPr>
              <a:t>Language: context-free </a:t>
            </a:r>
          </a:p>
          <a:p>
            <a:pPr marL="0" indent="0" eaLnBrk="1" hangingPunct="1">
              <a:buFontTx/>
              <a:buNone/>
            </a:pPr>
            <a:r>
              <a:rPr lang="en-IN" altLang="en-US" dirty="0">
                <a:ea typeface="Cordia New"/>
                <a:cs typeface="Cordia New"/>
              </a:rPr>
              <a:t>Automaton: pushdown automaton </a:t>
            </a:r>
          </a:p>
          <a:p>
            <a:pPr marL="0" indent="0" eaLnBrk="1" hangingPunct="1"/>
            <a:r>
              <a:rPr lang="en-IN" altLang="en-US" dirty="0">
                <a:ea typeface="Cordia New"/>
                <a:cs typeface="Cordia New"/>
              </a:rPr>
              <a:t>Definition: </a:t>
            </a:r>
            <a:r>
              <a:rPr lang="fr-FR" altLang="en-US" dirty="0">
                <a:ea typeface="Cordia New"/>
                <a:cs typeface="Cordia New"/>
              </a:rPr>
              <a:t> x → y,   x∈ V(Non terminal), y∈ (V ∪ T</a:t>
            </a:r>
            <a:r>
              <a:rPr lang="fr-FR" altLang="en-US" b="1" dirty="0">
                <a:ea typeface="Cordia New"/>
                <a:cs typeface="Cordia New"/>
              </a:rPr>
              <a:t>)</a:t>
            </a:r>
            <a:r>
              <a:rPr lang="fr-FR" altLang="en-US" b="1" baseline="30000" dirty="0">
                <a:ea typeface="Cordia New"/>
                <a:cs typeface="Cordia New"/>
              </a:rPr>
              <a:t>*,</a:t>
            </a:r>
          </a:p>
          <a:p>
            <a:pPr marL="0" indent="0" eaLnBrk="1" hangingPunct="1">
              <a:buFontTx/>
              <a:buNone/>
            </a:pPr>
            <a:r>
              <a:rPr lang="fr-FR" altLang="en-US" b="1" baseline="30000" dirty="0">
                <a:ea typeface="Cordia New"/>
                <a:cs typeface="Cordia New"/>
              </a:rPr>
              <a:t>			</a:t>
            </a:r>
            <a:r>
              <a:rPr lang="fr-FR" altLang="en-US" dirty="0">
                <a:ea typeface="Cordia New"/>
                <a:cs typeface="Cordia New"/>
              </a:rPr>
              <a:t> T -terminal</a:t>
            </a:r>
          </a:p>
          <a:p>
            <a:pPr marL="0" indent="0" eaLnBrk="1" hangingPunct="1">
              <a:buFontTx/>
              <a:buNone/>
            </a:pPr>
            <a:r>
              <a:rPr lang="en-IN" altLang="en-US" b="1" i="1" dirty="0">
                <a:solidFill>
                  <a:srgbClr val="FF0000"/>
                </a:solidFill>
                <a:ea typeface="Cordia New"/>
                <a:cs typeface="Cordia New"/>
              </a:rPr>
              <a:t>Example: 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dirty="0">
                <a:ea typeface="Cordia New"/>
                <a:cs typeface="Cordia New"/>
              </a:rPr>
              <a:t>	S → </a:t>
            </a:r>
            <a:r>
              <a:rPr lang="en-IN" altLang="en-US" dirty="0" err="1">
                <a:ea typeface="Cordia New"/>
                <a:cs typeface="Cordia New"/>
              </a:rPr>
              <a:t>Aa</a:t>
            </a:r>
            <a:endParaRPr lang="en-IN" altLang="en-US" dirty="0">
              <a:ea typeface="Cordia New"/>
              <a:cs typeface="Cordia New"/>
            </a:endParaRP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dirty="0">
                <a:ea typeface="Cordia New"/>
                <a:cs typeface="Cordia New"/>
              </a:rPr>
              <a:t>	</a:t>
            </a:r>
            <a:r>
              <a:rPr lang="en-IN" altLang="en-US" dirty="0" err="1">
                <a:ea typeface="Cordia New"/>
                <a:cs typeface="Cordia New"/>
              </a:rPr>
              <a:t>Sb</a:t>
            </a:r>
            <a:r>
              <a:rPr lang="en-IN" altLang="en-US" dirty="0">
                <a:ea typeface="Cordia New"/>
                <a:cs typeface="Cordia New"/>
              </a:rPr>
              <a:t> → </a:t>
            </a:r>
            <a:r>
              <a:rPr lang="en-IN" altLang="en-US" dirty="0" err="1">
                <a:ea typeface="Cordia New"/>
                <a:cs typeface="Cordia New"/>
              </a:rPr>
              <a:t>Aa</a:t>
            </a:r>
            <a:r>
              <a:rPr lang="en-IN" altLang="en-US" dirty="0">
                <a:ea typeface="Cordia New"/>
                <a:cs typeface="Cordia New"/>
              </a:rPr>
              <a:t> 	(not type-2 as left hand side other than  a </a:t>
            </a:r>
            <a:r>
              <a:rPr lang="en-IN" altLang="en-US" dirty="0" err="1">
                <a:ea typeface="Cordia New"/>
                <a:cs typeface="Cordia New"/>
              </a:rPr>
              <a:t>varible</a:t>
            </a:r>
            <a:r>
              <a:rPr lang="en-IN" altLang="en-US" dirty="0">
                <a:ea typeface="Cordia New"/>
                <a:cs typeface="Cordia New"/>
              </a:rPr>
              <a:t> one  terminal is also there)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dirty="0">
                <a:ea typeface="Cordia New"/>
                <a:cs typeface="Cordia New"/>
              </a:rPr>
              <a:t> 	B → </a:t>
            </a:r>
            <a:r>
              <a:rPr lang="en-IN" altLang="en-US" dirty="0" err="1">
                <a:ea typeface="Cordia New"/>
                <a:cs typeface="Cordia New"/>
              </a:rPr>
              <a:t>bAa</a:t>
            </a:r>
            <a:endParaRPr lang="en-IN" altLang="en-US" dirty="0">
              <a:ea typeface="Cordia New"/>
              <a:cs typeface="Cordia New"/>
            </a:endParaRPr>
          </a:p>
          <a:p>
            <a:pPr marL="0" indent="0" eaLnBrk="1" hangingPunct="1"/>
            <a:endParaRPr lang="en-IN" altLang="en-US" dirty="0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>
          <a:xfrm>
            <a:off x="250825" y="260350"/>
            <a:ext cx="8153400" cy="6477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3 (Regular Grammar)</a:t>
            </a:r>
            <a:b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</a:br>
            <a:endParaRPr lang="en-IN" altLang="en-US" dirty="0">
              <a:solidFill>
                <a:srgbClr val="FF0000"/>
              </a:solidFill>
              <a:cs typeface="Angsana New" panose="020B0502040204020203" pitchFamily="18" charset="-34"/>
            </a:endParaRPr>
          </a:p>
        </p:txBody>
      </p:sp>
      <p:sp>
        <p:nvSpPr>
          <p:cNvPr id="819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497888" cy="5545138"/>
          </a:xfrm>
        </p:spPr>
        <p:txBody>
          <a:bodyPr/>
          <a:lstStyle/>
          <a:p>
            <a:pPr eaLnBrk="1" hangingPunct="1"/>
            <a:r>
              <a:rPr lang="en-IN" altLang="en-US" sz="2000">
                <a:ea typeface="Cordia New"/>
                <a:cs typeface="Cordia New"/>
              </a:rPr>
              <a:t>Type-3 grammars generate the </a:t>
            </a:r>
            <a:r>
              <a:rPr lang="en-IN" altLang="en-US" sz="2000">
                <a:solidFill>
                  <a:srgbClr val="FF0000"/>
                </a:solidFill>
                <a:ea typeface="Cordia New"/>
                <a:cs typeface="Cordia New"/>
              </a:rPr>
              <a:t>regular languages</a:t>
            </a:r>
            <a:r>
              <a:rPr lang="en-IN" altLang="en-US" sz="2000">
                <a:solidFill>
                  <a:srgbClr val="93C572"/>
                </a:solidFill>
                <a:ea typeface="Cordia New"/>
                <a:cs typeface="Cordia New"/>
              </a:rPr>
              <a:t>.</a:t>
            </a:r>
            <a:r>
              <a:rPr lang="en-IN" altLang="en-US" sz="2000">
                <a:ea typeface="Cordia New"/>
                <a:cs typeface="Cordia New"/>
              </a:rPr>
              <a:t>These languages are exactly all languages that can be </a:t>
            </a:r>
            <a:r>
              <a:rPr lang="en-IN" altLang="en-US" sz="2000">
                <a:solidFill>
                  <a:srgbClr val="FF0000"/>
                </a:solidFill>
                <a:ea typeface="Cordia New"/>
                <a:cs typeface="Cordia New"/>
              </a:rPr>
              <a:t>decided by a finite state automaton</a:t>
            </a:r>
            <a:r>
              <a:rPr lang="en-IN" altLang="en-US" sz="2000">
                <a:ea typeface="Cordia New"/>
                <a:cs typeface="Cordia New"/>
              </a:rPr>
              <a:t>.</a:t>
            </a:r>
          </a:p>
          <a:p>
            <a:pPr eaLnBrk="1" hangingPunct="1"/>
            <a:r>
              <a:rPr lang="en-IN" altLang="en-US" sz="2000">
                <a:ea typeface="Cordia New"/>
                <a:cs typeface="Cordia New"/>
              </a:rPr>
              <a:t>Type 3 is most restricted form of grammar.</a:t>
            </a:r>
          </a:p>
          <a:p>
            <a:pPr eaLnBrk="1" hangingPunct="1"/>
            <a:r>
              <a:rPr lang="en-IN" altLang="en-US" sz="2000">
                <a:ea typeface="Cordia New"/>
                <a:cs typeface="Cordia New"/>
              </a:rPr>
              <a:t> A regular grammar is right-linear or left- linear (but not both) The productions must be in the form </a:t>
            </a:r>
            <a:r>
              <a:rPr lang="en-IN" altLang="en-US" sz="2000" b="1" i="1">
                <a:solidFill>
                  <a:srgbClr val="FF0000"/>
                </a:solidFill>
                <a:ea typeface="Cordia New"/>
                <a:cs typeface="Cordia New"/>
              </a:rPr>
              <a:t>X → a or X → aY ,</a:t>
            </a:r>
            <a:r>
              <a:rPr lang="en-IN" altLang="en-US" sz="2000">
                <a:ea typeface="Cordia New"/>
                <a:cs typeface="Cordia New"/>
              </a:rPr>
              <a:t>where X, Y ∈ V (Non terminal),and a ∈ T (Terminal)</a:t>
            </a:r>
          </a:p>
          <a:p>
            <a:pPr eaLnBrk="1" hangingPunct="1"/>
            <a:r>
              <a:rPr lang="en-IN" altLang="en-US" sz="2000">
                <a:ea typeface="Cordia New"/>
                <a:cs typeface="Cordia New"/>
              </a:rPr>
              <a:t>The rule S → ε is allowed if S does not appear on the right side of any rule.</a:t>
            </a:r>
          </a:p>
          <a:p>
            <a:pPr eaLnBrk="1" hangingPunct="1"/>
            <a:r>
              <a:rPr lang="en-IN" altLang="en-US" sz="2000" b="1">
                <a:ea typeface="Cordia New"/>
                <a:cs typeface="Cordia New"/>
              </a:rPr>
              <a:t>Example</a:t>
            </a:r>
            <a:r>
              <a:rPr lang="en-IN" altLang="en-US" sz="2000">
                <a:ea typeface="Cordia New"/>
                <a:cs typeface="Cordia New"/>
              </a:rPr>
              <a:t>	`			 </a:t>
            </a:r>
            <a:r>
              <a:rPr lang="en-IN" altLang="en-US" sz="2000" b="1" i="1">
                <a:ea typeface="Cordia New"/>
                <a:cs typeface="Cordia New"/>
              </a:rPr>
              <a:t>example :</a:t>
            </a:r>
            <a:r>
              <a:rPr lang="en-IN" altLang="en-US" sz="2000">
                <a:ea typeface="Cordia New"/>
                <a:cs typeface="Cordia New"/>
              </a:rPr>
              <a:t>V = {S},T = {a}</a:t>
            </a: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X → ε 					P :  	S→ aS</a:t>
            </a: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X → a | aY					 S→|</a:t>
            </a:r>
            <a:r>
              <a:rPr lang="az-Cyrl-AZ" altLang="en-US" sz="2000">
                <a:ea typeface="Cordia New"/>
                <a:cs typeface="Cordia New"/>
              </a:rPr>
              <a:t>є</a:t>
            </a:r>
            <a:endParaRPr lang="en-IN" altLang="en-US" sz="2000">
              <a:ea typeface="Cordia New"/>
              <a:cs typeface="Cordia New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Y → b </a:t>
            </a: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IN" altLang="en-US" sz="2000" b="1" i="1">
                <a:solidFill>
                  <a:srgbClr val="FF0000"/>
                </a:solidFill>
                <a:ea typeface="Cordia New"/>
                <a:cs typeface="Cordia New"/>
              </a:rPr>
              <a:t>Right-Linear</a:t>
            </a:r>
            <a:r>
              <a:rPr lang="en-IN" altLang="en-US" sz="2000">
                <a:ea typeface="Cordia New"/>
                <a:cs typeface="Cordia New"/>
              </a:rPr>
              <a:t> productions have the form   </a:t>
            </a:r>
            <a:r>
              <a:rPr lang="en-IN" altLang="en-US" sz="2000" b="1">
                <a:ea typeface="Cordia New"/>
                <a:cs typeface="Cordia New"/>
              </a:rPr>
              <a:t>X → aY or X → a</a:t>
            </a: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IN" altLang="en-US" sz="2000" b="1" i="1">
                <a:solidFill>
                  <a:srgbClr val="FF0000"/>
                </a:solidFill>
                <a:ea typeface="Cordia New"/>
                <a:cs typeface="Cordia New"/>
              </a:rPr>
              <a:t>Left-Linear</a:t>
            </a:r>
            <a:r>
              <a:rPr lang="en-IN" altLang="en-US" sz="2000">
                <a:ea typeface="Cordia New"/>
                <a:cs typeface="Cordia New"/>
              </a:rPr>
              <a:t> productions have the form       </a:t>
            </a:r>
            <a:r>
              <a:rPr lang="en-IN" altLang="en-US" sz="2000" b="1">
                <a:ea typeface="Cordia New"/>
                <a:cs typeface="Cordia New"/>
              </a:rPr>
              <a:t>X → Yb or X → b</a:t>
            </a:r>
          </a:p>
          <a:p>
            <a:pPr eaLnBrk="1" hangingPunct="1">
              <a:lnSpc>
                <a:spcPts val="2163"/>
              </a:lnSpc>
              <a:spcBef>
                <a:spcPct val="0"/>
              </a:spcBef>
            </a:pPr>
            <a:r>
              <a:rPr lang="en-IN" altLang="en-US" sz="1800">
                <a:ea typeface="Cordia New"/>
                <a:cs typeface="Cordia New"/>
              </a:rPr>
              <a:t>generate regular languages</a:t>
            </a:r>
          </a:p>
          <a:p>
            <a:pPr eaLnBrk="1" hangingPunct="1">
              <a:lnSpc>
                <a:spcPts val="2163"/>
              </a:lnSpc>
              <a:spcBef>
                <a:spcPct val="0"/>
              </a:spcBef>
            </a:pPr>
            <a:r>
              <a:rPr lang="en-IN" altLang="en-US" sz="1800">
                <a:ea typeface="Cordia New"/>
                <a:cs typeface="Cordia New"/>
              </a:rPr>
              <a:t> recognized by ﬁnite state automata</a:t>
            </a:r>
          </a:p>
          <a:p>
            <a:pPr eaLnBrk="1" hangingPunct="1"/>
            <a:br>
              <a:rPr lang="az-Cyrl-AZ" altLang="en-US" sz="2000">
                <a:ea typeface="Cordia New"/>
                <a:cs typeface="Cordia New"/>
              </a:rPr>
            </a:br>
            <a:endParaRPr lang="en-IN" altLang="en-US" sz="2000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179388" y="260350"/>
            <a:ext cx="8153400" cy="576263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Type 3 (Regular Grammar)</a:t>
            </a:r>
            <a:b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</a:br>
            <a:endParaRPr lang="en-IN" altLang="en-US" dirty="0">
              <a:solidFill>
                <a:srgbClr val="FF0000"/>
              </a:solidFill>
              <a:cs typeface="Angsana New" panose="020B0502040204020203" pitchFamily="18" charset="-34"/>
            </a:endParaRPr>
          </a:p>
        </p:txBody>
      </p:sp>
      <p:sp>
        <p:nvSpPr>
          <p:cNvPr id="829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79388" y="1412875"/>
            <a:ext cx="8569325" cy="4916488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IN" altLang="en-US" sz="2000" b="1">
                <a:ea typeface="Cordia New"/>
                <a:cs typeface="Cordia New"/>
              </a:rPr>
              <a:t>Grammar: </a:t>
            </a:r>
            <a:r>
              <a:rPr lang="en-IN" altLang="en-US" sz="2000">
                <a:ea typeface="Cordia New"/>
                <a:cs typeface="Cordia New"/>
              </a:rPr>
              <a:t>Regular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 b="1">
                <a:ea typeface="Cordia New"/>
                <a:cs typeface="Cordia New"/>
              </a:rPr>
              <a:t>Language</a:t>
            </a:r>
            <a:r>
              <a:rPr lang="en-IN" altLang="en-US" sz="2000">
                <a:ea typeface="Cordia New"/>
                <a:cs typeface="Cordia New"/>
              </a:rPr>
              <a:t>: Regular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 b="1">
                <a:ea typeface="Cordia New"/>
                <a:cs typeface="Cordia New"/>
              </a:rPr>
              <a:t>Automaton: </a:t>
            </a:r>
            <a:r>
              <a:rPr lang="en-IN" altLang="en-US" sz="2000">
                <a:ea typeface="Cordia New"/>
                <a:cs typeface="Cordia New"/>
              </a:rPr>
              <a:t>finite-state automaton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 b="1">
                <a:ea typeface="Cordia New"/>
                <a:cs typeface="Cordia New"/>
              </a:rPr>
              <a:t>Definition: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A → a , A → aB   --&gt; Right linear Grammar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A → a , A → Ba   --&gt; Left linear grammar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 b="1">
                <a:ea typeface="Cordia New"/>
                <a:cs typeface="Cordia New"/>
              </a:rPr>
              <a:t>Example: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 	A → aB/Ba/a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	A → BAa   (not type-3 as right hand side has more than one i.e 2  				variables which is not allowed in regular grammar )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 	Ab → aB (not type-3 as LHS has symbols other than a variable)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153400" cy="442913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  <a:cs typeface="Angsana New" panose="020B0502040204020203" pitchFamily="18" charset="-34"/>
              </a:rPr>
              <a:t>Null Production </a:t>
            </a:r>
          </a:p>
        </p:txBody>
      </p:sp>
      <p:sp>
        <p:nvSpPr>
          <p:cNvPr id="8397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ea typeface="Cordia New"/>
                <a:cs typeface="Cordia New"/>
              </a:rPr>
              <a:t>Null Production A → ε </a:t>
            </a:r>
            <a:r>
              <a:rPr lang="en-IN" altLang="en-US" sz="2000">
                <a:ea typeface="Cordia New"/>
                <a:cs typeface="Cordia New"/>
              </a:rPr>
              <a:t>is not allowed in Type 1, Type 2 and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Type 3. But in a special case, if the null string is a part of the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language i.e., ε ϵ L, then we allow null production in form of S→ε, 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but with the condition that it will not be further used for substitution</a:t>
            </a:r>
          </a:p>
          <a:p>
            <a:pPr marL="0" indent="0" eaLnBrk="1" hangingPunct="1">
              <a:buFontTx/>
              <a:buNone/>
            </a:pPr>
            <a:r>
              <a:rPr lang="en-IN" altLang="en-US" sz="2000">
                <a:ea typeface="Cordia New"/>
                <a:cs typeface="Cordia New"/>
              </a:rPr>
              <a:t>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0825" y="692150"/>
            <a:ext cx="8497888" cy="5575300"/>
          </a:xfr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444500"/>
            <a:ext cx="7886700" cy="1249363"/>
          </a:xfrm>
        </p:spPr>
        <p:txBody>
          <a:bodyPr/>
          <a:lstStyle/>
          <a:p>
            <a:pPr eaLnBrk="1" hangingPunct="1"/>
            <a:r>
              <a:rPr lang="en-US" altLang="en-US" sz="2800" b="1">
                <a:solidFill>
                  <a:srgbClr val="FF0000"/>
                </a:solidFill>
                <a:ea typeface="Angsana New"/>
                <a:cs typeface="Angsana New"/>
              </a:rPr>
              <a:t>Grammars and Languages-Identifying Language from given Grammar</a:t>
            </a:r>
            <a:endParaRPr lang="en-IN" altLang="en-US" sz="2800" b="1">
              <a:ea typeface="Angsana New"/>
              <a:cs typeface="Angsana New"/>
            </a:endParaRPr>
          </a:p>
        </p:txBody>
      </p:sp>
      <p:sp>
        <p:nvSpPr>
          <p:cNvPr id="860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693863"/>
            <a:ext cx="7886700" cy="504825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1) G= ({S}, {a}, P, S), where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P:    S → </a:t>
            </a:r>
            <a:r>
              <a:rPr lang="en-US" altLang="en-US" dirty="0" err="1">
                <a:ea typeface="Cordia New"/>
                <a:cs typeface="Cordia New"/>
              </a:rPr>
              <a:t>aS</a:t>
            </a:r>
            <a:r>
              <a:rPr lang="en-US" altLang="en-US" dirty="0">
                <a:ea typeface="Cordia New"/>
                <a:cs typeface="Cordia New"/>
              </a:rPr>
              <a:t>  (rule 1)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b="1" dirty="0">
                <a:solidFill>
                  <a:srgbClr val="009900"/>
                </a:solidFill>
                <a:ea typeface="Cordia New"/>
                <a:cs typeface="Cordia New"/>
              </a:rPr>
              <a:t>a</a:t>
            </a:r>
            <a:endParaRPr lang="en-US" altLang="en-US" b="1" dirty="0">
              <a:solidFill>
                <a:srgbClr val="FF00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S → a  (rule 2)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</a:t>
            </a:r>
            <a:r>
              <a:rPr lang="en-US" altLang="en-US" dirty="0">
                <a:ea typeface="Cordia New"/>
                <a:cs typeface="Cordia New"/>
              </a:rPr>
              <a:t> </a:t>
            </a:r>
            <a:endParaRPr lang="en-IN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b="1" dirty="0">
                <a:ea typeface="Cordia New"/>
                <a:cs typeface="Cordia New"/>
              </a:rPr>
              <a:t>                                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      </a:t>
            </a:r>
            <a:r>
              <a:rPr lang="en-US" altLang="en-US" dirty="0">
                <a:ea typeface="Cordia New"/>
                <a:cs typeface="Cordia New"/>
              </a:rPr>
              <a:t> </a:t>
            </a:r>
            <a:r>
              <a:rPr lang="en-US" altLang="en-US" dirty="0" err="1">
                <a:ea typeface="Cordia New"/>
                <a:cs typeface="Cordia New"/>
              </a:rPr>
              <a:t>aa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aaa</a:t>
            </a:r>
            <a:endParaRPr lang="en-US" altLang="en-US" b="1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b="1" dirty="0">
                <a:ea typeface="Cordia New"/>
                <a:cs typeface="Cordia New"/>
              </a:rPr>
              <a:t>         L(G) = { a</a:t>
            </a:r>
            <a:r>
              <a:rPr lang="en-US" altLang="en-US" b="1" baseline="30000" dirty="0">
                <a:ea typeface="Cordia New"/>
                <a:cs typeface="Cordia New"/>
              </a:rPr>
              <a:t>n</a:t>
            </a:r>
            <a:r>
              <a:rPr lang="en-US" altLang="en-US" b="1" dirty="0">
                <a:ea typeface="Cordia New"/>
                <a:cs typeface="Cordia New"/>
              </a:rPr>
              <a:t> / n ≥ 1 }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b="1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2) G = ({S}, {a, b}, P, S), where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P:  S → </a:t>
            </a:r>
            <a:r>
              <a:rPr lang="en-US" altLang="en-US" dirty="0" err="1">
                <a:ea typeface="Cordia New"/>
                <a:cs typeface="Cordia New"/>
              </a:rPr>
              <a:t>aS</a:t>
            </a:r>
            <a:r>
              <a:rPr lang="en-US" altLang="en-US" dirty="0">
                <a:ea typeface="Cordia New"/>
                <a:cs typeface="Cordia New"/>
              </a:rPr>
              <a:t> (rule 1)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b="1" dirty="0">
                <a:solidFill>
                  <a:srgbClr val="009900"/>
                </a:solidFill>
                <a:ea typeface="Cordia New"/>
                <a:cs typeface="Cordia New"/>
              </a:rPr>
              <a:t>b</a:t>
            </a: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S → b  (rule 2) 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ab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</a:t>
            </a: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aa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aab</a:t>
            </a: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b="1" dirty="0">
                <a:ea typeface="Cordia New"/>
                <a:cs typeface="Cordia New"/>
              </a:rPr>
              <a:t>         L(G) = { </a:t>
            </a:r>
            <a:r>
              <a:rPr lang="en-US" altLang="en-US" b="1" dirty="0" err="1">
                <a:ea typeface="Cordia New"/>
                <a:cs typeface="Cordia New"/>
              </a:rPr>
              <a:t>a</a:t>
            </a:r>
            <a:r>
              <a:rPr lang="en-US" altLang="en-US" b="1" baseline="30000" dirty="0" err="1">
                <a:ea typeface="Cordia New"/>
                <a:cs typeface="Cordia New"/>
              </a:rPr>
              <a:t>n</a:t>
            </a:r>
            <a:r>
              <a:rPr lang="en-US" altLang="en-US" b="1" dirty="0" err="1">
                <a:ea typeface="Cordia New"/>
                <a:cs typeface="Cordia New"/>
              </a:rPr>
              <a:t>b</a:t>
            </a:r>
            <a:r>
              <a:rPr lang="en-US" altLang="en-US" b="1" dirty="0">
                <a:ea typeface="Cordia New"/>
                <a:cs typeface="Cordia New"/>
              </a:rPr>
              <a:t>/ n ≥ 0 }</a:t>
            </a:r>
            <a:endParaRPr lang="en-IN" altLang="en-US" dirty="0">
              <a:ea typeface="Cordia New"/>
              <a:cs typeface="Cordia New"/>
            </a:endParaRPr>
          </a:p>
        </p:txBody>
      </p:sp>
      <p:graphicFrame>
        <p:nvGraphicFramePr>
          <p:cNvPr id="86020" name="Object 3"/>
          <p:cNvGraphicFramePr>
            <a:graphicFrameLocks noChangeAspect="1"/>
          </p:cNvGraphicFramePr>
          <p:nvPr/>
        </p:nvGraphicFramePr>
        <p:xfrm>
          <a:off x="4227513" y="2090738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2090738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4"/>
          <p:cNvGraphicFramePr>
            <a:graphicFrameLocks noChangeAspect="1"/>
          </p:cNvGraphicFramePr>
          <p:nvPr/>
        </p:nvGraphicFramePr>
        <p:xfrm>
          <a:off x="4149725" y="2474913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725" y="2474913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5"/>
          <p:cNvGraphicFramePr>
            <a:graphicFrameLocks noChangeAspect="1"/>
          </p:cNvGraphicFramePr>
          <p:nvPr/>
        </p:nvGraphicFramePr>
        <p:xfrm>
          <a:off x="4889500" y="247015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247015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6"/>
          <p:cNvGraphicFramePr>
            <a:graphicFrameLocks noChangeAspect="1"/>
          </p:cNvGraphicFramePr>
          <p:nvPr/>
        </p:nvGraphicFramePr>
        <p:xfrm>
          <a:off x="4149725" y="2859088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725" y="2859088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7"/>
          <p:cNvGraphicFramePr>
            <a:graphicFrameLocks noChangeAspect="1"/>
          </p:cNvGraphicFramePr>
          <p:nvPr/>
        </p:nvGraphicFramePr>
        <p:xfrm>
          <a:off x="4889500" y="28702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28702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8"/>
          <p:cNvGraphicFramePr>
            <a:graphicFrameLocks noChangeAspect="1"/>
          </p:cNvGraphicFramePr>
          <p:nvPr/>
        </p:nvGraphicFramePr>
        <p:xfrm>
          <a:off x="5749925" y="28702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28702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9"/>
          <p:cNvGraphicFramePr>
            <a:graphicFrameLocks noChangeAspect="1"/>
          </p:cNvGraphicFramePr>
          <p:nvPr/>
        </p:nvGraphicFramePr>
        <p:xfrm>
          <a:off x="4194175" y="3989388"/>
          <a:ext cx="425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3989388"/>
                        <a:ext cx="425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7" name="Object 10"/>
          <p:cNvGraphicFramePr>
            <a:graphicFrameLocks noChangeAspect="1"/>
          </p:cNvGraphicFramePr>
          <p:nvPr/>
        </p:nvGraphicFramePr>
        <p:xfrm>
          <a:off x="4206875" y="4386263"/>
          <a:ext cx="425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602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75" y="4386263"/>
                        <a:ext cx="425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8" name="Object 11"/>
          <p:cNvGraphicFramePr>
            <a:graphicFrameLocks noChangeAspect="1"/>
          </p:cNvGraphicFramePr>
          <p:nvPr/>
        </p:nvGraphicFramePr>
        <p:xfrm>
          <a:off x="4883150" y="4386263"/>
          <a:ext cx="425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602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4386263"/>
                        <a:ext cx="425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9" name="Object 12"/>
          <p:cNvGraphicFramePr>
            <a:graphicFrameLocks noChangeAspect="1"/>
          </p:cNvGraphicFramePr>
          <p:nvPr/>
        </p:nvGraphicFramePr>
        <p:xfrm>
          <a:off x="4170363" y="4792663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60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363" y="4792663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3"/>
          <p:cNvGraphicFramePr>
            <a:graphicFrameLocks noChangeAspect="1"/>
          </p:cNvGraphicFramePr>
          <p:nvPr/>
        </p:nvGraphicFramePr>
        <p:xfrm>
          <a:off x="4868863" y="4805363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603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4805363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4"/>
          <p:cNvGraphicFramePr>
            <a:graphicFrameLocks noChangeAspect="1"/>
          </p:cNvGraphicFramePr>
          <p:nvPr/>
        </p:nvGraphicFramePr>
        <p:xfrm>
          <a:off x="5668963" y="4799013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603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963" y="4799013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5476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Grammars and Languages</a:t>
            </a:r>
            <a:endParaRPr lang="en-IN" altLang="en-US">
              <a:ea typeface="Angsana New"/>
              <a:cs typeface="Angsana New"/>
            </a:endParaRPr>
          </a:p>
        </p:txBody>
      </p:sp>
      <p:sp>
        <p:nvSpPr>
          <p:cNvPr id="870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822450"/>
            <a:ext cx="7886700" cy="3979863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3) G= ({S}, {a, b }, P, S), where </a:t>
            </a: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P:    S → </a:t>
            </a:r>
            <a:r>
              <a:rPr lang="en-US" altLang="en-US" dirty="0" err="1">
                <a:ea typeface="Cordia New"/>
                <a:cs typeface="Cordia New"/>
              </a:rPr>
              <a:t>aSb</a:t>
            </a:r>
            <a:r>
              <a:rPr lang="en-US" altLang="en-US" dirty="0">
                <a:ea typeface="Cordia New"/>
                <a:cs typeface="Cordia New"/>
              </a:rPr>
              <a:t>  (rule 1)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ab</a:t>
            </a:r>
            <a:r>
              <a:rPr lang="en-US" altLang="en-US" b="1" dirty="0">
                <a:solidFill>
                  <a:srgbClr val="FF0000"/>
                </a:solidFill>
                <a:ea typeface="Cordia New"/>
                <a:cs typeface="Cordia New"/>
              </a:rPr>
              <a:t> </a:t>
            </a: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S → </a:t>
            </a:r>
            <a:r>
              <a:rPr lang="en-US" altLang="en-US" dirty="0" err="1">
                <a:ea typeface="Cordia New"/>
                <a:cs typeface="Cordia New"/>
              </a:rPr>
              <a:t>ab</a:t>
            </a:r>
            <a:r>
              <a:rPr lang="en-US" altLang="en-US" dirty="0">
                <a:ea typeface="Cordia New"/>
                <a:cs typeface="Cordia New"/>
              </a:rPr>
              <a:t>  (rule 2)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</a:t>
            </a:r>
            <a:r>
              <a:rPr lang="en-US" altLang="en-US" dirty="0">
                <a:ea typeface="Cordia New"/>
                <a:cs typeface="Cordia New"/>
              </a:rPr>
              <a:t> 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aabb</a:t>
            </a:r>
            <a:r>
              <a:rPr lang="en-US" altLang="en-US" dirty="0">
                <a:ea typeface="Cordia New"/>
                <a:cs typeface="Cordia New"/>
              </a:rPr>
              <a:t> </a:t>
            </a: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aa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bb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aaabbb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4) G= ({S}, {a, b, c }, P, S), where </a:t>
            </a: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P:     S → </a:t>
            </a:r>
            <a:r>
              <a:rPr lang="en-US" altLang="en-US" dirty="0" err="1">
                <a:ea typeface="Cordia New"/>
                <a:cs typeface="Cordia New"/>
              </a:rPr>
              <a:t>aSa</a:t>
            </a:r>
            <a:r>
              <a:rPr lang="en-US" altLang="en-US" dirty="0">
                <a:ea typeface="Cordia New"/>
                <a:cs typeface="Cordia New"/>
              </a:rPr>
              <a:t>  (rule 1)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b="1" dirty="0">
                <a:solidFill>
                  <a:srgbClr val="009900"/>
                </a:solidFill>
                <a:ea typeface="Cordia New"/>
                <a:cs typeface="Cordia New"/>
              </a:rPr>
              <a:t>c</a:t>
            </a: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S → </a:t>
            </a:r>
            <a:r>
              <a:rPr lang="en-US" altLang="en-US" dirty="0" err="1">
                <a:ea typeface="Cordia New"/>
                <a:cs typeface="Cordia New"/>
              </a:rPr>
              <a:t>bSb</a:t>
            </a:r>
            <a:r>
              <a:rPr lang="en-US" altLang="en-US" dirty="0">
                <a:ea typeface="Cordia New"/>
                <a:cs typeface="Cordia New"/>
              </a:rPr>
              <a:t>  (rule 2)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S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aca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S → c  (rule 3)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bcb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dirty="0" err="1">
                <a:ea typeface="Cordia New"/>
                <a:cs typeface="Cordia New"/>
              </a:rPr>
              <a:t>ab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ba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abcba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    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S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dirty="0" err="1">
                <a:ea typeface="Cordia New"/>
                <a:cs typeface="Cordia New"/>
              </a:rPr>
              <a:t>baSab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bacab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lnSpc>
                <a:spcPct val="80000"/>
              </a:lnSpc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</p:txBody>
      </p:sp>
      <p:sp>
        <p:nvSpPr>
          <p:cNvPr id="87044" name="TextBox 3"/>
          <p:cNvSpPr txBox="1">
            <a:spLocks noChangeArrowheads="1"/>
          </p:cNvSpPr>
          <p:nvPr/>
        </p:nvSpPr>
        <p:spPr bwMode="auto">
          <a:xfrm>
            <a:off x="792163" y="2667000"/>
            <a:ext cx="347980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100" b="1" dirty="0"/>
              <a:t>L(G) = { </a:t>
            </a:r>
            <a:r>
              <a:rPr lang="en-US" altLang="en-US" sz="2100" b="1" dirty="0" err="1"/>
              <a:t>a</a:t>
            </a:r>
            <a:r>
              <a:rPr lang="en-US" altLang="en-US" sz="2100" b="1" baseline="30000" dirty="0" err="1"/>
              <a:t>n</a:t>
            </a:r>
            <a:r>
              <a:rPr lang="en-US" altLang="en-US" sz="2100" b="1" dirty="0" err="1"/>
              <a:t>b</a:t>
            </a:r>
            <a:r>
              <a:rPr lang="en-US" altLang="en-US" sz="2100" b="1" baseline="30000" dirty="0" err="1"/>
              <a:t>n</a:t>
            </a:r>
            <a:r>
              <a:rPr lang="en-US" altLang="en-US" sz="2100" b="1" dirty="0"/>
              <a:t> / n ≥ 1 }  </a:t>
            </a:r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7467" y="5141026"/>
            <a:ext cx="3164690" cy="738664"/>
          </a:xfrm>
          <a:prstGeom prst="rect">
            <a:avLst/>
          </a:prstGeom>
          <a:blipFill>
            <a:blip r:embed="rId2"/>
            <a:stretch>
              <a:fillRect l="-2312" t="-4918" b="-14754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  <a:ea typeface="Angsana New" panose="020B0502040204020203" pitchFamily="18" charset="-34"/>
                <a:cs typeface="Angsana New" panose="020B0502040204020203" pitchFamily="18" charset="-34"/>
              </a:rPr>
              <a:t> </a:t>
            </a:r>
          </a:p>
        </p:txBody>
      </p:sp>
      <p:graphicFrame>
        <p:nvGraphicFramePr>
          <p:cNvPr id="87046" name="Object 5"/>
          <p:cNvGraphicFramePr>
            <a:graphicFrameLocks noChangeAspect="1"/>
          </p:cNvGraphicFramePr>
          <p:nvPr/>
        </p:nvGraphicFramePr>
        <p:xfrm>
          <a:off x="4572000" y="2057400"/>
          <a:ext cx="425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870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57400"/>
                        <a:ext cx="425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6"/>
          <p:cNvGraphicFramePr>
            <a:graphicFrameLocks noChangeAspect="1"/>
          </p:cNvGraphicFramePr>
          <p:nvPr/>
        </p:nvGraphicFramePr>
        <p:xfrm>
          <a:off x="4648200" y="22860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870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2860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8" name="Object 7"/>
          <p:cNvGraphicFramePr>
            <a:graphicFrameLocks noChangeAspect="1"/>
          </p:cNvGraphicFramePr>
          <p:nvPr/>
        </p:nvGraphicFramePr>
        <p:xfrm>
          <a:off x="5486400" y="2286000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8704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286000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9" name="Object 9"/>
          <p:cNvGraphicFramePr>
            <a:graphicFrameLocks noChangeAspect="1"/>
          </p:cNvGraphicFramePr>
          <p:nvPr/>
        </p:nvGraphicFramePr>
        <p:xfrm>
          <a:off x="4572000" y="2590800"/>
          <a:ext cx="4381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870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590800"/>
                        <a:ext cx="4381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0" name="Object 10"/>
          <p:cNvGraphicFramePr>
            <a:graphicFrameLocks noChangeAspect="1"/>
          </p:cNvGraphicFramePr>
          <p:nvPr/>
        </p:nvGraphicFramePr>
        <p:xfrm>
          <a:off x="5410200" y="25908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870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5908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1" name="Object 11"/>
          <p:cNvGraphicFramePr>
            <a:graphicFrameLocks noChangeAspect="1"/>
          </p:cNvGraphicFramePr>
          <p:nvPr/>
        </p:nvGraphicFramePr>
        <p:xfrm>
          <a:off x="6510338" y="2590800"/>
          <a:ext cx="423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3657600" progId="Equation.3">
                  <p:embed/>
                </p:oleObj>
              </mc:Choice>
              <mc:Fallback>
                <p:oleObj name="Equation" r:id="rId3" imgW="4572000" imgH="3657600" progId="Equation.3">
                  <p:embed/>
                  <p:pic>
                    <p:nvPicPr>
                      <p:cNvPr id="870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338" y="2590800"/>
                        <a:ext cx="42386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2" name="Object 12"/>
          <p:cNvGraphicFramePr>
            <a:graphicFrameLocks noChangeAspect="1"/>
          </p:cNvGraphicFramePr>
          <p:nvPr/>
        </p:nvGraphicFramePr>
        <p:xfrm>
          <a:off x="4495800" y="33528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3528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3" name="Object 13"/>
          <p:cNvGraphicFramePr>
            <a:graphicFrameLocks noChangeAspect="1"/>
          </p:cNvGraphicFramePr>
          <p:nvPr/>
        </p:nvGraphicFramePr>
        <p:xfrm>
          <a:off x="4495800" y="3657600"/>
          <a:ext cx="4254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0" imgH="3657600" progId="Equation.3">
                  <p:embed/>
                </p:oleObj>
              </mc:Choice>
              <mc:Fallback>
                <p:oleObj name="Equation" r:id="rId6" imgW="4572000" imgH="3657600" progId="Equation.3">
                  <p:embed/>
                  <p:pic>
                    <p:nvPicPr>
                      <p:cNvPr id="870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657600"/>
                        <a:ext cx="4254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14"/>
          <p:cNvGraphicFramePr>
            <a:graphicFrameLocks noChangeAspect="1"/>
          </p:cNvGraphicFramePr>
          <p:nvPr/>
        </p:nvGraphicFramePr>
        <p:xfrm>
          <a:off x="5441950" y="4191000"/>
          <a:ext cx="4254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4191000"/>
                        <a:ext cx="4254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/>
        </p:nvGraphicFramePr>
        <p:xfrm>
          <a:off x="4495800" y="38862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0" imgH="3657600" progId="Equation.3">
                  <p:embed/>
                </p:oleObj>
              </mc:Choice>
              <mc:Fallback>
                <p:oleObj name="Equation" r:id="rId8" imgW="4572000" imgH="3657600" progId="Equation.3">
                  <p:embed/>
                  <p:pic>
                    <p:nvPicPr>
                      <p:cNvPr id="870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8862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6" name="Object 16"/>
          <p:cNvGraphicFramePr>
            <a:graphicFrameLocks noChangeAspect="1"/>
          </p:cNvGraphicFramePr>
          <p:nvPr/>
        </p:nvGraphicFramePr>
        <p:xfrm>
          <a:off x="5334000" y="36290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6290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7" name="Object 17"/>
          <p:cNvGraphicFramePr>
            <a:graphicFrameLocks noChangeAspect="1"/>
          </p:cNvGraphicFramePr>
          <p:nvPr/>
        </p:nvGraphicFramePr>
        <p:xfrm>
          <a:off x="4527550" y="41624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0" imgH="3657600" progId="Equation.3">
                  <p:embed/>
                </p:oleObj>
              </mc:Choice>
              <mc:Fallback>
                <p:oleObj name="Equation" r:id="rId8" imgW="4572000" imgH="3657600" progId="Equation.3">
                  <p:embed/>
                  <p:pic>
                    <p:nvPicPr>
                      <p:cNvPr id="870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41624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8" name="Object 18"/>
          <p:cNvGraphicFramePr>
            <a:graphicFrameLocks noChangeAspect="1"/>
          </p:cNvGraphicFramePr>
          <p:nvPr/>
        </p:nvGraphicFramePr>
        <p:xfrm>
          <a:off x="5410200" y="39624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9624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9" name="Object 19"/>
          <p:cNvGraphicFramePr>
            <a:graphicFrameLocks noChangeAspect="1"/>
          </p:cNvGraphicFramePr>
          <p:nvPr/>
        </p:nvGraphicFramePr>
        <p:xfrm>
          <a:off x="6629400" y="4114800"/>
          <a:ext cx="4064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114800"/>
                        <a:ext cx="40640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0" name="Object 20"/>
          <p:cNvGraphicFramePr>
            <a:graphicFrameLocks noChangeAspect="1"/>
          </p:cNvGraphicFramePr>
          <p:nvPr/>
        </p:nvGraphicFramePr>
        <p:xfrm>
          <a:off x="4572000" y="44672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0" imgH="3657600" progId="Equation.3">
                  <p:embed/>
                </p:oleObj>
              </mc:Choice>
              <mc:Fallback>
                <p:oleObj name="Equation" r:id="rId8" imgW="4572000" imgH="3657600" progId="Equation.3">
                  <p:embed/>
                  <p:pic>
                    <p:nvPicPr>
                      <p:cNvPr id="8706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672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1" name="Object 21"/>
          <p:cNvGraphicFramePr>
            <a:graphicFrameLocks noChangeAspect="1"/>
          </p:cNvGraphicFramePr>
          <p:nvPr/>
        </p:nvGraphicFramePr>
        <p:xfrm>
          <a:off x="5410200" y="44958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58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2" name="Object 22"/>
          <p:cNvGraphicFramePr>
            <a:graphicFrameLocks noChangeAspect="1"/>
          </p:cNvGraphicFramePr>
          <p:nvPr/>
        </p:nvGraphicFramePr>
        <p:xfrm>
          <a:off x="6629400" y="4419600"/>
          <a:ext cx="4064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70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419600"/>
                        <a:ext cx="4064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 noChangeArrowheads="1"/>
          </p:cNvSpPr>
          <p:nvPr>
            <p:ph type="title"/>
          </p:nvPr>
        </p:nvSpPr>
        <p:spPr>
          <a:xfrm>
            <a:off x="234950" y="1131888"/>
            <a:ext cx="8674100" cy="6524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Grammars and Languages</a:t>
            </a:r>
            <a:endParaRPr lang="en-IN" altLang="en-US">
              <a:ea typeface="Angsana New"/>
              <a:cs typeface="Angsana New"/>
            </a:endParaRPr>
          </a:p>
        </p:txBody>
      </p:sp>
      <p:sp>
        <p:nvSpPr>
          <p:cNvPr id="8806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95288" y="1697038"/>
            <a:ext cx="8513762" cy="3913187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5) G= ({S}, {a, b, c }, P, S), where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P:     S → </a:t>
            </a:r>
            <a:r>
              <a:rPr lang="en-US" altLang="en-US" dirty="0" err="1">
                <a:ea typeface="Cordia New"/>
                <a:cs typeface="Cordia New"/>
              </a:rPr>
              <a:t>aSBc</a:t>
            </a:r>
            <a:r>
              <a:rPr lang="en-US" altLang="en-US" dirty="0">
                <a:ea typeface="Cordia New"/>
                <a:cs typeface="Cordia New"/>
              </a:rPr>
              <a:t>  (rule 1)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abc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S → </a:t>
            </a:r>
            <a:r>
              <a:rPr lang="en-US" altLang="en-US" dirty="0" err="1">
                <a:ea typeface="Cordia New"/>
                <a:cs typeface="Cordia New"/>
              </a:rPr>
              <a:t>abc</a:t>
            </a:r>
            <a:r>
              <a:rPr lang="en-US" altLang="en-US" dirty="0">
                <a:ea typeface="Cordia New"/>
                <a:cs typeface="Cordia New"/>
              </a:rPr>
              <a:t>  (rule 2)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Bc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aab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cB</a:t>
            </a:r>
            <a:r>
              <a:rPr lang="en-US" altLang="en-US" dirty="0" err="1">
                <a:ea typeface="Cordia New"/>
                <a:cs typeface="Cordia New"/>
              </a:rPr>
              <a:t>c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 err="1">
                <a:ea typeface="Cordia New"/>
                <a:cs typeface="Cordia New"/>
              </a:rPr>
              <a:t>aa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bB</a:t>
            </a:r>
            <a:r>
              <a:rPr lang="en-US" altLang="en-US" dirty="0" err="1">
                <a:ea typeface="Cordia New"/>
                <a:cs typeface="Cordia New"/>
              </a:rPr>
              <a:t>cc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aabbcc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</a:t>
            </a:r>
            <a:r>
              <a:rPr lang="en-US" altLang="en-US" dirty="0" err="1">
                <a:ea typeface="Cordia New"/>
                <a:cs typeface="Cordia New"/>
              </a:rPr>
              <a:t>cB</a:t>
            </a:r>
            <a:r>
              <a:rPr lang="en-US" altLang="en-US" dirty="0">
                <a:ea typeface="Cordia New"/>
                <a:cs typeface="Cordia New"/>
              </a:rPr>
              <a:t> → </a:t>
            </a:r>
            <a:r>
              <a:rPr lang="en-US" altLang="en-US" dirty="0" err="1">
                <a:ea typeface="Cordia New"/>
                <a:cs typeface="Cordia New"/>
              </a:rPr>
              <a:t>Bc</a:t>
            </a:r>
            <a:r>
              <a:rPr lang="en-US" altLang="en-US" dirty="0">
                <a:ea typeface="Cordia New"/>
                <a:cs typeface="Cordia New"/>
              </a:rPr>
              <a:t>  (rule 3)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</a:t>
            </a:r>
            <a:r>
              <a:rPr lang="en-US" altLang="en-US" dirty="0" err="1">
                <a:ea typeface="Cordia New"/>
                <a:cs typeface="Cordia New"/>
              </a:rPr>
              <a:t>bB</a:t>
            </a:r>
            <a:r>
              <a:rPr lang="en-US" altLang="en-US" dirty="0">
                <a:ea typeface="Cordia New"/>
                <a:cs typeface="Cordia New"/>
              </a:rPr>
              <a:t> →bb  (rule 4)  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S        </a:t>
            </a:r>
            <a:r>
              <a:rPr lang="en-US" altLang="en-US" dirty="0" err="1">
                <a:ea typeface="Cordia New"/>
                <a:cs typeface="Cordia New"/>
              </a:rPr>
              <a:t>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Bc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dirty="0" err="1">
                <a:ea typeface="Cordia New"/>
                <a:cs typeface="Cordia New"/>
              </a:rPr>
              <a:t>aa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S</a:t>
            </a:r>
            <a:r>
              <a:rPr lang="en-US" altLang="en-US" dirty="0" err="1">
                <a:ea typeface="Cordia New"/>
                <a:cs typeface="Cordia New"/>
              </a:rPr>
              <a:t>BcBc</a:t>
            </a:r>
            <a:r>
              <a:rPr lang="en-US" altLang="en-US" dirty="0">
                <a:ea typeface="Cordia New"/>
                <a:cs typeface="Cordia New"/>
              </a:rPr>
              <a:t>         </a:t>
            </a:r>
            <a:r>
              <a:rPr lang="en-US" altLang="en-US" dirty="0" err="1">
                <a:ea typeface="Cordia New"/>
                <a:cs typeface="Cordia New"/>
              </a:rPr>
              <a:t>aaab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cB</a:t>
            </a:r>
            <a:r>
              <a:rPr lang="en-US" altLang="en-US" dirty="0" err="1">
                <a:ea typeface="Cordia New"/>
                <a:cs typeface="Cordia New"/>
              </a:rPr>
              <a:t>cBc</a:t>
            </a: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                  </a:t>
            </a:r>
            <a:r>
              <a:rPr lang="en-US" altLang="en-US" dirty="0" err="1">
                <a:ea typeface="Cordia New"/>
                <a:cs typeface="Cordia New"/>
              </a:rPr>
              <a:t>aaabBc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cB</a:t>
            </a:r>
            <a:r>
              <a:rPr lang="en-US" altLang="en-US" dirty="0" err="1">
                <a:ea typeface="Cordia New"/>
                <a:cs typeface="Cordia New"/>
              </a:rPr>
              <a:t>c</a:t>
            </a:r>
            <a:r>
              <a:rPr lang="en-US" altLang="en-US" dirty="0">
                <a:ea typeface="Cordia New"/>
                <a:cs typeface="Cordia New"/>
              </a:rPr>
              <a:t>       </a:t>
            </a:r>
            <a:r>
              <a:rPr lang="en-US" altLang="en-US" dirty="0">
                <a:solidFill>
                  <a:srgbClr val="FF0000"/>
                </a:solidFill>
                <a:ea typeface="Cordia New"/>
                <a:cs typeface="Cordia New"/>
              </a:rPr>
              <a:t> </a:t>
            </a:r>
            <a:r>
              <a:rPr lang="en-US" altLang="en-US" dirty="0" err="1">
                <a:ea typeface="Cordia New"/>
                <a:cs typeface="Cordia New"/>
              </a:rPr>
              <a:t>aaabB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cB</a:t>
            </a:r>
            <a:r>
              <a:rPr lang="en-US" altLang="en-US" dirty="0" err="1">
                <a:ea typeface="Cordia New"/>
                <a:cs typeface="Cordia New"/>
              </a:rPr>
              <a:t>cc</a:t>
            </a:r>
            <a:r>
              <a:rPr lang="en-US" altLang="en-US" dirty="0">
                <a:ea typeface="Cordia New"/>
                <a:cs typeface="Cordia New"/>
              </a:rPr>
              <a:t>        </a:t>
            </a:r>
            <a:r>
              <a:rPr lang="en-US" altLang="en-US" dirty="0" err="1">
                <a:ea typeface="Cordia New"/>
                <a:cs typeface="Cordia New"/>
              </a:rPr>
              <a:t>aaa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bB</a:t>
            </a:r>
            <a:r>
              <a:rPr lang="en-US" altLang="en-US" dirty="0" err="1">
                <a:ea typeface="Cordia New"/>
                <a:cs typeface="Cordia New"/>
              </a:rPr>
              <a:t>Bccc</a:t>
            </a: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                  </a:t>
            </a:r>
            <a:r>
              <a:rPr lang="en-US" altLang="en-US" dirty="0" err="1">
                <a:ea typeface="Cordia New"/>
                <a:cs typeface="Cordia New"/>
              </a:rPr>
              <a:t>aaab</a:t>
            </a:r>
            <a:r>
              <a:rPr lang="en-US" altLang="en-US" dirty="0" err="1">
                <a:solidFill>
                  <a:srgbClr val="FF0000"/>
                </a:solidFill>
                <a:ea typeface="Cordia New"/>
                <a:cs typeface="Cordia New"/>
              </a:rPr>
              <a:t>bB</a:t>
            </a:r>
            <a:r>
              <a:rPr lang="en-US" altLang="en-US" dirty="0" err="1">
                <a:ea typeface="Cordia New"/>
                <a:cs typeface="Cordia New"/>
              </a:rPr>
              <a:t>ccc</a:t>
            </a:r>
            <a:r>
              <a:rPr lang="en-US" altLang="en-US" dirty="0">
                <a:ea typeface="Cordia New"/>
                <a:cs typeface="Cordia New"/>
              </a:rPr>
              <a:t>          </a:t>
            </a:r>
            <a:r>
              <a:rPr lang="en-US" altLang="en-US" b="1" dirty="0" err="1">
                <a:solidFill>
                  <a:srgbClr val="009900"/>
                </a:solidFill>
                <a:ea typeface="Cordia New"/>
                <a:cs typeface="Cordia New"/>
              </a:rPr>
              <a:t>aaabbbccc</a:t>
            </a:r>
            <a:endParaRPr lang="en-US" altLang="en-US" b="1" dirty="0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 dirty="0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</a:t>
            </a:r>
            <a:r>
              <a:rPr lang="en-US" altLang="en-US" b="1" dirty="0">
                <a:ea typeface="Cordia New"/>
                <a:cs typeface="Cordia New"/>
              </a:rPr>
              <a:t> L(G) = { </a:t>
            </a:r>
            <a:r>
              <a:rPr lang="en-US" altLang="en-US" b="1" dirty="0" err="1">
                <a:ea typeface="Cordia New"/>
                <a:cs typeface="Cordia New"/>
              </a:rPr>
              <a:t>a</a:t>
            </a:r>
            <a:r>
              <a:rPr lang="en-US" altLang="en-US" b="1" baseline="30000" dirty="0" err="1">
                <a:ea typeface="Cordia New"/>
                <a:cs typeface="Cordia New"/>
              </a:rPr>
              <a:t>n</a:t>
            </a:r>
            <a:r>
              <a:rPr lang="en-US" altLang="en-US" b="1" dirty="0" err="1">
                <a:ea typeface="Cordia New"/>
                <a:cs typeface="Cordia New"/>
              </a:rPr>
              <a:t>b</a:t>
            </a:r>
            <a:r>
              <a:rPr lang="en-US" altLang="en-US" b="1" baseline="30000" dirty="0" err="1">
                <a:ea typeface="Cordia New"/>
                <a:cs typeface="Cordia New"/>
              </a:rPr>
              <a:t>n</a:t>
            </a:r>
            <a:r>
              <a:rPr lang="en-US" altLang="en-US" b="1" dirty="0" err="1">
                <a:ea typeface="Cordia New"/>
                <a:cs typeface="Cordia New"/>
              </a:rPr>
              <a:t>C</a:t>
            </a:r>
            <a:r>
              <a:rPr lang="en-US" altLang="en-US" b="1" baseline="30000" dirty="0" err="1">
                <a:ea typeface="Cordia New"/>
                <a:cs typeface="Cordia New"/>
              </a:rPr>
              <a:t>n</a:t>
            </a:r>
            <a:r>
              <a:rPr lang="en-US" altLang="en-US" b="1" dirty="0">
                <a:ea typeface="Cordia New"/>
                <a:cs typeface="Cordia New"/>
              </a:rPr>
              <a:t>/ n ≥ 1 }</a:t>
            </a:r>
            <a:r>
              <a:rPr lang="en-US" altLang="en-US" dirty="0">
                <a:ea typeface="Cordia New"/>
                <a:cs typeface="Cordia New"/>
              </a:rPr>
              <a:t>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>
                <a:ea typeface="Cordia New"/>
                <a:cs typeface="Cordia New"/>
              </a:rPr>
              <a:t>                                            </a:t>
            </a:r>
          </a:p>
        </p:txBody>
      </p:sp>
      <p:graphicFrame>
        <p:nvGraphicFramePr>
          <p:cNvPr id="88068" name="Object 3"/>
          <p:cNvGraphicFramePr>
            <a:graphicFrameLocks noChangeAspect="1"/>
          </p:cNvGraphicFramePr>
          <p:nvPr/>
        </p:nvGraphicFramePr>
        <p:xfrm>
          <a:off x="3571875" y="2286000"/>
          <a:ext cx="425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806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286000"/>
                        <a:ext cx="425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4"/>
          <p:cNvGraphicFramePr>
            <a:graphicFrameLocks noChangeAspect="1"/>
          </p:cNvGraphicFramePr>
          <p:nvPr/>
        </p:nvGraphicFramePr>
        <p:xfrm>
          <a:off x="4562475" y="23336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80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5" y="23336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5"/>
          <p:cNvGraphicFramePr>
            <a:graphicFrameLocks noChangeAspect="1"/>
          </p:cNvGraphicFramePr>
          <p:nvPr/>
        </p:nvGraphicFramePr>
        <p:xfrm>
          <a:off x="5718175" y="2322513"/>
          <a:ext cx="460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807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175" y="2322513"/>
                        <a:ext cx="460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6"/>
          <p:cNvGraphicFramePr>
            <a:graphicFrameLocks noChangeAspect="1"/>
          </p:cNvGraphicFramePr>
          <p:nvPr/>
        </p:nvGraphicFramePr>
        <p:xfrm>
          <a:off x="5181600" y="32004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2004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7"/>
          <p:cNvGraphicFramePr>
            <a:graphicFrameLocks noChangeAspect="1"/>
          </p:cNvGraphicFramePr>
          <p:nvPr/>
        </p:nvGraphicFramePr>
        <p:xfrm>
          <a:off x="3600450" y="2917825"/>
          <a:ext cx="423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2917825"/>
                        <a:ext cx="42386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8"/>
          <p:cNvGraphicFramePr>
            <a:graphicFrameLocks noChangeAspect="1"/>
          </p:cNvGraphicFramePr>
          <p:nvPr/>
        </p:nvGraphicFramePr>
        <p:xfrm>
          <a:off x="4583112" y="2917825"/>
          <a:ext cx="5032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2" y="2917825"/>
                        <a:ext cx="503238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9"/>
          <p:cNvGraphicFramePr>
            <a:graphicFrameLocks noChangeAspect="1"/>
          </p:cNvGraphicFramePr>
          <p:nvPr/>
        </p:nvGraphicFramePr>
        <p:xfrm>
          <a:off x="3600450" y="3200400"/>
          <a:ext cx="423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200400"/>
                        <a:ext cx="42386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11"/>
          <p:cNvGraphicFramePr>
            <a:graphicFrameLocks noChangeAspect="1"/>
          </p:cNvGraphicFramePr>
          <p:nvPr/>
        </p:nvGraphicFramePr>
        <p:xfrm>
          <a:off x="5965825" y="29178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29178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2"/>
          <p:cNvGraphicFramePr>
            <a:graphicFrameLocks noChangeAspect="1"/>
          </p:cNvGraphicFramePr>
          <p:nvPr/>
        </p:nvGraphicFramePr>
        <p:xfrm>
          <a:off x="6931025" y="2300288"/>
          <a:ext cx="4603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0" imgH="3657600" progId="Equation.3">
                  <p:embed/>
                </p:oleObj>
              </mc:Choice>
              <mc:Fallback>
                <p:oleObj name="Equation" r:id="rId5" imgW="4572000" imgH="3657600" progId="Equation.3">
                  <p:embed/>
                  <p:pic>
                    <p:nvPicPr>
                      <p:cNvPr id="880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1025" y="2300288"/>
                        <a:ext cx="460375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7" name="Object 13"/>
          <p:cNvGraphicFramePr>
            <a:graphicFrameLocks noChangeAspect="1"/>
          </p:cNvGraphicFramePr>
          <p:nvPr/>
        </p:nvGraphicFramePr>
        <p:xfrm>
          <a:off x="3613150" y="20288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0288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8" name="Object 14"/>
          <p:cNvGraphicFramePr>
            <a:graphicFrameLocks noChangeAspect="1"/>
          </p:cNvGraphicFramePr>
          <p:nvPr/>
        </p:nvGraphicFramePr>
        <p:xfrm>
          <a:off x="6705600" y="32004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2004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9" name="Object 15"/>
          <p:cNvGraphicFramePr>
            <a:graphicFrameLocks noChangeAspect="1"/>
          </p:cNvGraphicFramePr>
          <p:nvPr/>
        </p:nvGraphicFramePr>
        <p:xfrm>
          <a:off x="3581400" y="3552825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52825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80" name="Object 16"/>
          <p:cNvGraphicFramePr>
            <a:graphicFrameLocks noChangeAspect="1"/>
          </p:cNvGraphicFramePr>
          <p:nvPr/>
        </p:nvGraphicFramePr>
        <p:xfrm>
          <a:off x="5257800" y="35052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80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5052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 noChangeArrowheads="1"/>
          </p:cNvSpPr>
          <p:nvPr>
            <p:ph type="title"/>
          </p:nvPr>
        </p:nvSpPr>
        <p:spPr>
          <a:xfrm>
            <a:off x="234950" y="1131888"/>
            <a:ext cx="8674100" cy="6524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Grammars and Languages</a:t>
            </a:r>
            <a:endParaRPr lang="en-IN" altLang="en-US">
              <a:ea typeface="Angsana New"/>
              <a:cs typeface="Angsana New"/>
            </a:endParaRPr>
          </a:p>
        </p:txBody>
      </p:sp>
      <p:sp>
        <p:nvSpPr>
          <p:cNvPr id="8909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95288" y="1697038"/>
            <a:ext cx="8513762" cy="3648075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6) G= ({S, A, B}, {a, b}, P, S), where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P:     S → AB  (rule 1)      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S        A</a:t>
            </a:r>
            <a:r>
              <a:rPr lang="en-US" altLang="en-US">
                <a:ea typeface="Cordia New"/>
                <a:cs typeface="Cordia New"/>
              </a:rPr>
              <a:t>B  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aAb</a:t>
            </a:r>
            <a:r>
              <a:rPr lang="en-US" altLang="en-US">
                <a:ea typeface="Cordia New"/>
                <a:cs typeface="Cordia New"/>
              </a:rPr>
              <a:t>B       aa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B       </a:t>
            </a:r>
            <a:r>
              <a:rPr lang="en-US" altLang="en-US">
                <a:ea typeface="Cordia New"/>
                <a:cs typeface="Cordia New"/>
              </a:rPr>
              <a:t>aa</a:t>
            </a:r>
            <a:r>
              <a:rPr lang="th-TH" altLang="en-US">
                <a:ea typeface="Cordia New"/>
                <a:cs typeface="Tahoma" pitchFamily="34" charset="0"/>
                <a:sym typeface="Symbol" pitchFamily="18" charset="2"/>
              </a:rPr>
              <a:t></a:t>
            </a:r>
            <a:r>
              <a:rPr lang="en-US" altLang="en-US">
                <a:ea typeface="Cordia New"/>
                <a:cs typeface="Cordia New"/>
              </a:rPr>
              <a:t> = </a:t>
            </a:r>
            <a:r>
              <a:rPr lang="en-US" altLang="en-US" b="1">
                <a:solidFill>
                  <a:srgbClr val="009900"/>
                </a:solidFill>
                <a:ea typeface="Cordia New"/>
                <a:cs typeface="Cordia New"/>
              </a:rPr>
              <a:t>aa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A → aAb  (rule 2)   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S        A</a:t>
            </a:r>
            <a:r>
              <a:rPr lang="en-US" altLang="en-US">
                <a:ea typeface="Cordia New"/>
                <a:cs typeface="Cordia New"/>
              </a:rPr>
              <a:t>B      aA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bB</a:t>
            </a:r>
            <a:r>
              <a:rPr lang="en-US" altLang="en-US">
                <a:ea typeface="Cordia New"/>
                <a:cs typeface="Cordia New"/>
              </a:rPr>
              <a:t>       aAbbb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B      </a:t>
            </a:r>
            <a:r>
              <a:rPr lang="en-US" altLang="en-US">
                <a:ea typeface="Cordia New"/>
                <a:cs typeface="Cordia New"/>
              </a:rPr>
              <a:t>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aAb</a:t>
            </a:r>
            <a:r>
              <a:rPr lang="en-US" altLang="en-US">
                <a:ea typeface="Cordia New"/>
                <a:cs typeface="Cordia New"/>
              </a:rPr>
              <a:t>bb</a:t>
            </a:r>
            <a:r>
              <a:rPr lang="th-TH" altLang="en-US">
                <a:ea typeface="Cordia New"/>
                <a:cs typeface="Tahoma" pitchFamily="34" charset="0"/>
                <a:sym typeface="Symbol" pitchFamily="18" charset="2"/>
              </a:rPr>
              <a:t>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</a:t>
            </a:r>
            <a:r>
              <a:rPr lang="en-US" altLang="en-US">
                <a:ea typeface="Cordia New"/>
                <a:cs typeface="Cordia New"/>
              </a:rPr>
              <a:t>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         </a:t>
            </a:r>
            <a:r>
              <a:rPr lang="en-US" altLang="en-US">
                <a:ea typeface="Cordia New"/>
                <a:cs typeface="Cordia New"/>
              </a:rPr>
              <a:t>bB → bbbB  (rule 3)                                                              </a:t>
            </a:r>
            <a:r>
              <a:rPr lang="en-US" altLang="en-US" b="1">
                <a:solidFill>
                  <a:srgbClr val="009900"/>
                </a:solidFill>
                <a:ea typeface="Cordia New"/>
                <a:cs typeface="Cordia New"/>
              </a:rPr>
              <a:t>aabb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aAb →aa</a:t>
            </a:r>
            <a:r>
              <a:rPr lang="en-US" altLang="en-US">
                <a:ea typeface="Cordia New"/>
                <a:cs typeface="Cordia New"/>
              </a:rPr>
              <a:t>  (rule 4)        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S        A</a:t>
            </a:r>
            <a:r>
              <a:rPr lang="en-US" altLang="en-US">
                <a:ea typeface="Cordia New"/>
                <a:cs typeface="Cordia New"/>
              </a:rPr>
              <a:t>B      aA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bB</a:t>
            </a:r>
            <a:r>
              <a:rPr lang="en-US" altLang="en-US">
                <a:ea typeface="Cordia New"/>
                <a:cs typeface="Cordia New"/>
              </a:rPr>
              <a:t>       aAbbb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B      </a:t>
            </a:r>
            <a:r>
              <a:rPr lang="en-US" altLang="en-US">
                <a:ea typeface="Cordia New"/>
                <a:cs typeface="Cordia New"/>
              </a:rPr>
              <a:t> a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</a:t>
            </a:r>
            <a:r>
              <a:rPr lang="en-US" altLang="en-US">
                <a:ea typeface="Cordia New"/>
                <a:cs typeface="Cordia New"/>
              </a:rPr>
              <a:t>bbb</a:t>
            </a:r>
            <a:r>
              <a:rPr lang="th-TH" altLang="en-US">
                <a:ea typeface="Cordia New"/>
                <a:cs typeface="Tahoma" pitchFamily="34" charset="0"/>
                <a:sym typeface="Symbol" pitchFamily="18" charset="2"/>
              </a:rPr>
              <a:t></a:t>
            </a:r>
            <a:endParaRPr lang="en-US" altLang="en-US"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B → </a:t>
            </a:r>
            <a:r>
              <a:rPr lang="th-TH" altLang="en-US">
                <a:ea typeface="Cordia New"/>
                <a:cs typeface="Tahoma" pitchFamily="34" charset="0"/>
                <a:sym typeface="Symbol" pitchFamily="18" charset="2"/>
              </a:rPr>
              <a:t></a:t>
            </a:r>
            <a:r>
              <a:rPr lang="en-US" altLang="en-US">
                <a:ea typeface="Cordia New"/>
                <a:cs typeface="Cordia New"/>
              </a:rPr>
              <a:t> (rule 5)                                                                        a</a:t>
            </a:r>
            <a:r>
              <a:rPr lang="en-US" altLang="en-US">
                <a:solidFill>
                  <a:srgbClr val="FF0000"/>
                </a:solidFill>
                <a:ea typeface="Cordia New"/>
                <a:cs typeface="Cordia New"/>
              </a:rPr>
              <a:t>aAb</a:t>
            </a:r>
            <a:r>
              <a:rPr lang="en-US" altLang="en-US">
                <a:ea typeface="Cordia New"/>
                <a:cs typeface="Cordia New"/>
              </a:rPr>
              <a:t>bbb</a:t>
            </a:r>
            <a:endParaRPr lang="en-US" altLang="en-US">
              <a:solidFill>
                <a:srgbClr val="009900"/>
              </a:solidFill>
              <a:ea typeface="Cordia New"/>
              <a:cs typeface="Cordia New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                                                                                                </a:t>
            </a:r>
            <a:r>
              <a:rPr lang="en-US" altLang="en-US" b="1">
                <a:solidFill>
                  <a:srgbClr val="009900"/>
                </a:solidFill>
                <a:ea typeface="Cordia New"/>
                <a:cs typeface="Cordia New"/>
              </a:rPr>
              <a:t>aaabbb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</a:t>
            </a:r>
            <a:r>
              <a:rPr lang="en-US" altLang="en-US" b="1">
                <a:ea typeface="Cordia New"/>
                <a:cs typeface="Cordia New"/>
              </a:rPr>
              <a:t>L(G) = { a</a:t>
            </a:r>
            <a:r>
              <a:rPr lang="en-US" altLang="en-US" b="1" baseline="30000">
                <a:ea typeface="Cordia New"/>
                <a:cs typeface="Cordia New"/>
              </a:rPr>
              <a:t>n+1</a:t>
            </a:r>
            <a:r>
              <a:rPr lang="en-US" altLang="en-US" b="1">
                <a:ea typeface="Cordia New"/>
                <a:cs typeface="Cordia New"/>
              </a:rPr>
              <a:t>b</a:t>
            </a:r>
            <a:r>
              <a:rPr lang="en-US" altLang="en-US" b="1" baseline="30000">
                <a:ea typeface="Cordia New"/>
                <a:cs typeface="Cordia New"/>
              </a:rPr>
              <a:t>n+k</a:t>
            </a:r>
            <a:r>
              <a:rPr lang="en-US" altLang="en-US" b="1">
                <a:ea typeface="Cordia New"/>
                <a:cs typeface="Cordia New"/>
              </a:rPr>
              <a:t>/ n ≥ 1, k = -1, 1, 3, 5, . . .} </a:t>
            </a:r>
            <a:r>
              <a:rPr lang="en-US" altLang="en-US">
                <a:ea typeface="Cordia New"/>
                <a:cs typeface="Cordia New"/>
              </a:rPr>
              <a:t>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                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                                           </a:t>
            </a:r>
          </a:p>
        </p:txBody>
      </p:sp>
      <p:graphicFrame>
        <p:nvGraphicFramePr>
          <p:cNvPr id="89092" name="Object 3"/>
          <p:cNvGraphicFramePr>
            <a:graphicFrameLocks noChangeAspect="1"/>
          </p:cNvGraphicFramePr>
          <p:nvPr/>
        </p:nvGraphicFramePr>
        <p:xfrm>
          <a:off x="4038600" y="2359026"/>
          <a:ext cx="425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359026"/>
                        <a:ext cx="425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4"/>
          <p:cNvGraphicFramePr>
            <a:graphicFrameLocks noChangeAspect="1"/>
          </p:cNvGraphicFramePr>
          <p:nvPr/>
        </p:nvGraphicFramePr>
        <p:xfrm>
          <a:off x="4724400" y="2354263"/>
          <a:ext cx="423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354263"/>
                        <a:ext cx="42386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5"/>
          <p:cNvGraphicFramePr>
            <a:graphicFrameLocks noChangeAspect="1"/>
          </p:cNvGraphicFramePr>
          <p:nvPr/>
        </p:nvGraphicFramePr>
        <p:xfrm>
          <a:off x="5749925" y="2354263"/>
          <a:ext cx="460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2354263"/>
                        <a:ext cx="460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12"/>
          <p:cNvGraphicFramePr>
            <a:graphicFrameLocks noChangeAspect="1"/>
          </p:cNvGraphicFramePr>
          <p:nvPr/>
        </p:nvGraphicFramePr>
        <p:xfrm>
          <a:off x="7086600" y="2362200"/>
          <a:ext cx="460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909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362200"/>
                        <a:ext cx="460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6" name="Object 13"/>
          <p:cNvGraphicFramePr>
            <a:graphicFrameLocks noChangeAspect="1"/>
          </p:cNvGraphicFramePr>
          <p:nvPr/>
        </p:nvGraphicFramePr>
        <p:xfrm>
          <a:off x="4114800" y="2070100"/>
          <a:ext cx="42386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070100"/>
                        <a:ext cx="423862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7" name="Object 17"/>
          <p:cNvGraphicFramePr>
            <a:graphicFrameLocks noChangeAspect="1"/>
          </p:cNvGraphicFramePr>
          <p:nvPr/>
        </p:nvGraphicFramePr>
        <p:xfrm>
          <a:off x="4800600" y="20574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0574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8" name="Object 18"/>
          <p:cNvGraphicFramePr>
            <a:graphicFrameLocks noChangeAspect="1"/>
          </p:cNvGraphicFramePr>
          <p:nvPr/>
        </p:nvGraphicFramePr>
        <p:xfrm>
          <a:off x="5849937" y="20574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7" y="20574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9" name="Object 19"/>
          <p:cNvGraphicFramePr>
            <a:graphicFrameLocks noChangeAspect="1"/>
          </p:cNvGraphicFramePr>
          <p:nvPr/>
        </p:nvGraphicFramePr>
        <p:xfrm>
          <a:off x="6696075" y="2057400"/>
          <a:ext cx="460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09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057400"/>
                        <a:ext cx="460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0" name="Object 20"/>
          <p:cNvGraphicFramePr>
            <a:graphicFrameLocks noChangeAspect="1"/>
          </p:cNvGraphicFramePr>
          <p:nvPr/>
        </p:nvGraphicFramePr>
        <p:xfrm>
          <a:off x="7069137" y="2693987"/>
          <a:ext cx="460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91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137" y="2693987"/>
                        <a:ext cx="460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1" name="Object 21"/>
          <p:cNvGraphicFramePr>
            <a:graphicFrameLocks noChangeAspect="1"/>
          </p:cNvGraphicFramePr>
          <p:nvPr/>
        </p:nvGraphicFramePr>
        <p:xfrm>
          <a:off x="4070350" y="3055937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10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3055937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2" name="Object 22"/>
          <p:cNvGraphicFramePr>
            <a:graphicFrameLocks noChangeAspect="1"/>
          </p:cNvGraphicFramePr>
          <p:nvPr/>
        </p:nvGraphicFramePr>
        <p:xfrm>
          <a:off x="4800600" y="30480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1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0480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23"/>
          <p:cNvGraphicFramePr>
            <a:graphicFrameLocks noChangeAspect="1"/>
          </p:cNvGraphicFramePr>
          <p:nvPr/>
        </p:nvGraphicFramePr>
        <p:xfrm>
          <a:off x="5791200" y="3048000"/>
          <a:ext cx="423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10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048000"/>
                        <a:ext cx="4238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4" name="Object 24"/>
          <p:cNvGraphicFramePr>
            <a:graphicFrameLocks noChangeAspect="1"/>
          </p:cNvGraphicFramePr>
          <p:nvPr/>
        </p:nvGraphicFramePr>
        <p:xfrm>
          <a:off x="7118350" y="3048000"/>
          <a:ext cx="425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0" imgH="3657600" progId="Equation.3">
                  <p:embed/>
                </p:oleObj>
              </mc:Choice>
              <mc:Fallback>
                <p:oleObj name="Equation" r:id="rId2" imgW="4572000" imgH="3657600" progId="Equation.3">
                  <p:embed/>
                  <p:pic>
                    <p:nvPicPr>
                      <p:cNvPr id="891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8350" y="3048000"/>
                        <a:ext cx="4254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5" name="Object 25"/>
          <p:cNvGraphicFramePr>
            <a:graphicFrameLocks noChangeAspect="1"/>
          </p:cNvGraphicFramePr>
          <p:nvPr/>
        </p:nvGraphicFramePr>
        <p:xfrm>
          <a:off x="7069137" y="3429000"/>
          <a:ext cx="4603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910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137" y="3429000"/>
                        <a:ext cx="4603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6" name="Object 26"/>
          <p:cNvGraphicFramePr>
            <a:graphicFrameLocks noChangeAspect="1"/>
          </p:cNvGraphicFramePr>
          <p:nvPr/>
        </p:nvGraphicFramePr>
        <p:xfrm>
          <a:off x="7069137" y="3733800"/>
          <a:ext cx="460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0" imgH="3657600" progId="Equation.3">
                  <p:embed/>
                </p:oleObj>
              </mc:Choice>
              <mc:Fallback>
                <p:oleObj name="Equation" r:id="rId4" imgW="4572000" imgH="3657600" progId="Equation.3">
                  <p:embed/>
                  <p:pic>
                    <p:nvPicPr>
                      <p:cNvPr id="8910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137" y="3733800"/>
                        <a:ext cx="460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 noChangeArrowheads="1"/>
          </p:cNvSpPr>
          <p:nvPr>
            <p:ph type="title"/>
          </p:nvPr>
        </p:nvSpPr>
        <p:spPr>
          <a:xfrm>
            <a:off x="628650" y="1131888"/>
            <a:ext cx="7886700" cy="6524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Angsana New"/>
                <a:cs typeface="Angsana New"/>
              </a:rPr>
              <a:t>Grammars and Languages</a:t>
            </a:r>
            <a:endParaRPr lang="en-IN" altLang="en-US">
              <a:ea typeface="Angsana New"/>
              <a:cs typeface="Angsana New"/>
            </a:endParaRPr>
          </a:p>
        </p:txBody>
      </p:sp>
      <p:sp>
        <p:nvSpPr>
          <p:cNvPr id="901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784350"/>
            <a:ext cx="7886700" cy="3705225"/>
          </a:xfrm>
        </p:spPr>
        <p:txBody>
          <a:bodyPr>
            <a:normAutofit fontScale="77500" lnSpcReduction="20000"/>
          </a:bodyPr>
          <a:lstStyle/>
          <a:p>
            <a:pPr marL="0" indent="0" eaLnBrk="1" hangingPunct="1">
              <a:buFont typeface="Arial" pitchFamily="34" charset="0"/>
              <a:buNone/>
            </a:pPr>
            <a:r>
              <a:rPr lang="en-IN" altLang="en-US">
                <a:ea typeface="Cordia New"/>
                <a:cs typeface="Cordia New"/>
              </a:rPr>
              <a:t>7) Grammar for FORTRAN identifier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IN" altLang="en-US">
                <a:ea typeface="Cordia New"/>
                <a:cs typeface="Cordia New"/>
              </a:rPr>
              <a:t>Length – 6     First  symbol is the letter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IN" altLang="en-US">
                <a:ea typeface="Cordia New"/>
                <a:cs typeface="Cordia New"/>
              </a:rPr>
              <a:t>Letter = {A, B, C, …, Z}  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IN" altLang="en-US">
                <a:ea typeface="Cordia New"/>
                <a:cs typeface="Cordia New"/>
              </a:rPr>
              <a:t>Digit = {0, 1, …,9}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 → (A / B / C /…./ Z) S1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S1 →</a:t>
            </a:r>
            <a:r>
              <a:rPr lang="th-TH" altLang="en-US">
                <a:latin typeface="Browallia New"/>
                <a:ea typeface="Cordia New"/>
                <a:sym typeface="Symbol" pitchFamily="18" charset="2"/>
              </a:rPr>
              <a:t> </a:t>
            </a:r>
            <a:endParaRPr lang="en-IN" altLang="en-US">
              <a:latin typeface="Browallia New"/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S1 → (A / B / C /…./ Z / 0 / 1 / 2 / …./ 9) S2</a:t>
            </a:r>
            <a:endParaRPr lang="en-IN" altLang="en-US">
              <a:ea typeface="Cordia New"/>
              <a:cs typeface="Cordia New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S2 →</a:t>
            </a:r>
            <a:r>
              <a:rPr lang="th-TH" altLang="en-US">
                <a:latin typeface="Browallia New"/>
                <a:ea typeface="Cordia New"/>
                <a:sym typeface="Symbol" pitchFamily="18" charset="2"/>
              </a:rPr>
              <a:t> </a:t>
            </a:r>
            <a:endParaRPr lang="en-IN" altLang="en-US">
              <a:latin typeface="Browallia New"/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S2 → (A / B / C /…./ Z / 0 / 1 / 2 / …./ 9) S3</a:t>
            </a:r>
            <a:endParaRPr lang="en-IN" altLang="en-US">
              <a:ea typeface="Cordia New"/>
              <a:cs typeface="Cordia New"/>
            </a:endParaRPr>
          </a:p>
          <a:p>
            <a:pPr marL="0" indent="0" eaLnBrk="1" hangingPunct="1">
              <a:buFont typeface="Arial" pitchFamily="34" charset="0"/>
              <a:buNone/>
            </a:pPr>
            <a:endParaRPr lang="en-IN" altLang="en-US">
              <a:ea typeface="Cordia New"/>
              <a:cs typeface="Cordia New"/>
            </a:endParaRPr>
          </a:p>
          <a:p>
            <a:pPr marL="0" indent="0" eaLnBrk="1" hangingPunct="1">
              <a:buFont typeface="Arial" pitchFamily="34" charset="0"/>
              <a:buNone/>
            </a:pPr>
            <a:endParaRPr lang="en-IN" altLang="en-US">
              <a:ea typeface="Cordia New"/>
              <a:cs typeface="Cordia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149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79500"/>
            <a:ext cx="7886700" cy="5413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a typeface="+mj-ea"/>
              </a:rPr>
              <a:t>Grammars and Languages</a:t>
            </a:r>
            <a:endParaRPr lang="en-IN" dirty="0">
              <a:ea typeface="+mj-ea"/>
            </a:endParaRPr>
          </a:p>
        </p:txBody>
      </p:sp>
      <p:sp>
        <p:nvSpPr>
          <p:cNvPr id="9113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8650" y="1620838"/>
            <a:ext cx="7886700" cy="3868737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S3 →</a:t>
            </a:r>
            <a:r>
              <a:rPr lang="th-TH" altLang="en-US">
                <a:latin typeface="Browallia New"/>
                <a:ea typeface="Cordia New"/>
                <a:sym typeface="Symbol" pitchFamily="18" charset="2"/>
              </a:rPr>
              <a:t> </a:t>
            </a:r>
            <a:endParaRPr lang="en-IN" altLang="en-US">
              <a:latin typeface="Browallia New"/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S3 → (A / B / C /…./ Z / 0 / 1 / 2 / …./ 9) S4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S4 →</a:t>
            </a:r>
            <a:r>
              <a:rPr lang="th-TH" altLang="en-US">
                <a:latin typeface="Browallia New"/>
                <a:ea typeface="Cordia New"/>
                <a:sym typeface="Symbol" pitchFamily="18" charset="2"/>
              </a:rPr>
              <a:t> </a:t>
            </a:r>
            <a:endParaRPr lang="en-IN" altLang="en-US">
              <a:latin typeface="Browallia New"/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S4 → (A / B / C /…./ Z / 0 / 1 / 2 / …./ 9) S5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S5→</a:t>
            </a:r>
            <a:r>
              <a:rPr lang="th-TH" altLang="en-US">
                <a:latin typeface="Browallia New"/>
                <a:ea typeface="Cordia New"/>
                <a:sym typeface="Symbol" pitchFamily="18" charset="2"/>
              </a:rPr>
              <a:t> </a:t>
            </a:r>
            <a:endParaRPr lang="en-IN" altLang="en-US">
              <a:latin typeface="Browallia New"/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S5 → (A / B / C /…./ Z / 0 / 1 / 2 / …./ 9) S6</a:t>
            </a:r>
            <a:endParaRPr lang="en-IN" altLang="en-US">
              <a:ea typeface="Cordia New"/>
              <a:cs typeface="Cordia New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en-US">
                <a:ea typeface="Cordia New"/>
                <a:cs typeface="Cordia New"/>
              </a:rPr>
              <a:t> S6→</a:t>
            </a:r>
            <a:r>
              <a:rPr lang="th-TH" altLang="en-US">
                <a:latin typeface="Browallia New"/>
                <a:ea typeface="Cordia New"/>
                <a:sym typeface="Symbol" pitchFamily="18" charset="2"/>
              </a:rPr>
              <a:t> </a:t>
            </a:r>
            <a:endParaRPr lang="en-IN" altLang="en-US">
              <a:latin typeface="Browallia New"/>
              <a:ea typeface="Cordia New"/>
              <a:cs typeface="Cordia New"/>
              <a:sym typeface="Symbol" pitchFamily="18" charset="2"/>
            </a:endParaRPr>
          </a:p>
          <a:p>
            <a:pPr marL="0" indent="0" eaLnBrk="1" hangingPunct="1">
              <a:buFont typeface="Arial" pitchFamily="34" charset="0"/>
              <a:buNone/>
            </a:pPr>
            <a:endParaRPr lang="en-IN" altLang="en-US">
              <a:ea typeface="Cordia New"/>
              <a:cs typeface="Cordia New"/>
            </a:endParaRPr>
          </a:p>
          <a:p>
            <a:pPr marL="0" indent="0" eaLnBrk="1" hangingPunct="1">
              <a:buFont typeface="Arial" pitchFamily="34" charset="0"/>
              <a:buNone/>
            </a:pPr>
            <a:endParaRPr lang="en-IN" altLang="en-US">
              <a:ea typeface="Cordia New"/>
              <a:cs typeface="Cordia New"/>
            </a:endParaRPr>
          </a:p>
        </p:txBody>
      </p:sp>
      <p:graphicFrame>
        <p:nvGraphicFramePr>
          <p:cNvPr id="91140" name="Object 3"/>
          <p:cNvGraphicFramePr>
            <a:graphicFrameLocks noChangeAspect="1"/>
          </p:cNvGraphicFramePr>
          <p:nvPr/>
        </p:nvGraphicFramePr>
        <p:xfrm>
          <a:off x="914400" y="5676900"/>
          <a:ext cx="71532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258400" imgH="9753600" progId="Equation.3">
                  <p:embed/>
                </p:oleObj>
              </mc:Choice>
              <mc:Fallback>
                <p:oleObj name="Equation" r:id="rId2" imgW="86258400" imgH="9753600" progId="Equation.3">
                  <p:embed/>
                  <p:pic>
                    <p:nvPicPr>
                      <p:cNvPr id="9114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76900"/>
                        <a:ext cx="715327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4"/>
          <p:cNvGraphicFramePr>
            <a:graphicFrameLocks noChangeAspect="1"/>
          </p:cNvGraphicFramePr>
          <p:nvPr/>
        </p:nvGraphicFramePr>
        <p:xfrm>
          <a:off x="995363" y="5314950"/>
          <a:ext cx="310832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90400" imgH="4267200" progId="Equation.3">
                  <p:embed/>
                </p:oleObj>
              </mc:Choice>
              <mc:Fallback>
                <p:oleObj name="Equation" r:id="rId4" imgW="37490400" imgH="4267200" progId="Equation.3">
                  <p:embed/>
                  <p:pic>
                    <p:nvPicPr>
                      <p:cNvPr id="911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5314950"/>
                        <a:ext cx="3108325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2DA4-9A42-4281-A200-2A7A20238C5D}" type="slidenum">
              <a:rPr lang="en-US" smtClean="0"/>
              <a:pPr/>
              <a:t>150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C25EB8-0EEA-47CA-BC40-D8494AE5821F}" type="slidenum">
              <a:rPr lang="en-US" smtClean="0"/>
              <a:pPr/>
              <a:t>151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Membership Problem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i="1">
                <a:solidFill>
                  <a:srgbClr val="FF0000"/>
                </a:solidFill>
              </a:rPr>
              <a:t>Given a string w </a:t>
            </a:r>
            <a:r>
              <a:rPr lang="en-US" i="1">
                <a:solidFill>
                  <a:srgbClr val="FF0000"/>
                </a:solidFill>
                <a:sym typeface="Symbol" pitchFamily="28" charset="2"/>
              </a:rPr>
              <a:t></a:t>
            </a:r>
            <a:r>
              <a:rPr lang="en-US" i="1">
                <a:solidFill>
                  <a:srgbClr val="FF0000"/>
                </a:solidFill>
              </a:rPr>
              <a:t>∑*and a language L over ∑, decide whether or not w </a:t>
            </a:r>
            <a:r>
              <a:rPr lang="en-US" i="1">
                <a:solidFill>
                  <a:srgbClr val="FF0000"/>
                </a:solidFill>
                <a:sym typeface="Symbol" pitchFamily="28" charset="2"/>
              </a:rPr>
              <a:t></a:t>
            </a:r>
            <a:r>
              <a:rPr lang="en-US" i="1">
                <a:solidFill>
                  <a:srgbClr val="FF0000"/>
                </a:solidFill>
              </a:rPr>
              <a:t>L.</a:t>
            </a:r>
          </a:p>
          <a:p>
            <a:pPr eaLnBrk="1" hangingPunct="1">
              <a:buFont typeface="Wingdings" pitchFamily="28" charset="2"/>
              <a:buNone/>
            </a:pPr>
            <a:endParaRPr lang="en-US" i="1">
              <a:solidFill>
                <a:schemeClr val="bg2"/>
              </a:solidFill>
            </a:endParaRPr>
          </a:p>
          <a:p>
            <a:pPr eaLnBrk="1" hangingPunct="1">
              <a:buFont typeface="Wingdings" pitchFamily="28" charset="2"/>
              <a:buNone/>
            </a:pPr>
            <a:r>
              <a:rPr lang="en-US" u="sng">
                <a:solidFill>
                  <a:schemeClr val="bg2"/>
                </a:solidFill>
              </a:rPr>
              <a:t>Example: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>
                <a:solidFill>
                  <a:schemeClr val="bg2"/>
                </a:solidFill>
              </a:rPr>
              <a:t>	Let w = 100011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>
                <a:solidFill>
                  <a:schemeClr val="bg2"/>
                </a:solidFill>
              </a:rPr>
              <a:t>	Q) Is w </a:t>
            </a:r>
            <a:r>
              <a:rPr lang="en-US">
                <a:solidFill>
                  <a:schemeClr val="bg2"/>
                </a:solidFill>
                <a:sym typeface="Symbol" pitchFamily="28" charset="2"/>
              </a:rPr>
              <a:t> the language of strings with equal number of 0s and 1s?</a:t>
            </a:r>
            <a:endParaRPr lang="en-US">
              <a:solidFill>
                <a:schemeClr val="bg2"/>
              </a:solidFill>
            </a:endParaRPr>
          </a:p>
          <a:p>
            <a:pPr eaLnBrk="1" hangingPunct="1">
              <a:buFont typeface="Wingdings" pitchFamily="28" charset="2"/>
              <a:buNone/>
            </a:pPr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DC60B2-D78A-4477-AF7D-0C764D5B03D6}" type="slidenum">
              <a:rPr lang="en-US" smtClean="0"/>
              <a:pPr/>
              <a:t>152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Finite Automata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Some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Software for designing and checking the behavior of digital circuits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Lexical analyzer of a typical compiler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Software for scanning large bodies of text (e.g., web pages) for pattern finding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Software for verifying systems of all types that have a finite number of states (e.g., stock market transaction, communication/network protocol)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208759B-D4C3-4616-A512-75A2974AC495}" type="slidenum">
              <a:rPr lang="en-US" smtClean="0"/>
              <a:pPr/>
              <a:t>153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Finite Automata : Examples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On/Off switch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Modeling recognition of the word “</a:t>
            </a:r>
            <a:r>
              <a:rPr lang="en-US" i="1"/>
              <a:t>then</a:t>
            </a:r>
            <a:r>
              <a:rPr lang="en-US"/>
              <a:t>”</a:t>
            </a:r>
          </a:p>
          <a:p>
            <a:pPr eaLnBrk="1" hangingPunct="1"/>
            <a:endParaRPr lang="en-US"/>
          </a:p>
        </p:txBody>
      </p:sp>
      <p:pic>
        <p:nvPicPr>
          <p:cNvPr id="26629" name="Picture 4" descr="onof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981200"/>
            <a:ext cx="2984500" cy="188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5" descr="stringrec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4419600"/>
            <a:ext cx="6705600" cy="103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066800" y="5105400"/>
            <a:ext cx="7610475" cy="1279525"/>
            <a:chOff x="672" y="3216"/>
            <a:chExt cx="4794" cy="806"/>
          </a:xfrm>
        </p:grpSpPr>
        <p:sp>
          <p:nvSpPr>
            <p:cNvPr id="26634" name="Text Box 6"/>
            <p:cNvSpPr txBox="1">
              <a:spLocks noChangeArrowheads="1"/>
            </p:cNvSpPr>
            <p:nvPr/>
          </p:nvSpPr>
          <p:spPr bwMode="auto">
            <a:xfrm>
              <a:off x="672" y="3456"/>
              <a:ext cx="991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Start state</a:t>
              </a:r>
            </a:p>
          </p:txBody>
        </p:sp>
        <p:sp>
          <p:nvSpPr>
            <p:cNvPr id="26635" name="Text Box 7"/>
            <p:cNvSpPr txBox="1">
              <a:spLocks noChangeArrowheads="1"/>
            </p:cNvSpPr>
            <p:nvPr/>
          </p:nvSpPr>
          <p:spPr bwMode="auto">
            <a:xfrm>
              <a:off x="4464" y="3504"/>
              <a:ext cx="1002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Final state</a:t>
              </a:r>
            </a:p>
          </p:txBody>
        </p:sp>
        <p:sp>
          <p:nvSpPr>
            <p:cNvPr id="26636" name="Text Box 8"/>
            <p:cNvSpPr txBox="1">
              <a:spLocks noChangeArrowheads="1"/>
            </p:cNvSpPr>
            <p:nvPr/>
          </p:nvSpPr>
          <p:spPr bwMode="auto">
            <a:xfrm>
              <a:off x="1968" y="3504"/>
              <a:ext cx="959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Transition</a:t>
              </a:r>
            </a:p>
          </p:txBody>
        </p:sp>
        <p:sp>
          <p:nvSpPr>
            <p:cNvPr id="26637" name="Text Box 9"/>
            <p:cNvSpPr txBox="1">
              <a:spLocks noChangeArrowheads="1"/>
            </p:cNvSpPr>
            <p:nvPr/>
          </p:nvSpPr>
          <p:spPr bwMode="auto">
            <a:xfrm>
              <a:off x="3120" y="3504"/>
              <a:ext cx="1237" cy="51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Intermediate </a:t>
              </a:r>
              <a:br>
                <a:rPr lang="en-US"/>
              </a:br>
              <a:r>
                <a:rPr lang="en-US"/>
                <a:t>state</a:t>
              </a:r>
            </a:p>
          </p:txBody>
        </p:sp>
        <p:sp>
          <p:nvSpPr>
            <p:cNvPr id="26638" name="Line 10"/>
            <p:cNvSpPr>
              <a:spLocks noChangeShapeType="1"/>
            </p:cNvSpPr>
            <p:nvPr/>
          </p:nvSpPr>
          <p:spPr bwMode="auto">
            <a:xfrm flipV="1">
              <a:off x="2640" y="3216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Line 11"/>
            <p:cNvSpPr>
              <a:spLocks noChangeShapeType="1"/>
            </p:cNvSpPr>
            <p:nvPr/>
          </p:nvSpPr>
          <p:spPr bwMode="auto">
            <a:xfrm flipH="1" flipV="1">
              <a:off x="3312" y="33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 flipV="1">
              <a:off x="1584" y="331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 flipH="1" flipV="1">
              <a:off x="4944" y="3312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Line Callout 2 17"/>
          <p:cNvSpPr/>
          <p:nvPr/>
        </p:nvSpPr>
        <p:spPr bwMode="auto">
          <a:xfrm>
            <a:off x="6934200" y="1752600"/>
            <a:ext cx="838200" cy="381000"/>
          </a:xfrm>
          <a:prstGeom prst="borderCallout2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 dirty="0"/>
              <a:t>action</a:t>
            </a:r>
          </a:p>
        </p:txBody>
      </p:sp>
      <p:sp>
        <p:nvSpPr>
          <p:cNvPr id="19" name="Line Callout 2 18"/>
          <p:cNvSpPr/>
          <p:nvPr/>
        </p:nvSpPr>
        <p:spPr bwMode="auto">
          <a:xfrm>
            <a:off x="7543800" y="2209800"/>
            <a:ext cx="838200" cy="381000"/>
          </a:xfrm>
          <a:prstGeom prst="borderCallout2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 dirty="0"/>
              <a:t>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9067A9-9766-451C-AFD8-3890DCC4A646}" type="slidenum">
              <a:rPr lang="en-US" smtClean="0"/>
              <a:pPr/>
              <a:t>154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Structural expressions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Grammars</a:t>
            </a:r>
          </a:p>
          <a:p>
            <a:pPr eaLnBrk="1" hangingPunct="1"/>
            <a:r>
              <a:rPr lang="en-US"/>
              <a:t>Regular expressions</a:t>
            </a:r>
          </a:p>
          <a:p>
            <a:pPr lvl="1" eaLnBrk="1" hangingPunct="1"/>
            <a:r>
              <a:rPr lang="en-US"/>
              <a:t>E.g., unix style to capture city names such as “Palo Alto CA”:</a:t>
            </a:r>
          </a:p>
          <a:p>
            <a:pPr lvl="2" eaLnBrk="1" hangingPunct="1"/>
            <a:r>
              <a:rPr lang="en-US"/>
              <a:t>[A-Z][a-z]*([ ][A-Z][a-z]*)*[ ][A-Z][A-Z]</a:t>
            </a:r>
          </a:p>
          <a:p>
            <a:pPr lvl="2" eaLnBrk="1" hangingPunct="1"/>
            <a:endParaRPr lang="en-US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1263650" y="5081588"/>
            <a:ext cx="1517650" cy="3048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Start with a letter</a:t>
            </a:r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 flipV="1">
            <a:off x="2209800" y="4572000"/>
            <a:ext cx="381000" cy="609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AutoShape 8"/>
          <p:cNvSpPr>
            <a:spLocks/>
          </p:cNvSpPr>
          <p:nvPr/>
        </p:nvSpPr>
        <p:spPr bwMode="auto">
          <a:xfrm rot="5400000">
            <a:off x="2705100" y="4229100"/>
            <a:ext cx="152400" cy="685800"/>
          </a:xfrm>
          <a:prstGeom prst="righ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Text Box 9"/>
          <p:cNvSpPr txBox="1">
            <a:spLocks noChangeArrowheads="1"/>
          </p:cNvSpPr>
          <p:nvPr/>
        </p:nvSpPr>
        <p:spPr bwMode="auto">
          <a:xfrm>
            <a:off x="2362200" y="5410200"/>
            <a:ext cx="1489075" cy="7302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A string of other </a:t>
            </a:r>
            <a:br>
              <a:rPr lang="en-US" sz="1400">
                <a:solidFill>
                  <a:schemeClr val="hlink"/>
                </a:solidFill>
              </a:rPr>
            </a:br>
            <a:r>
              <a:rPr lang="en-US" sz="1400">
                <a:solidFill>
                  <a:schemeClr val="hlink"/>
                </a:solidFill>
              </a:rPr>
              <a:t>letters (possibly</a:t>
            </a:r>
            <a:br>
              <a:rPr lang="en-US" sz="1400">
                <a:solidFill>
                  <a:schemeClr val="hlink"/>
                </a:solidFill>
              </a:rPr>
            </a:br>
            <a:r>
              <a:rPr lang="en-US" sz="1400">
                <a:solidFill>
                  <a:schemeClr val="hlink"/>
                </a:solidFill>
              </a:rPr>
              <a:t>empty)</a:t>
            </a:r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 flipV="1">
            <a:off x="3124200" y="4572000"/>
            <a:ext cx="228600" cy="914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AutoShape 11"/>
          <p:cNvSpPr>
            <a:spLocks/>
          </p:cNvSpPr>
          <p:nvPr/>
        </p:nvSpPr>
        <p:spPr bwMode="auto">
          <a:xfrm rot="5400000">
            <a:off x="3390900" y="430530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Text Box 12"/>
          <p:cNvSpPr txBox="1">
            <a:spLocks noChangeArrowheads="1"/>
          </p:cNvSpPr>
          <p:nvPr/>
        </p:nvSpPr>
        <p:spPr bwMode="auto">
          <a:xfrm>
            <a:off x="2971800" y="6248400"/>
            <a:ext cx="2436813" cy="5175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Other space delimited words</a:t>
            </a:r>
            <a:br>
              <a:rPr lang="en-US" sz="1400">
                <a:solidFill>
                  <a:schemeClr val="hlink"/>
                </a:solidFill>
              </a:rPr>
            </a:br>
            <a:r>
              <a:rPr lang="en-US" sz="1400">
                <a:solidFill>
                  <a:schemeClr val="hlink"/>
                </a:solidFill>
              </a:rPr>
              <a:t>(part of city name)</a:t>
            </a:r>
          </a:p>
        </p:txBody>
      </p:sp>
      <p:sp>
        <p:nvSpPr>
          <p:cNvPr id="27660" name="Line 13"/>
          <p:cNvSpPr>
            <a:spLocks noChangeShapeType="1"/>
          </p:cNvSpPr>
          <p:nvPr/>
        </p:nvSpPr>
        <p:spPr bwMode="auto">
          <a:xfrm flipV="1">
            <a:off x="4267200" y="4876800"/>
            <a:ext cx="381000" cy="1295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AutoShape 14"/>
          <p:cNvSpPr>
            <a:spLocks/>
          </p:cNvSpPr>
          <p:nvPr/>
        </p:nvSpPr>
        <p:spPr bwMode="auto">
          <a:xfrm rot="5400000">
            <a:off x="4766469" y="3852069"/>
            <a:ext cx="176212" cy="1873250"/>
          </a:xfrm>
          <a:prstGeom prst="rightBrace">
            <a:avLst>
              <a:gd name="adj1" fmla="val 88589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Text Box 15"/>
          <p:cNvSpPr txBox="1">
            <a:spLocks noChangeArrowheads="1"/>
          </p:cNvSpPr>
          <p:nvPr/>
        </p:nvSpPr>
        <p:spPr bwMode="auto">
          <a:xfrm>
            <a:off x="5105400" y="5594350"/>
            <a:ext cx="2782888" cy="3048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Should end w/ 2-letter state code</a:t>
            </a:r>
          </a:p>
        </p:txBody>
      </p:sp>
      <p:sp>
        <p:nvSpPr>
          <p:cNvPr id="27663" name="Line 16"/>
          <p:cNvSpPr>
            <a:spLocks noChangeShapeType="1"/>
          </p:cNvSpPr>
          <p:nvPr/>
        </p:nvSpPr>
        <p:spPr bwMode="auto">
          <a:xfrm flipV="1">
            <a:off x="5867400" y="4756150"/>
            <a:ext cx="228600" cy="914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AutoShape 17"/>
          <p:cNvSpPr>
            <a:spLocks/>
          </p:cNvSpPr>
          <p:nvPr/>
        </p:nvSpPr>
        <p:spPr bwMode="auto">
          <a:xfrm rot="5400000">
            <a:off x="6613525" y="3978275"/>
            <a:ext cx="184150" cy="1524000"/>
          </a:xfrm>
          <a:prstGeom prst="rightBrace">
            <a:avLst>
              <a:gd name="adj1" fmla="val 68966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10407</Words>
  <Application>Microsoft Office PowerPoint</Application>
  <PresentationFormat>On-screen Show (4:3)</PresentationFormat>
  <Paragraphs>1534</Paragraphs>
  <Slides>154</Slides>
  <Notes>24</Notes>
  <HiddenSlides>5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154</vt:i4>
      </vt:variant>
    </vt:vector>
  </HeadingPairs>
  <TitlesOfParts>
    <vt:vector size="173" baseType="lpstr">
      <vt:lpstr>ＭＳ Ｐゴシック</vt:lpstr>
      <vt:lpstr>Angsana New</vt:lpstr>
      <vt:lpstr>Arial</vt:lpstr>
      <vt:lpstr>Browallia New</vt:lpstr>
      <vt:lpstr>Calibri</vt:lpstr>
      <vt:lpstr>Cambria Math</vt:lpstr>
      <vt:lpstr>Comic Sans MS</vt:lpstr>
      <vt:lpstr>Cordia New</vt:lpstr>
      <vt:lpstr>Courier New</vt:lpstr>
      <vt:lpstr>Garamond</vt:lpstr>
      <vt:lpstr>Gill Sans MT</vt:lpstr>
      <vt:lpstr>Monotype Corsiva</vt:lpstr>
      <vt:lpstr>MT Extra</vt:lpstr>
      <vt:lpstr>Symbol</vt:lpstr>
      <vt:lpstr>Times New Roman</vt:lpstr>
      <vt:lpstr>Wingdings</vt:lpstr>
      <vt:lpstr>Office Theme</vt:lpstr>
      <vt:lpstr>数式</vt:lpstr>
      <vt:lpstr>Equation</vt:lpstr>
      <vt:lpstr>Introduction</vt:lpstr>
      <vt:lpstr>PowerPoint Presentation</vt:lpstr>
      <vt:lpstr>On Theorems, Lemmas and Corollaries</vt:lpstr>
      <vt:lpstr>Deductive Proofs</vt:lpstr>
      <vt:lpstr>Example: Deductive proof </vt:lpstr>
      <vt:lpstr>Quantifiers</vt:lpstr>
      <vt:lpstr>Different ways of saying the same thing </vt:lpstr>
      <vt:lpstr>“If-and-Only-If”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Proving techniques</vt:lpstr>
      <vt:lpstr>Proving techniques…</vt:lpstr>
      <vt:lpstr>Induction</vt:lpstr>
      <vt:lpstr>Induction</vt:lpstr>
      <vt:lpstr>Induction</vt:lpstr>
      <vt:lpstr>Induction</vt:lpstr>
      <vt:lpstr>Induction</vt:lpstr>
      <vt:lpstr>Induction</vt:lpstr>
      <vt:lpstr>Induction</vt:lpstr>
      <vt:lpstr>Induction</vt:lpstr>
      <vt:lpstr>Induction</vt:lpstr>
      <vt:lpstr>Induction</vt:lpstr>
      <vt:lpstr>Induction</vt:lpstr>
      <vt:lpstr>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 of Proof by Contraposition</vt:lpstr>
      <vt:lpstr>Benefit of Proof by Contraposition</vt:lpstr>
      <vt:lpstr>Example:  Proof by Contraposition</vt:lpstr>
      <vt:lpstr>The Proof</vt:lpstr>
      <vt:lpstr>Example</vt:lpstr>
      <vt:lpstr>Rationale</vt:lpstr>
      <vt:lpstr>Recall: Negation</vt:lpstr>
      <vt:lpstr>Recall: Negation</vt:lpstr>
      <vt:lpstr>Contrapositive </vt:lpstr>
      <vt:lpstr>Example 4</vt:lpstr>
      <vt:lpstr>Contrapositive</vt:lpstr>
      <vt:lpstr>Contraposition and Compound Hypotheses</vt:lpstr>
      <vt:lpstr>Form of Proof by Contradiction</vt:lpstr>
      <vt:lpstr>Benefit of Proof by Contradiction</vt:lpstr>
      <vt:lpstr>Proof By Contradiction Skeleton</vt:lpstr>
      <vt:lpstr>Proof By Contradiction</vt:lpstr>
      <vt:lpstr>Proof By Contradiction</vt:lpstr>
      <vt:lpstr>Proof By Contradiction</vt:lpstr>
      <vt:lpstr>Proof By Contradiction</vt:lpstr>
      <vt:lpstr>Proof By Contradiction</vt:lpstr>
      <vt:lpstr>Proof By Contradiction</vt:lpstr>
      <vt:lpstr>Another Proof By Contradiction</vt:lpstr>
      <vt:lpstr>Another Proof By Contradiction</vt:lpstr>
      <vt:lpstr>Another Proof By Contradiction</vt:lpstr>
      <vt:lpstr>Another Proof By Contradiction</vt:lpstr>
      <vt:lpstr>Just the Skeleton</vt:lpstr>
      <vt:lpstr>Just the Skeleton</vt:lpstr>
      <vt:lpstr>Just the Skeleton</vt:lpstr>
      <vt:lpstr>Just the Skeleton</vt:lpstr>
      <vt:lpstr>Contradiction vs. Contraposition</vt:lpstr>
      <vt:lpstr>Contradiction vs. Contraposition?</vt:lpstr>
      <vt:lpstr>What’s the difference?</vt:lpstr>
      <vt:lpstr>Counterexamples</vt:lpstr>
      <vt:lpstr>Example 3</vt:lpstr>
      <vt:lpstr>Example 4</vt:lpstr>
      <vt:lpstr>Automata Theory</vt:lpstr>
      <vt:lpstr>What is Automata Theory?</vt:lpstr>
      <vt:lpstr>Alan Turing (1912-1954)</vt:lpstr>
      <vt:lpstr>Theory of Computation: A Historical Perspective</vt:lpstr>
      <vt:lpstr>Languages &amp; Grammars</vt:lpstr>
      <vt:lpstr>The Chomsky Hierachy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kinds of automata</vt:lpstr>
      <vt:lpstr>Some devices we will see</vt:lpstr>
      <vt:lpstr>Some Utilities</vt:lpstr>
      <vt:lpstr>Some Utilities</vt:lpstr>
      <vt:lpstr>Preliminaries of automata theory</vt:lpstr>
      <vt:lpstr>Problems</vt:lpstr>
      <vt:lpstr>Let’s solve</vt:lpstr>
      <vt:lpstr>PowerPoint Presentation</vt:lpstr>
      <vt:lpstr>PowerPoint Presentation</vt:lpstr>
      <vt:lpstr>Next problem</vt:lpstr>
      <vt:lpstr>Next problem</vt:lpstr>
      <vt:lpstr>Next problem</vt:lpstr>
      <vt:lpstr>Relevant Question</vt:lpstr>
      <vt:lpstr>Algorithm</vt:lpstr>
      <vt:lpstr>Algorithm</vt:lpstr>
      <vt:lpstr>Algorithm</vt:lpstr>
      <vt:lpstr>Algorithm</vt:lpstr>
      <vt:lpstr>Central Concepts</vt:lpstr>
      <vt:lpstr>Alphabets and strings</vt:lpstr>
      <vt:lpstr>Strings</vt:lpstr>
      <vt:lpstr>Powers of an alphabet </vt:lpstr>
      <vt:lpstr>Languages</vt:lpstr>
      <vt:lpstr>Languages</vt:lpstr>
      <vt:lpstr>Empty String</vt:lpstr>
      <vt:lpstr>Length of a String</vt:lpstr>
      <vt:lpstr>String Operations</vt:lpstr>
      <vt:lpstr>Concatenation</vt:lpstr>
      <vt:lpstr>Substring</vt:lpstr>
      <vt:lpstr>Reversal</vt:lpstr>
      <vt:lpstr>Kleene Closure</vt:lpstr>
      <vt:lpstr>Positive Closure</vt:lpstr>
      <vt:lpstr>Operations on Languages</vt:lpstr>
      <vt:lpstr>Operations on Languages</vt:lpstr>
      <vt:lpstr>Complementation</vt:lpstr>
      <vt:lpstr>Union</vt:lpstr>
      <vt:lpstr>Intersection</vt:lpstr>
      <vt:lpstr>Concatenation</vt:lpstr>
      <vt:lpstr>Reversal</vt:lpstr>
      <vt:lpstr>Kleene’s closure</vt:lpstr>
      <vt:lpstr>Grammars</vt:lpstr>
      <vt:lpstr>Grammars</vt:lpstr>
      <vt:lpstr>Grammars</vt:lpstr>
      <vt:lpstr>Chomsky Hierarchy (Classification of Grammars)</vt:lpstr>
      <vt:lpstr>Grammars</vt:lpstr>
      <vt:lpstr>PowerPoint Presentation</vt:lpstr>
      <vt:lpstr>Grammars</vt:lpstr>
      <vt:lpstr>Grammars and Languages </vt:lpstr>
      <vt:lpstr>Derivation</vt:lpstr>
      <vt:lpstr>Derivation</vt:lpstr>
      <vt:lpstr>PowerPoint Presentation</vt:lpstr>
      <vt:lpstr>Derivation</vt:lpstr>
      <vt:lpstr>Grammar  (Examples)</vt:lpstr>
      <vt:lpstr>Grammar</vt:lpstr>
      <vt:lpstr>Grammar  (Examples)</vt:lpstr>
      <vt:lpstr>Type 0 ( Unrestricted Grammar )</vt:lpstr>
      <vt:lpstr>Type 0 ( Unrestricted Grammar )</vt:lpstr>
      <vt:lpstr>Type 1 (Context Sensitive )</vt:lpstr>
      <vt:lpstr>Type 1 (Context Sensitive )</vt:lpstr>
      <vt:lpstr>Type 2 ( Context Free ) </vt:lpstr>
      <vt:lpstr>Type 2 ( Context Free ) </vt:lpstr>
      <vt:lpstr>Type 3 (Regular Grammar) </vt:lpstr>
      <vt:lpstr>Type 3 (Regular Grammar) </vt:lpstr>
      <vt:lpstr>Null Production </vt:lpstr>
      <vt:lpstr>PowerPoint Presentation</vt:lpstr>
      <vt:lpstr>Grammars and Languages-Identifying Language from given Grammar</vt:lpstr>
      <vt:lpstr>Grammars and Languages</vt:lpstr>
      <vt:lpstr>Grammars and Languages</vt:lpstr>
      <vt:lpstr>Grammars and Languages</vt:lpstr>
      <vt:lpstr>Grammars and Languages</vt:lpstr>
      <vt:lpstr>Grammars and Languages</vt:lpstr>
      <vt:lpstr>The Membership Problem</vt:lpstr>
      <vt:lpstr>Finite Automata</vt:lpstr>
      <vt:lpstr>Finite Automata : Examples</vt:lpstr>
      <vt:lpstr>Structural expressions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I (G1)</dc:title>
  <dc:creator>Adrija Bhattacharya</dc:creator>
  <cp:lastModifiedBy>adrija bhattacharya</cp:lastModifiedBy>
  <cp:revision>43</cp:revision>
  <dcterms:created xsi:type="dcterms:W3CDTF">2024-09-18T13:11:30Z</dcterms:created>
  <dcterms:modified xsi:type="dcterms:W3CDTF">2025-12-12T00:26:52Z</dcterms:modified>
</cp:coreProperties>
</file>