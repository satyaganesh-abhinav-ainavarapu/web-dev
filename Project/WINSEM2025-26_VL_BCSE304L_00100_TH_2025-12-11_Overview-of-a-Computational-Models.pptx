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36"/>
  </p:notesMasterIdLst>
  <p:sldIdLst>
    <p:sldId id="256" r:id="rId2"/>
    <p:sldId id="270" r:id="rId3"/>
    <p:sldId id="271" r:id="rId4"/>
    <p:sldId id="272" r:id="rId5"/>
    <p:sldId id="274" r:id="rId6"/>
    <p:sldId id="275" r:id="rId7"/>
    <p:sldId id="276" r:id="rId8"/>
    <p:sldId id="277" r:id="rId9"/>
    <p:sldId id="278" r:id="rId10"/>
    <p:sldId id="279" r:id="rId11"/>
    <p:sldId id="280" r:id="rId12"/>
    <p:sldId id="281" r:id="rId13"/>
    <p:sldId id="282" r:id="rId14"/>
    <p:sldId id="283" r:id="rId15"/>
    <p:sldId id="284" r:id="rId16"/>
    <p:sldId id="286" r:id="rId17"/>
    <p:sldId id="285" r:id="rId18"/>
    <p:sldId id="296" r:id="rId19"/>
    <p:sldId id="297" r:id="rId20"/>
    <p:sldId id="287" r:id="rId21"/>
    <p:sldId id="298" r:id="rId22"/>
    <p:sldId id="288" r:id="rId23"/>
    <p:sldId id="289" r:id="rId24"/>
    <p:sldId id="290" r:id="rId25"/>
    <p:sldId id="291" r:id="rId26"/>
    <p:sldId id="292" r:id="rId27"/>
    <p:sldId id="293" r:id="rId28"/>
    <p:sldId id="294" r:id="rId29"/>
    <p:sldId id="295" r:id="rId30"/>
    <p:sldId id="299" r:id="rId31"/>
    <p:sldId id="300" r:id="rId32"/>
    <p:sldId id="301" r:id="rId33"/>
    <p:sldId id="302" r:id="rId34"/>
    <p:sldId id="303"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E7238B-4390-4646-8EB4-4968ED26515B}" type="datetimeFigureOut">
              <a:rPr lang="en-IN" smtClean="0"/>
              <a:t>11-12-2025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BFB1CC-AE27-4B23-824E-BA8B57FD6C58}" type="slidenum">
              <a:rPr lang="en-IN" smtClean="0"/>
              <a:t>‹#›</a:t>
            </a:fld>
            <a:endParaRPr lang="en-IN"/>
          </a:p>
        </p:txBody>
      </p:sp>
    </p:spTree>
    <p:extLst>
      <p:ext uri="{BB962C8B-B14F-4D97-AF65-F5344CB8AC3E}">
        <p14:creationId xmlns:p14="http://schemas.microsoft.com/office/powerpoint/2010/main" val="385057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6F6A820A-2CAB-46E0-A5A3-DD492961C18D}" type="datetimeFigureOut">
              <a:rPr lang="en-IN" smtClean="0"/>
              <a:t>11-12-2025</a:t>
            </a:fld>
            <a:endParaRPr lang="en-IN"/>
          </a:p>
        </p:txBody>
      </p:sp>
      <p:sp>
        <p:nvSpPr>
          <p:cNvPr id="17" name="Footer Placeholder 16"/>
          <p:cNvSpPr>
            <a:spLocks noGrp="1"/>
          </p:cNvSpPr>
          <p:nvPr>
            <p:ph type="ftr" sz="quarter" idx="11"/>
          </p:nvPr>
        </p:nvSpPr>
        <p:spPr/>
        <p:txBody>
          <a:bodyPr/>
          <a:lstStyle/>
          <a:p>
            <a:endParaRPr lang="en-IN"/>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5D16119-D660-40DF-B339-D75B54681409}" type="slidenum">
              <a:rPr lang="en-IN" smtClean="0"/>
              <a:t>‹#›</a:t>
            </a:fld>
            <a:endParaRPr lang="en-IN"/>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6F6A820A-2CAB-46E0-A5A3-DD492961C18D}"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6F6A820A-2CAB-46E0-A5A3-DD492961C18D}" type="datetimeFigureOut">
              <a:rPr lang="en-IN" smtClean="0"/>
              <a:t>11-12-2025</a:t>
            </a:fld>
            <a:endParaRPr lang="en-IN"/>
          </a:p>
        </p:txBody>
      </p:sp>
      <p:sp>
        <p:nvSpPr>
          <p:cNvPr id="5" name="Footer Placeholder 4"/>
          <p:cNvSpPr>
            <a:spLocks noGrp="1"/>
          </p:cNvSpPr>
          <p:nvPr>
            <p:ph type="ftr" sz="quarter" idx="11"/>
          </p:nvPr>
        </p:nvSpPr>
        <p:spPr>
          <a:xfrm>
            <a:off x="800100" y="6172200"/>
            <a:ext cx="4000500" cy="457200"/>
          </a:xfrm>
        </p:spPr>
        <p:txBody>
          <a:bodyPr/>
          <a:lstStyle/>
          <a:p>
            <a:endParaRPr lang="en-IN"/>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5D16119-D660-40DF-B339-D75B54681409}"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6F6A820A-2CAB-46E0-A5A3-DD492961C18D}"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6F6A820A-2CAB-46E0-A5A3-DD492961C18D}" type="datetimeFigureOut">
              <a:rPr lang="en-IN" smtClean="0"/>
              <a:t>11-12-2025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D16119-D660-40DF-B339-D75B54681409}" type="slidenum">
              <a:rPr lang="en-IN" smtClean="0"/>
              <a:t>‹#›</a:t>
            </a:fld>
            <a:endParaRPr lang="en-IN"/>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6F6A820A-2CAB-46E0-A5A3-DD492961C18D}" type="datetimeFigureOut">
              <a:rPr lang="en-IN" smtClean="0"/>
              <a:t>11-12-2025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6A820A-2CAB-46E0-A5A3-DD492961C18D}" type="datetimeFigureOut">
              <a:rPr lang="en-IN" smtClean="0"/>
              <a:t>11-12-2025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F6A820A-2CAB-46E0-A5A3-DD492961C18D}" type="datetimeFigureOut">
              <a:rPr lang="en-IN" smtClean="0"/>
              <a:t>11-12-2025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6F6A820A-2CAB-46E0-A5A3-DD492961C18D}" type="datetimeFigureOut">
              <a:rPr lang="en-IN" smtClean="0"/>
              <a:t>11-12-2025</a:t>
            </a:fld>
            <a:endParaRPr lang="en-IN"/>
          </a:p>
        </p:txBody>
      </p:sp>
      <p:sp>
        <p:nvSpPr>
          <p:cNvPr id="6" name="Footer Placeholder 5"/>
          <p:cNvSpPr>
            <a:spLocks noGrp="1"/>
          </p:cNvSpPr>
          <p:nvPr>
            <p:ph type="ftr" sz="quarter" idx="11"/>
          </p:nvPr>
        </p:nvSpPr>
        <p:spPr>
          <a:xfrm>
            <a:off x="914400" y="6172200"/>
            <a:ext cx="3886200" cy="457200"/>
          </a:xfrm>
        </p:spPr>
        <p:txBody>
          <a:bodyPr/>
          <a:lstStyle/>
          <a:p>
            <a:endParaRPr lang="en-IN"/>
          </a:p>
        </p:txBody>
      </p:sp>
      <p:sp>
        <p:nvSpPr>
          <p:cNvPr id="7" name="Slide Number Placeholder 6"/>
          <p:cNvSpPr>
            <a:spLocks noGrp="1"/>
          </p:cNvSpPr>
          <p:nvPr>
            <p:ph type="sldNum" sz="quarter" idx="12"/>
          </p:nvPr>
        </p:nvSpPr>
        <p:spPr>
          <a:xfrm>
            <a:off x="146304" y="6208776"/>
            <a:ext cx="457200" cy="457200"/>
          </a:xfrm>
        </p:spPr>
        <p:txBody>
          <a:bodyPr/>
          <a:lstStyle/>
          <a:p>
            <a:fld id="{B5D16119-D660-40DF-B339-D75B54681409}" type="slidenum">
              <a:rPr lang="en-IN" smtClean="0"/>
              <a:t>‹#›</a:t>
            </a:fld>
            <a:endParaRPr lang="en-IN"/>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F6A820A-2CAB-46E0-A5A3-DD492961C18D}" type="datetimeFigureOut">
              <a:rPr lang="en-IN" smtClean="0"/>
              <a:t>11-12-2025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6F6A820A-2CAB-46E0-A5A3-DD492961C18D}" type="datetimeFigureOut">
              <a:rPr lang="en-IN" smtClean="0"/>
              <a:t>11-12-2025</a:t>
            </a:fld>
            <a:endParaRPr lang="en-IN"/>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IN"/>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5D16119-D660-40DF-B339-D75B5468140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Dr. </a:t>
            </a:r>
            <a:r>
              <a:rPr lang="en-US" dirty="0" err="1"/>
              <a:t>Anand</a:t>
            </a:r>
            <a:r>
              <a:rPr lang="en-US" dirty="0"/>
              <a:t> </a:t>
            </a:r>
            <a:r>
              <a:rPr lang="en-US" dirty="0" err="1"/>
              <a:t>Bihari</a:t>
            </a:r>
            <a:endParaRPr lang="en-US" dirty="0"/>
          </a:p>
          <a:p>
            <a:r>
              <a:rPr lang="en-US" dirty="0"/>
              <a:t>SJT Annex- 203N</a:t>
            </a:r>
          </a:p>
          <a:p>
            <a:r>
              <a:rPr lang="en-US" dirty="0"/>
              <a:t>anand.bihari@vit.ac.in</a:t>
            </a:r>
            <a:endParaRPr lang="en-IN" dirty="0"/>
          </a:p>
        </p:txBody>
      </p:sp>
      <p:sp>
        <p:nvSpPr>
          <p:cNvPr id="2" name="Title 1"/>
          <p:cNvSpPr>
            <a:spLocks noGrp="1"/>
          </p:cNvSpPr>
          <p:nvPr>
            <p:ph type="ctrTitle"/>
          </p:nvPr>
        </p:nvSpPr>
        <p:spPr/>
        <p:txBody>
          <a:bodyPr/>
          <a:lstStyle/>
          <a:p>
            <a:r>
              <a:rPr lang="en-US" dirty="0"/>
              <a:t>Overview of a Computational Models</a:t>
            </a:r>
            <a:endParaRPr lang="en-IN" dirty="0"/>
          </a:p>
        </p:txBody>
      </p:sp>
      <p:sp>
        <p:nvSpPr>
          <p:cNvPr id="5" name="Rectangle 1"/>
          <p:cNvSpPr>
            <a:spLocks noChangeArrowheads="1"/>
          </p:cNvSpPr>
          <p:nvPr/>
        </p:nvSpPr>
        <p:spPr bwMode="auto">
          <a:xfrm>
            <a:off x="2181225" y="3603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itchFamily="34" charset="0"/>
                <a:cs typeface="Arial" pitchFamily="34" charset="0"/>
              </a:rPr>
            </a:b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273291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TOC</a:t>
            </a:r>
            <a:endParaRPr lang="en-IN" dirty="0"/>
          </a:p>
        </p:txBody>
      </p:sp>
      <p:sp>
        <p:nvSpPr>
          <p:cNvPr id="3" name="Content Placeholder 2"/>
          <p:cNvSpPr>
            <a:spLocks noGrp="1"/>
          </p:cNvSpPr>
          <p:nvPr>
            <p:ph sz="quarter" idx="1"/>
          </p:nvPr>
        </p:nvSpPr>
        <p:spPr/>
        <p:txBody>
          <a:bodyPr>
            <a:noAutofit/>
          </a:bodyPr>
          <a:lstStyle/>
          <a:p>
            <a:pPr algn="just"/>
            <a:r>
              <a:rPr lang="en-US" sz="2300" dirty="0">
                <a:latin typeface="Times New Roman" pitchFamily="18" charset="0"/>
                <a:cs typeface="Times New Roman" pitchFamily="18" charset="0"/>
              </a:rPr>
              <a:t>In theoretical computer science, the theory of computation is the branch that deals with whether and how efficiently problems can be solved on a model of computation, using an algorithm. </a:t>
            </a:r>
          </a:p>
          <a:p>
            <a:pPr algn="just"/>
            <a:r>
              <a:rPr lang="en-US" sz="2300" dirty="0">
                <a:latin typeface="Times New Roman" pitchFamily="18" charset="0"/>
                <a:cs typeface="Times New Roman" pitchFamily="18" charset="0"/>
              </a:rPr>
              <a:t>The field is divided into three major branches: </a:t>
            </a:r>
          </a:p>
          <a:p>
            <a:pPr lvl="1" algn="just"/>
            <a:r>
              <a:rPr lang="en-US" sz="2100" dirty="0">
                <a:latin typeface="Times New Roman" pitchFamily="18" charset="0"/>
                <a:cs typeface="Times New Roman" pitchFamily="18" charset="0"/>
              </a:rPr>
              <a:t>Automata theory, </a:t>
            </a:r>
          </a:p>
          <a:p>
            <a:pPr lvl="1" algn="just"/>
            <a:r>
              <a:rPr lang="en-US" sz="2100" dirty="0">
                <a:latin typeface="Times New Roman" pitchFamily="18" charset="0"/>
                <a:cs typeface="Times New Roman" pitchFamily="18" charset="0"/>
              </a:rPr>
              <a:t>Computability theory</a:t>
            </a:r>
          </a:p>
          <a:p>
            <a:pPr lvl="1" algn="just"/>
            <a:r>
              <a:rPr lang="en-US" sz="2100" dirty="0">
                <a:latin typeface="Times New Roman" pitchFamily="18" charset="0"/>
                <a:cs typeface="Times New Roman" pitchFamily="18" charset="0"/>
              </a:rPr>
              <a:t>and computational complexity theory.</a:t>
            </a:r>
          </a:p>
          <a:p>
            <a:pPr algn="just"/>
            <a:r>
              <a:rPr lang="en-US" sz="2300" dirty="0">
                <a:latin typeface="Times New Roman" pitchFamily="18" charset="0"/>
                <a:cs typeface="Times New Roman" pitchFamily="18" charset="0"/>
              </a:rPr>
              <a:t>In order to perform a rigorous study of computation, computer scientists work with a mathematical abstraction of computers called a model of computation. </a:t>
            </a:r>
          </a:p>
          <a:p>
            <a:pPr algn="just"/>
            <a:r>
              <a:rPr lang="en-US" sz="2300" dirty="0">
                <a:latin typeface="Times New Roman" pitchFamily="18" charset="0"/>
                <a:cs typeface="Times New Roman" pitchFamily="18" charset="0"/>
              </a:rPr>
              <a:t>There are several models in use, but the most commonly examined is the Turing machine.</a:t>
            </a:r>
          </a:p>
        </p:txBody>
      </p:sp>
    </p:spTree>
    <p:extLst>
      <p:ext uri="{BB962C8B-B14F-4D97-AF65-F5344CB8AC3E}">
        <p14:creationId xmlns:p14="http://schemas.microsoft.com/office/powerpoint/2010/main" val="3570558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404664"/>
            <a:ext cx="7772400" cy="5615136"/>
          </a:xfrm>
        </p:spPr>
        <p:txBody>
          <a:bodyPr>
            <a:normAutofit/>
          </a:bodyPr>
          <a:lstStyle/>
          <a:p>
            <a:pPr algn="just"/>
            <a:r>
              <a:rPr lang="en-US" sz="2300" dirty="0">
                <a:latin typeface="Times New Roman" panose="02020603050405020304" pitchFamily="18" charset="0"/>
                <a:cs typeface="Times New Roman" panose="02020603050405020304" pitchFamily="18" charset="0"/>
              </a:rPr>
              <a:t>Automata theory</a:t>
            </a:r>
          </a:p>
          <a:p>
            <a:pPr algn="just"/>
            <a:r>
              <a:rPr lang="en-US" sz="2300" dirty="0">
                <a:latin typeface="Times New Roman" panose="02020603050405020304" pitchFamily="18" charset="0"/>
                <a:cs typeface="Times New Roman" panose="02020603050405020304" pitchFamily="18" charset="0"/>
              </a:rPr>
              <a:t>In theoretical computer science, automata theory is the study of abstract machines (or more appropriately, abstract 'mathematical' machines or systems) and the computational problems that can be solved using these machines. These abstract machines are called automata.</a:t>
            </a:r>
          </a:p>
          <a:p>
            <a:pPr algn="just"/>
            <a:r>
              <a:rPr lang="en-US" sz="2300" dirty="0">
                <a:latin typeface="Times New Roman" panose="02020603050405020304" pitchFamily="18" charset="0"/>
                <a:cs typeface="Times New Roman" panose="02020603050405020304" pitchFamily="18" charset="0"/>
              </a:rPr>
              <a:t>This automaton consists of</a:t>
            </a:r>
          </a:p>
          <a:p>
            <a:pPr lvl="1" algn="just"/>
            <a:r>
              <a:rPr lang="en-US" sz="2100" dirty="0">
                <a:latin typeface="Times New Roman" panose="02020603050405020304" pitchFamily="18" charset="0"/>
                <a:cs typeface="Times New Roman" panose="02020603050405020304" pitchFamily="18" charset="0"/>
              </a:rPr>
              <a:t>states (represented in the figure by circles),</a:t>
            </a:r>
          </a:p>
          <a:p>
            <a:pPr lvl="1" algn="just"/>
            <a:r>
              <a:rPr lang="en-US" sz="2100" dirty="0">
                <a:latin typeface="Times New Roman" panose="02020603050405020304" pitchFamily="18" charset="0"/>
                <a:cs typeface="Times New Roman" panose="02020603050405020304" pitchFamily="18" charset="0"/>
              </a:rPr>
              <a:t>and transitions (represented by arrows).</a:t>
            </a:r>
          </a:p>
          <a:p>
            <a:pPr algn="just"/>
            <a:r>
              <a:rPr lang="en-US" sz="2300" dirty="0">
                <a:latin typeface="Times New Roman" panose="02020603050405020304" pitchFamily="18" charset="0"/>
                <a:cs typeface="Times New Roman" panose="02020603050405020304" pitchFamily="18" charset="0"/>
              </a:rPr>
              <a:t>As the automaton sees a symbol of input, it makes a transition (or jump) to another state, according to its transition function (which takes the current state and the recent symbol as its inputs)</a:t>
            </a:r>
          </a:p>
          <a:p>
            <a:pPr algn="just"/>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7347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476672"/>
            <a:ext cx="7772400" cy="5543128"/>
          </a:xfrm>
        </p:spPr>
        <p:txBody>
          <a:bodyPr/>
          <a:lstStyle/>
          <a:p>
            <a:pPr algn="just"/>
            <a:r>
              <a:rPr lang="en-US" sz="2300" dirty="0">
                <a:latin typeface="Times New Roman" panose="02020603050405020304" pitchFamily="18" charset="0"/>
                <a:cs typeface="Times New Roman" panose="02020603050405020304" pitchFamily="18" charset="0"/>
              </a:rPr>
              <a:t>Ex: FA modeling of on/off switch</a:t>
            </a:r>
          </a:p>
          <a:p>
            <a:endParaRPr lang="en-IN" dirty="0"/>
          </a:p>
          <a:p>
            <a:endParaRPr lang="en-IN" dirty="0"/>
          </a:p>
          <a:p>
            <a:endParaRPr lang="en-IN" dirty="0"/>
          </a:p>
          <a:p>
            <a:endParaRPr lang="en-IN" dirty="0"/>
          </a:p>
          <a:p>
            <a:r>
              <a:rPr lang="en-US" sz="2300" dirty="0">
                <a:latin typeface="Times New Roman" panose="02020603050405020304" pitchFamily="18" charset="0"/>
                <a:cs typeface="Times New Roman" panose="02020603050405020304" pitchFamily="18" charset="0"/>
              </a:rPr>
              <a:t>Finite Automata : Examples</a:t>
            </a:r>
            <a:endParaRPr lang="en-IN" sz="2300" dirty="0">
              <a:latin typeface="Times New Roman" panose="02020603050405020304" pitchFamily="18" charset="0"/>
              <a:cs typeface="Times New Roman" panose="02020603050405020304" pitchFamily="18" charset="0"/>
            </a:endParaRPr>
          </a:p>
        </p:txBody>
      </p:sp>
      <p:grpSp>
        <p:nvGrpSpPr>
          <p:cNvPr id="4" name="Group 3"/>
          <p:cNvGrpSpPr>
            <a:grpSpLocks/>
          </p:cNvGrpSpPr>
          <p:nvPr/>
        </p:nvGrpSpPr>
        <p:grpSpPr bwMode="auto">
          <a:xfrm>
            <a:off x="1493174" y="1390831"/>
            <a:ext cx="5209962" cy="1417593"/>
            <a:chOff x="1689" y="1390"/>
            <a:chExt cx="2325" cy="646"/>
          </a:xfrm>
        </p:grpSpPr>
        <p:sp>
          <p:nvSpPr>
            <p:cNvPr id="5" name="Oval 4"/>
            <p:cNvSpPr>
              <a:spLocks noChangeArrowheads="1"/>
            </p:cNvSpPr>
            <p:nvPr/>
          </p:nvSpPr>
          <p:spPr bwMode="auto">
            <a:xfrm>
              <a:off x="2590" y="1522"/>
              <a:ext cx="454" cy="45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9pPr>
            </a:lstStyle>
            <a:p>
              <a:endParaRPr lang="en-IN">
                <a:latin typeface="Palatino Linotype" panose="02040502050505030304" pitchFamily="18" charset="0"/>
              </a:endParaRPr>
            </a:p>
          </p:txBody>
        </p:sp>
        <p:sp>
          <p:nvSpPr>
            <p:cNvPr id="6" name="Text Box 7"/>
            <p:cNvSpPr txBox="1">
              <a:spLocks noChangeArrowheads="1"/>
            </p:cNvSpPr>
            <p:nvPr/>
          </p:nvSpPr>
          <p:spPr bwMode="auto">
            <a:xfrm>
              <a:off x="2662" y="1648"/>
              <a:ext cx="317" cy="19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9pPr>
            </a:lstStyle>
            <a:p>
              <a:pPr algn="ctr">
                <a:spcBef>
                  <a:spcPct val="50000"/>
                </a:spcBef>
              </a:pPr>
              <a:r>
                <a:rPr lang="en-US" altLang="zh-TW" b="1" dirty="0">
                  <a:latin typeface="Palatino Linotype" panose="02040502050505030304" pitchFamily="18" charset="0"/>
                </a:rPr>
                <a:t>off</a:t>
              </a:r>
              <a:endParaRPr lang="en-US" altLang="zh-TW" b="1" baseline="-25000" dirty="0">
                <a:latin typeface="Palatino Linotype" panose="02040502050505030304" pitchFamily="18" charset="0"/>
              </a:endParaRPr>
            </a:p>
          </p:txBody>
        </p:sp>
        <p:sp>
          <p:nvSpPr>
            <p:cNvPr id="7" name="Line 8"/>
            <p:cNvSpPr>
              <a:spLocks noChangeShapeType="1"/>
            </p:cNvSpPr>
            <p:nvPr/>
          </p:nvSpPr>
          <p:spPr bwMode="auto">
            <a:xfrm>
              <a:off x="2141" y="1744"/>
              <a:ext cx="45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9pPr>
            </a:lstStyle>
            <a:p>
              <a:endParaRPr lang="en-IN">
                <a:latin typeface="Palatino Linotype" panose="02040502050505030304" pitchFamily="18" charset="0"/>
              </a:endParaRPr>
            </a:p>
          </p:txBody>
        </p:sp>
        <p:sp>
          <p:nvSpPr>
            <p:cNvPr id="8" name="Text Box 9"/>
            <p:cNvSpPr txBox="1">
              <a:spLocks noChangeArrowheads="1"/>
            </p:cNvSpPr>
            <p:nvPr/>
          </p:nvSpPr>
          <p:spPr bwMode="auto">
            <a:xfrm>
              <a:off x="1689" y="1599"/>
              <a:ext cx="635" cy="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9pPr>
            </a:lstStyle>
            <a:p>
              <a:pPr>
                <a:spcBef>
                  <a:spcPct val="50000"/>
                </a:spcBef>
              </a:pPr>
              <a:r>
                <a:rPr lang="en-US" altLang="zh-TW" sz="2000" b="1" dirty="0">
                  <a:solidFill>
                    <a:srgbClr val="FF0000"/>
                  </a:solidFill>
                  <a:effectLst>
                    <a:outerShdw blurRad="38100" dist="38100" dir="2700000" algn="tl">
                      <a:srgbClr val="FFFFFF"/>
                    </a:outerShdw>
                  </a:effectLst>
                  <a:latin typeface="Palatino Linotype" panose="02040502050505030304" pitchFamily="18" charset="0"/>
                </a:rPr>
                <a:t>Start</a:t>
              </a:r>
            </a:p>
          </p:txBody>
        </p:sp>
        <p:grpSp>
          <p:nvGrpSpPr>
            <p:cNvPr id="9" name="Group 8"/>
            <p:cNvGrpSpPr>
              <a:grpSpLocks/>
            </p:cNvGrpSpPr>
            <p:nvPr/>
          </p:nvGrpSpPr>
          <p:grpSpPr bwMode="auto">
            <a:xfrm>
              <a:off x="3560" y="1526"/>
              <a:ext cx="454" cy="454"/>
              <a:chOff x="2154" y="2840"/>
              <a:chExt cx="454" cy="454"/>
            </a:xfrm>
          </p:grpSpPr>
          <p:sp>
            <p:nvSpPr>
              <p:cNvPr id="15" name="Oval 14"/>
              <p:cNvSpPr>
                <a:spLocks noChangeArrowheads="1"/>
              </p:cNvSpPr>
              <p:nvPr/>
            </p:nvSpPr>
            <p:spPr bwMode="auto">
              <a:xfrm>
                <a:off x="2154" y="2840"/>
                <a:ext cx="454" cy="45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9pPr>
              </a:lstStyle>
              <a:p>
                <a:endParaRPr lang="en-IN">
                  <a:latin typeface="Palatino Linotype" panose="02040502050505030304" pitchFamily="18" charset="0"/>
                </a:endParaRPr>
              </a:p>
            </p:txBody>
          </p:sp>
          <p:sp>
            <p:nvSpPr>
              <p:cNvPr id="16" name="Text Box 12"/>
              <p:cNvSpPr txBox="1">
                <a:spLocks noChangeArrowheads="1"/>
              </p:cNvSpPr>
              <p:nvPr/>
            </p:nvSpPr>
            <p:spPr bwMode="auto">
              <a:xfrm>
                <a:off x="2197" y="2971"/>
                <a:ext cx="368" cy="19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9pPr>
              </a:lstStyle>
              <a:p>
                <a:pPr algn="ctr">
                  <a:spcBef>
                    <a:spcPct val="50000"/>
                  </a:spcBef>
                </a:pPr>
                <a:r>
                  <a:rPr lang="en-US" altLang="zh-TW" b="1" dirty="0">
                    <a:latin typeface="Palatino Linotype" panose="02040502050505030304" pitchFamily="18" charset="0"/>
                  </a:rPr>
                  <a:t>on</a:t>
                </a:r>
                <a:endParaRPr lang="en-US" altLang="zh-TW" b="1" baseline="-25000" dirty="0">
                  <a:latin typeface="Palatino Linotype" panose="02040502050505030304" pitchFamily="18" charset="0"/>
                </a:endParaRPr>
              </a:p>
            </p:txBody>
          </p:sp>
        </p:grpSp>
        <p:sp>
          <p:nvSpPr>
            <p:cNvPr id="10" name="Line 13"/>
            <p:cNvSpPr>
              <a:spLocks noChangeShapeType="1"/>
            </p:cNvSpPr>
            <p:nvPr/>
          </p:nvSpPr>
          <p:spPr bwMode="auto">
            <a:xfrm>
              <a:off x="3015" y="1662"/>
              <a:ext cx="54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9pPr>
            </a:lstStyle>
            <a:p>
              <a:endParaRPr lang="en-IN">
                <a:latin typeface="Palatino Linotype" panose="02040502050505030304" pitchFamily="18" charset="0"/>
              </a:endParaRPr>
            </a:p>
          </p:txBody>
        </p:sp>
        <p:sp>
          <p:nvSpPr>
            <p:cNvPr id="11" name="Text Box 14"/>
            <p:cNvSpPr txBox="1">
              <a:spLocks noChangeArrowheads="1"/>
            </p:cNvSpPr>
            <p:nvPr/>
          </p:nvSpPr>
          <p:spPr bwMode="auto">
            <a:xfrm>
              <a:off x="3061" y="1390"/>
              <a:ext cx="590"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9pPr>
            </a:lstStyle>
            <a:p>
              <a:pPr>
                <a:spcBef>
                  <a:spcPct val="50000"/>
                </a:spcBef>
              </a:pPr>
              <a:r>
                <a:rPr lang="en-US" altLang="zh-TW" b="1" dirty="0">
                  <a:latin typeface="Palatino Linotype" panose="02040502050505030304" pitchFamily="18" charset="0"/>
                </a:rPr>
                <a:t>Push</a:t>
              </a:r>
            </a:p>
          </p:txBody>
        </p:sp>
        <p:sp>
          <p:nvSpPr>
            <p:cNvPr id="12" name="Text Box 15"/>
            <p:cNvSpPr txBox="1">
              <a:spLocks noChangeArrowheads="1"/>
            </p:cNvSpPr>
            <p:nvPr/>
          </p:nvSpPr>
          <p:spPr bwMode="auto">
            <a:xfrm>
              <a:off x="3061" y="1844"/>
              <a:ext cx="49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9pPr>
            </a:lstStyle>
            <a:p>
              <a:pPr>
                <a:spcBef>
                  <a:spcPct val="50000"/>
                </a:spcBef>
              </a:pPr>
              <a:r>
                <a:rPr lang="en-US" altLang="zh-TW" b="1" dirty="0">
                  <a:latin typeface="Palatino Linotype" panose="02040502050505030304" pitchFamily="18" charset="0"/>
                </a:rPr>
                <a:t>Push</a:t>
              </a:r>
            </a:p>
          </p:txBody>
        </p:sp>
        <p:sp>
          <p:nvSpPr>
            <p:cNvPr id="13" name="Line 16"/>
            <p:cNvSpPr>
              <a:spLocks noChangeShapeType="1"/>
            </p:cNvSpPr>
            <p:nvPr/>
          </p:nvSpPr>
          <p:spPr bwMode="auto">
            <a:xfrm flipH="1">
              <a:off x="3015" y="1844"/>
              <a:ext cx="54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9pPr>
            </a:lstStyle>
            <a:p>
              <a:endParaRPr lang="en-IN">
                <a:latin typeface="Palatino Linotype" panose="02040502050505030304" pitchFamily="18" charset="0"/>
              </a:endParaRPr>
            </a:p>
          </p:txBody>
        </p:sp>
        <p:sp>
          <p:nvSpPr>
            <p:cNvPr id="14" name="Oval 13"/>
            <p:cNvSpPr>
              <a:spLocks noChangeArrowheads="1"/>
            </p:cNvSpPr>
            <p:nvPr/>
          </p:nvSpPr>
          <p:spPr bwMode="auto">
            <a:xfrm>
              <a:off x="3606" y="1570"/>
              <a:ext cx="362" cy="363"/>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TW"/>
              </a:defPPr>
              <a:lvl1pPr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panose="020B0604020202020204" pitchFamily="34" charset="0"/>
                  <a:ea typeface="新細明體" pitchFamily="18" charset="-120"/>
                  <a:cs typeface="+mn-cs"/>
                </a:defRPr>
              </a:lvl5pPr>
              <a:lvl6pPr marL="22860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6pPr>
              <a:lvl7pPr marL="27432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7pPr>
              <a:lvl8pPr marL="32004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8pPr>
              <a:lvl9pPr marL="3657600" algn="l" defTabSz="914400" rtl="0" eaLnBrk="1" latinLnBrk="0" hangingPunct="1">
                <a:defRPr kumimoji="1" kern="1200">
                  <a:solidFill>
                    <a:schemeClr val="tx1"/>
                  </a:solidFill>
                  <a:latin typeface="Arial" panose="020B0604020202020204" pitchFamily="34" charset="0"/>
                  <a:ea typeface="新細明體" pitchFamily="18" charset="-120"/>
                  <a:cs typeface="+mn-cs"/>
                </a:defRPr>
              </a:lvl9pPr>
            </a:lstStyle>
            <a:p>
              <a:endParaRPr lang="en-IN">
                <a:latin typeface="Palatino Linotype" panose="02040502050505030304" pitchFamily="18" charset="0"/>
              </a:endParaRPr>
            </a:p>
          </p:txBody>
        </p:sp>
      </p:grpSp>
      <p:grpSp>
        <p:nvGrpSpPr>
          <p:cNvPr id="20" name="Group 19"/>
          <p:cNvGrpSpPr/>
          <p:nvPr/>
        </p:nvGrpSpPr>
        <p:grpSpPr>
          <a:xfrm>
            <a:off x="1493174" y="3717032"/>
            <a:ext cx="6114994" cy="2232248"/>
            <a:chOff x="1493174" y="3717032"/>
            <a:chExt cx="6114994" cy="2232248"/>
          </a:xfrm>
        </p:grpSpPr>
        <p:pic>
          <p:nvPicPr>
            <p:cNvPr id="17" name="Picture 4" descr="onoff"/>
            <p:cNvPicPr>
              <a:picLocks noChangeAspect="1" noChangeArrowheads="1"/>
            </p:cNvPicPr>
            <p:nvPr/>
          </p:nvPicPr>
          <p:blipFill>
            <a:blip r:embed="rId2" cstate="print"/>
            <a:srcRect/>
            <a:stretch>
              <a:fillRect/>
            </a:stretch>
          </p:blipFill>
          <p:spPr bwMode="auto">
            <a:xfrm>
              <a:off x="1493174" y="3717032"/>
              <a:ext cx="5106883" cy="2232248"/>
            </a:xfrm>
            <a:prstGeom prst="rect">
              <a:avLst/>
            </a:prstGeom>
            <a:noFill/>
            <a:ln w="9525">
              <a:noFill/>
              <a:miter lim="800000"/>
              <a:headEnd/>
              <a:tailEnd/>
            </a:ln>
          </p:spPr>
        </p:pic>
        <p:sp>
          <p:nvSpPr>
            <p:cNvPr id="18" name="Line Callout 2 17"/>
            <p:cNvSpPr/>
            <p:nvPr/>
          </p:nvSpPr>
          <p:spPr bwMode="auto">
            <a:xfrm>
              <a:off x="5761857" y="3717032"/>
              <a:ext cx="838200" cy="381000"/>
            </a:xfrm>
            <a:prstGeom prst="borderCallout2">
              <a:avLst/>
            </a:prstGeom>
            <a:solidFill>
              <a:schemeClr val="accent1">
                <a:lumMod val="60000"/>
                <a:lumOff val="40000"/>
              </a:schemeClr>
            </a:solidFill>
            <a:ln w="9525" cap="flat" cmpd="sng" algn="ctr">
              <a:solidFill>
                <a:schemeClr val="tx1"/>
              </a:solidFill>
              <a:prstDash val="dash"/>
              <a:round/>
              <a:headEnd type="none" w="med" len="med"/>
              <a:tailEnd type="none" w="med" len="med"/>
            </a:ln>
            <a:effectLst/>
          </p:spPr>
          <p:txBody>
            <a:bodyPr/>
            <a:lstStyle/>
            <a:p>
              <a:pPr>
                <a:defRPr/>
              </a:pPr>
              <a:r>
                <a:rPr lang="en-US" dirty="0"/>
                <a:t>action</a:t>
              </a:r>
            </a:p>
          </p:txBody>
        </p:sp>
        <p:sp>
          <p:nvSpPr>
            <p:cNvPr id="19" name="Line Callout 2 18"/>
            <p:cNvSpPr/>
            <p:nvPr/>
          </p:nvSpPr>
          <p:spPr bwMode="auto">
            <a:xfrm>
              <a:off x="6769968" y="4230876"/>
              <a:ext cx="838200" cy="381000"/>
            </a:xfrm>
            <a:prstGeom prst="borderCallout2">
              <a:avLst/>
            </a:prstGeom>
            <a:solidFill>
              <a:schemeClr val="accent1">
                <a:lumMod val="60000"/>
                <a:lumOff val="40000"/>
              </a:schemeClr>
            </a:solidFill>
            <a:ln w="9525" cap="flat" cmpd="sng" algn="ctr">
              <a:solidFill>
                <a:schemeClr val="tx1"/>
              </a:solidFill>
              <a:prstDash val="dash"/>
              <a:round/>
              <a:headEnd type="none" w="med" len="med"/>
              <a:tailEnd type="none" w="med" len="med"/>
            </a:ln>
            <a:effectLst/>
          </p:spPr>
          <p:txBody>
            <a:bodyPr/>
            <a:lstStyle/>
            <a:p>
              <a:pPr>
                <a:defRPr/>
              </a:pPr>
              <a:r>
                <a:rPr lang="en-US" dirty="0"/>
                <a:t>state</a:t>
              </a:r>
            </a:p>
          </p:txBody>
        </p:sp>
      </p:grpSp>
    </p:spTree>
    <p:extLst>
      <p:ext uri="{BB962C8B-B14F-4D97-AF65-F5344CB8AC3E}">
        <p14:creationId xmlns:p14="http://schemas.microsoft.com/office/powerpoint/2010/main" val="2047194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476672"/>
            <a:ext cx="7772400" cy="5543128"/>
          </a:xfrm>
        </p:spPr>
        <p:txBody>
          <a:bodyPr/>
          <a:lstStyle/>
          <a:p>
            <a:r>
              <a:rPr lang="en-US" sz="2300" dirty="0">
                <a:latin typeface="Times New Roman" panose="02020603050405020304" pitchFamily="18" charset="0"/>
                <a:cs typeface="Times New Roman" panose="02020603050405020304" pitchFamily="18" charset="0"/>
              </a:rPr>
              <a:t>Modeling recognition of the word “</a:t>
            </a:r>
            <a:r>
              <a:rPr lang="en-US" sz="2300" i="1" dirty="0">
                <a:latin typeface="Times New Roman" panose="02020603050405020304" pitchFamily="18" charset="0"/>
                <a:cs typeface="Times New Roman" panose="02020603050405020304" pitchFamily="18" charset="0"/>
              </a:rPr>
              <a:t>then</a:t>
            </a:r>
            <a:r>
              <a:rPr lang="en-US" sz="2300" dirty="0">
                <a:latin typeface="Times New Roman" panose="02020603050405020304" pitchFamily="18" charset="0"/>
                <a:cs typeface="Times New Roman" panose="02020603050405020304" pitchFamily="18" charset="0"/>
              </a:rPr>
              <a:t>”</a:t>
            </a:r>
          </a:p>
          <a:p>
            <a:endParaRPr lang="en-IN" dirty="0"/>
          </a:p>
        </p:txBody>
      </p:sp>
      <p:grpSp>
        <p:nvGrpSpPr>
          <p:cNvPr id="14" name="Group 13"/>
          <p:cNvGrpSpPr/>
          <p:nvPr/>
        </p:nvGrpSpPr>
        <p:grpSpPr>
          <a:xfrm>
            <a:off x="762002" y="1484784"/>
            <a:ext cx="7554414" cy="1789115"/>
            <a:chOff x="762002" y="1484784"/>
            <a:chExt cx="7238999" cy="1789115"/>
          </a:xfrm>
        </p:grpSpPr>
        <p:pic>
          <p:nvPicPr>
            <p:cNvPr id="4" name="Picture 5" descr="stringrecog"/>
            <p:cNvPicPr>
              <a:picLocks noChangeAspect="1" noChangeArrowheads="1"/>
            </p:cNvPicPr>
            <p:nvPr/>
          </p:nvPicPr>
          <p:blipFill>
            <a:blip r:embed="rId2" cstate="print"/>
            <a:srcRect/>
            <a:stretch>
              <a:fillRect/>
            </a:stretch>
          </p:blipFill>
          <p:spPr bwMode="auto">
            <a:xfrm>
              <a:off x="1295401" y="1484784"/>
              <a:ext cx="6705600" cy="1039813"/>
            </a:xfrm>
            <a:prstGeom prst="rect">
              <a:avLst/>
            </a:prstGeom>
            <a:noFill/>
            <a:ln w="9525">
              <a:noFill/>
              <a:miter lim="800000"/>
              <a:headEnd/>
              <a:tailEnd/>
            </a:ln>
          </p:spPr>
        </p:pic>
        <p:grpSp>
          <p:nvGrpSpPr>
            <p:cNvPr id="5" name="Group 14"/>
            <p:cNvGrpSpPr>
              <a:grpSpLocks/>
            </p:cNvGrpSpPr>
            <p:nvPr/>
          </p:nvGrpSpPr>
          <p:grpSpPr bwMode="auto">
            <a:xfrm>
              <a:off x="762002" y="2170586"/>
              <a:ext cx="7161213" cy="1103313"/>
              <a:chOff x="672" y="3216"/>
              <a:chExt cx="4511" cy="695"/>
            </a:xfrm>
          </p:grpSpPr>
          <p:sp>
            <p:nvSpPr>
              <p:cNvPr id="6" name="Text Box 6"/>
              <p:cNvSpPr txBox="1">
                <a:spLocks noChangeArrowheads="1"/>
              </p:cNvSpPr>
              <p:nvPr/>
            </p:nvSpPr>
            <p:spPr bwMode="auto">
              <a:xfrm>
                <a:off x="672" y="3456"/>
                <a:ext cx="721" cy="233"/>
              </a:xfrm>
              <a:prstGeom prst="rect">
                <a:avLst/>
              </a:prstGeom>
              <a:solidFill>
                <a:srgbClr val="CCFFFF"/>
              </a:solidFill>
              <a:ln w="9525">
                <a:noFill/>
                <a:miter lim="800000"/>
                <a:headEnd/>
                <a:tailEnd/>
              </a:ln>
            </p:spPr>
            <p:txBody>
              <a:bodyPr wrap="none">
                <a:spAutoFit/>
              </a:bodyPr>
              <a:lstStyle/>
              <a:p>
                <a:r>
                  <a:rPr lang="en-US"/>
                  <a:t>Start state</a:t>
                </a:r>
              </a:p>
            </p:txBody>
          </p:sp>
          <p:sp>
            <p:nvSpPr>
              <p:cNvPr id="7" name="Text Box 7"/>
              <p:cNvSpPr txBox="1">
                <a:spLocks noChangeArrowheads="1"/>
              </p:cNvSpPr>
              <p:nvPr/>
            </p:nvSpPr>
            <p:spPr bwMode="auto">
              <a:xfrm>
                <a:off x="4464" y="3504"/>
                <a:ext cx="719" cy="233"/>
              </a:xfrm>
              <a:prstGeom prst="rect">
                <a:avLst/>
              </a:prstGeom>
              <a:solidFill>
                <a:srgbClr val="CCFFFF"/>
              </a:solidFill>
              <a:ln w="9525">
                <a:noFill/>
                <a:miter lim="800000"/>
                <a:headEnd/>
                <a:tailEnd/>
              </a:ln>
            </p:spPr>
            <p:txBody>
              <a:bodyPr wrap="none">
                <a:spAutoFit/>
              </a:bodyPr>
              <a:lstStyle/>
              <a:p>
                <a:r>
                  <a:rPr lang="en-US"/>
                  <a:t>Final state</a:t>
                </a:r>
              </a:p>
            </p:txBody>
          </p:sp>
          <p:sp>
            <p:nvSpPr>
              <p:cNvPr id="8" name="Text Box 8"/>
              <p:cNvSpPr txBox="1">
                <a:spLocks noChangeArrowheads="1"/>
              </p:cNvSpPr>
              <p:nvPr/>
            </p:nvSpPr>
            <p:spPr bwMode="auto">
              <a:xfrm>
                <a:off x="1968" y="3504"/>
                <a:ext cx="697" cy="233"/>
              </a:xfrm>
              <a:prstGeom prst="rect">
                <a:avLst/>
              </a:prstGeom>
              <a:solidFill>
                <a:srgbClr val="CCFFFF"/>
              </a:solidFill>
              <a:ln w="9525">
                <a:noFill/>
                <a:miter lim="800000"/>
                <a:headEnd/>
                <a:tailEnd/>
              </a:ln>
            </p:spPr>
            <p:txBody>
              <a:bodyPr wrap="none">
                <a:spAutoFit/>
              </a:bodyPr>
              <a:lstStyle/>
              <a:p>
                <a:r>
                  <a:rPr lang="en-US"/>
                  <a:t>Transition</a:t>
                </a:r>
              </a:p>
            </p:txBody>
          </p:sp>
          <p:sp>
            <p:nvSpPr>
              <p:cNvPr id="9" name="Text Box 9"/>
              <p:cNvSpPr txBox="1">
                <a:spLocks noChangeArrowheads="1"/>
              </p:cNvSpPr>
              <p:nvPr/>
            </p:nvSpPr>
            <p:spPr bwMode="auto">
              <a:xfrm>
                <a:off x="3120" y="3504"/>
                <a:ext cx="918" cy="407"/>
              </a:xfrm>
              <a:prstGeom prst="rect">
                <a:avLst/>
              </a:prstGeom>
              <a:solidFill>
                <a:srgbClr val="CCFFFF"/>
              </a:solidFill>
              <a:ln w="9525">
                <a:noFill/>
                <a:miter lim="800000"/>
                <a:headEnd/>
                <a:tailEnd/>
              </a:ln>
            </p:spPr>
            <p:txBody>
              <a:bodyPr wrap="none">
                <a:spAutoFit/>
              </a:bodyPr>
              <a:lstStyle/>
              <a:p>
                <a:r>
                  <a:rPr lang="en-US"/>
                  <a:t>Intermediate </a:t>
                </a:r>
                <a:br>
                  <a:rPr lang="en-US"/>
                </a:br>
                <a:r>
                  <a:rPr lang="en-US"/>
                  <a:t>state</a:t>
                </a:r>
              </a:p>
            </p:txBody>
          </p:sp>
          <p:sp>
            <p:nvSpPr>
              <p:cNvPr id="10" name="Line 10"/>
              <p:cNvSpPr>
                <a:spLocks noChangeShapeType="1"/>
              </p:cNvSpPr>
              <p:nvPr/>
            </p:nvSpPr>
            <p:spPr bwMode="auto">
              <a:xfrm flipV="1">
                <a:off x="2640" y="3216"/>
                <a:ext cx="192" cy="288"/>
              </a:xfrm>
              <a:prstGeom prst="line">
                <a:avLst/>
              </a:prstGeom>
              <a:noFill/>
              <a:ln w="9525">
                <a:solidFill>
                  <a:schemeClr val="tx1"/>
                </a:solidFill>
                <a:prstDash val="dash"/>
                <a:round/>
                <a:headEnd/>
                <a:tailEnd type="triangle" w="med" len="med"/>
              </a:ln>
            </p:spPr>
            <p:txBody>
              <a:bodyPr wrap="none" anchor="ctr"/>
              <a:lstStyle/>
              <a:p>
                <a:endParaRPr lang="en-US"/>
              </a:p>
            </p:txBody>
          </p:sp>
          <p:sp>
            <p:nvSpPr>
              <p:cNvPr id="11" name="Line 11"/>
              <p:cNvSpPr>
                <a:spLocks noChangeShapeType="1"/>
              </p:cNvSpPr>
              <p:nvPr/>
            </p:nvSpPr>
            <p:spPr bwMode="auto">
              <a:xfrm flipH="1" flipV="1">
                <a:off x="3312" y="3312"/>
                <a:ext cx="144" cy="240"/>
              </a:xfrm>
              <a:prstGeom prst="line">
                <a:avLst/>
              </a:prstGeom>
              <a:noFill/>
              <a:ln w="9525">
                <a:solidFill>
                  <a:schemeClr val="tx1"/>
                </a:solidFill>
                <a:prstDash val="dash"/>
                <a:round/>
                <a:headEnd/>
                <a:tailEnd type="triangle" w="med" len="med"/>
              </a:ln>
            </p:spPr>
            <p:txBody>
              <a:bodyPr wrap="none" anchor="ctr"/>
              <a:lstStyle/>
              <a:p>
                <a:endParaRPr lang="en-US"/>
              </a:p>
            </p:txBody>
          </p:sp>
          <p:sp>
            <p:nvSpPr>
              <p:cNvPr id="12" name="Line 12"/>
              <p:cNvSpPr>
                <a:spLocks noChangeShapeType="1"/>
              </p:cNvSpPr>
              <p:nvPr/>
            </p:nvSpPr>
            <p:spPr bwMode="auto">
              <a:xfrm flipV="1">
                <a:off x="1584" y="3312"/>
                <a:ext cx="96" cy="144"/>
              </a:xfrm>
              <a:prstGeom prst="line">
                <a:avLst/>
              </a:prstGeom>
              <a:noFill/>
              <a:ln w="9525">
                <a:solidFill>
                  <a:schemeClr val="tx1"/>
                </a:solidFill>
                <a:prstDash val="dash"/>
                <a:round/>
                <a:headEnd/>
                <a:tailEnd type="triangle" w="med" len="med"/>
              </a:ln>
            </p:spPr>
            <p:txBody>
              <a:bodyPr wrap="none" anchor="ctr"/>
              <a:lstStyle/>
              <a:p>
                <a:endParaRPr lang="en-US"/>
              </a:p>
            </p:txBody>
          </p:sp>
          <p:sp>
            <p:nvSpPr>
              <p:cNvPr id="13" name="Line 13"/>
              <p:cNvSpPr>
                <a:spLocks noChangeShapeType="1"/>
              </p:cNvSpPr>
              <p:nvPr/>
            </p:nvSpPr>
            <p:spPr bwMode="auto">
              <a:xfrm flipH="1" flipV="1">
                <a:off x="4944" y="3312"/>
                <a:ext cx="48" cy="240"/>
              </a:xfrm>
              <a:prstGeom prst="line">
                <a:avLst/>
              </a:prstGeom>
              <a:noFill/>
              <a:ln w="9525">
                <a:solidFill>
                  <a:schemeClr val="tx1"/>
                </a:solidFill>
                <a:prstDash val="dash"/>
                <a:round/>
                <a:headEnd/>
                <a:tailEnd type="triangle" w="med" len="med"/>
              </a:ln>
            </p:spPr>
            <p:txBody>
              <a:bodyPr wrap="none" anchor="ctr"/>
              <a:lstStyle/>
              <a:p>
                <a:endParaRPr lang="en-US"/>
              </a:p>
            </p:txBody>
          </p:sp>
        </p:grpSp>
      </p:grpSp>
    </p:spTree>
    <p:extLst>
      <p:ext uri="{BB962C8B-B14F-4D97-AF65-F5344CB8AC3E}">
        <p14:creationId xmlns:p14="http://schemas.microsoft.com/office/powerpoint/2010/main" val="922957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formal proof:</a:t>
            </a:r>
          </a:p>
        </p:txBody>
      </p:sp>
      <p:sp>
        <p:nvSpPr>
          <p:cNvPr id="3" name="Content Placeholder 2"/>
          <p:cNvSpPr>
            <a:spLocks noGrp="1"/>
          </p:cNvSpPr>
          <p:nvPr>
            <p:ph sz="quarter" idx="1"/>
          </p:nvPr>
        </p:nvSpPr>
        <p:spPr/>
        <p:txBody>
          <a:bodyPr/>
          <a:lstStyle/>
          <a:p>
            <a:r>
              <a:rPr lang="en-US" dirty="0">
                <a:latin typeface="Times New Roman" panose="02020603050405020304" pitchFamily="18" charset="0"/>
                <a:cs typeface="Times New Roman" panose="02020603050405020304" pitchFamily="18" charset="0"/>
              </a:rPr>
              <a:t>Basic Symbols used :</a:t>
            </a:r>
          </a:p>
          <a:p>
            <a:r>
              <a:rPr lang="en-US" dirty="0">
                <a:latin typeface="Times New Roman" panose="02020603050405020304" pitchFamily="18" charset="0"/>
                <a:cs typeface="Times New Roman" panose="02020603050405020304" pitchFamily="18" charset="0"/>
              </a:rPr>
              <a:t>U – Union</a:t>
            </a:r>
          </a:p>
          <a:p>
            <a:r>
              <a:rPr lang="en-US" dirty="0">
                <a:latin typeface="Times New Roman" panose="02020603050405020304" pitchFamily="18" charset="0"/>
                <a:cs typeface="Times New Roman" panose="02020603050405020304" pitchFamily="18" charset="0"/>
              </a:rPr>
              <a:t>∩- Conjunction</a:t>
            </a:r>
          </a:p>
          <a:p>
            <a:r>
              <a:rPr lang="en-US" dirty="0">
                <a:latin typeface="Times New Roman" panose="02020603050405020304" pitchFamily="18" charset="0"/>
                <a:cs typeface="Times New Roman" panose="02020603050405020304" pitchFamily="18" charset="0"/>
              </a:rPr>
              <a:t>ϵ - Empty String</a:t>
            </a:r>
          </a:p>
          <a:p>
            <a:r>
              <a:rPr lang="en-US" dirty="0">
                <a:latin typeface="Times New Roman" panose="02020603050405020304" pitchFamily="18" charset="0"/>
                <a:cs typeface="Times New Roman" panose="02020603050405020304" pitchFamily="18" charset="0"/>
              </a:rPr>
              <a:t>Φ – NULL set</a:t>
            </a:r>
          </a:p>
          <a:p>
            <a:r>
              <a:rPr lang="en-IN" dirty="0">
                <a:latin typeface="Times New Roman" panose="02020603050405020304" pitchFamily="18" charset="0"/>
                <a:cs typeface="Times New Roman" panose="02020603050405020304" pitchFamily="18" charset="0"/>
              </a:rPr>
              <a:t>“~” or “¬”</a:t>
            </a:r>
            <a:r>
              <a:rPr lang="en-US" dirty="0">
                <a:latin typeface="Times New Roman" panose="02020603050405020304" pitchFamily="18" charset="0"/>
                <a:cs typeface="Times New Roman" panose="02020603050405020304" pitchFamily="18" charset="0"/>
              </a:rPr>
              <a:t>- negation</a:t>
            </a:r>
          </a:p>
          <a:p>
            <a:r>
              <a:rPr lang="en-US" dirty="0">
                <a:latin typeface="Times New Roman" panose="02020603050405020304" pitchFamily="18" charset="0"/>
                <a:cs typeface="Times New Roman" panose="02020603050405020304" pitchFamily="18" charset="0"/>
              </a:rPr>
              <a:t>‘ – compliment</a:t>
            </a:r>
          </a:p>
          <a:p>
            <a:r>
              <a:rPr lang="en-US" dirty="0">
                <a:latin typeface="Times New Roman" panose="02020603050405020304" pitchFamily="18" charset="0"/>
                <a:cs typeface="Times New Roman" panose="02020603050405020304" pitchFamily="18" charset="0"/>
              </a:rPr>
              <a:t>= &gt; implies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7918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899592" y="476672"/>
            <a:ext cx="7772400" cy="5831160"/>
          </a:xfrm>
        </p:spPr>
        <p:txBody>
          <a:bodyPr>
            <a:normAutofit/>
          </a:bodyPr>
          <a:lstStyle/>
          <a:p>
            <a:r>
              <a:rPr lang="en-IN" sz="2300" dirty="0">
                <a:solidFill>
                  <a:srgbClr val="FF0000"/>
                </a:solidFill>
                <a:latin typeface="Times New Roman" panose="02020603050405020304" pitchFamily="18" charset="0"/>
                <a:cs typeface="Times New Roman" panose="02020603050405020304" pitchFamily="18" charset="0"/>
              </a:rPr>
              <a:t>Additive inverse</a:t>
            </a:r>
            <a:r>
              <a:rPr lang="en-IN" sz="2300" dirty="0">
                <a:latin typeface="Times New Roman" panose="02020603050405020304" pitchFamily="18" charset="0"/>
                <a:cs typeface="Times New Roman" panose="02020603050405020304" pitchFamily="18" charset="0"/>
              </a:rPr>
              <a:t>: a+(-a)=0</a:t>
            </a:r>
          </a:p>
          <a:p>
            <a:r>
              <a:rPr lang="en-IN" sz="2300" dirty="0">
                <a:solidFill>
                  <a:srgbClr val="FF0000"/>
                </a:solidFill>
                <a:latin typeface="Times New Roman" panose="02020603050405020304" pitchFamily="18" charset="0"/>
                <a:cs typeface="Times New Roman" panose="02020603050405020304" pitchFamily="18" charset="0"/>
              </a:rPr>
              <a:t>Multiplicative inverse</a:t>
            </a:r>
            <a:r>
              <a:rPr lang="en-IN" sz="2300" dirty="0">
                <a:latin typeface="Times New Roman" panose="02020603050405020304" pitchFamily="18" charset="0"/>
                <a:cs typeface="Times New Roman" panose="02020603050405020304" pitchFamily="18" charset="0"/>
              </a:rPr>
              <a:t>: a*1/a=1</a:t>
            </a:r>
          </a:p>
          <a:p>
            <a:r>
              <a:rPr lang="en-IN" sz="2300" dirty="0">
                <a:solidFill>
                  <a:srgbClr val="FF0000"/>
                </a:solidFill>
                <a:latin typeface="Times New Roman" panose="02020603050405020304" pitchFamily="18" charset="0"/>
                <a:cs typeface="Times New Roman" panose="02020603050405020304" pitchFamily="18" charset="0"/>
              </a:rPr>
              <a:t>Universal set </a:t>
            </a:r>
            <a:r>
              <a:rPr lang="en-IN" sz="2300" dirty="0">
                <a:latin typeface="Times New Roman" panose="02020603050405020304" pitchFamily="18" charset="0"/>
                <a:cs typeface="Times New Roman" panose="02020603050405020304" pitchFamily="18" charset="0"/>
              </a:rPr>
              <a:t>U={1,2,3,4,5}</a:t>
            </a:r>
          </a:p>
          <a:p>
            <a:r>
              <a:rPr lang="en-IN" sz="2300" dirty="0">
                <a:solidFill>
                  <a:srgbClr val="FF0000"/>
                </a:solidFill>
                <a:latin typeface="Times New Roman" panose="02020603050405020304" pitchFamily="18" charset="0"/>
                <a:cs typeface="Times New Roman" panose="02020603050405020304" pitchFamily="18" charset="0"/>
              </a:rPr>
              <a:t>Subset</a:t>
            </a:r>
            <a:r>
              <a:rPr lang="en-IN" sz="2300" dirty="0">
                <a:latin typeface="Times New Roman" panose="02020603050405020304" pitchFamily="18" charset="0"/>
                <a:cs typeface="Times New Roman" panose="02020603050405020304" pitchFamily="18" charset="0"/>
              </a:rPr>
              <a:t> A={1,3}</a:t>
            </a:r>
          </a:p>
          <a:p>
            <a:r>
              <a:rPr lang="en-IN" sz="2300" dirty="0">
                <a:solidFill>
                  <a:srgbClr val="FF0000"/>
                </a:solidFill>
                <a:latin typeface="Times New Roman" panose="02020603050405020304" pitchFamily="18" charset="0"/>
                <a:cs typeface="Times New Roman" panose="02020603050405020304" pitchFamily="18" charset="0"/>
              </a:rPr>
              <a:t>A’</a:t>
            </a:r>
            <a:r>
              <a:rPr lang="en-IN" sz="2300" dirty="0">
                <a:latin typeface="Times New Roman" panose="02020603050405020304" pitchFamily="18" charset="0"/>
                <a:cs typeface="Times New Roman" panose="02020603050405020304" pitchFamily="18" charset="0"/>
              </a:rPr>
              <a:t> ={2,4,5}</a:t>
            </a:r>
          </a:p>
          <a:p>
            <a:r>
              <a:rPr lang="en-IN" sz="2300" dirty="0">
                <a:solidFill>
                  <a:srgbClr val="FF0000"/>
                </a:solidFill>
                <a:latin typeface="Times New Roman" panose="02020603050405020304" pitchFamily="18" charset="0"/>
                <a:cs typeface="Times New Roman" panose="02020603050405020304" pitchFamily="18" charset="0"/>
              </a:rPr>
              <a:t>Absorption law</a:t>
            </a:r>
            <a:r>
              <a:rPr lang="en-IN" sz="2300" dirty="0">
                <a:latin typeface="Times New Roman" panose="02020603050405020304" pitchFamily="18" charset="0"/>
                <a:cs typeface="Times New Roman" panose="02020603050405020304" pitchFamily="18" charset="0"/>
              </a:rPr>
              <a:t>: AU(A ∩B) = A,  A∩(AUB) = A</a:t>
            </a:r>
          </a:p>
          <a:p>
            <a:r>
              <a:rPr lang="en-IN" sz="2300" dirty="0">
                <a:solidFill>
                  <a:srgbClr val="FF0000"/>
                </a:solidFill>
                <a:latin typeface="Times New Roman" panose="02020603050405020304" pitchFamily="18" charset="0"/>
                <a:cs typeface="Times New Roman" panose="02020603050405020304" pitchFamily="18" charset="0"/>
              </a:rPr>
              <a:t>De Morgan’s Law</a:t>
            </a:r>
            <a:r>
              <a:rPr lang="en-IN" sz="2300" dirty="0">
                <a:latin typeface="Times New Roman" panose="02020603050405020304" pitchFamily="18" charset="0"/>
                <a:cs typeface="Times New Roman" panose="02020603050405020304" pitchFamily="18" charset="0"/>
              </a:rPr>
              <a:t>:</a:t>
            </a:r>
          </a:p>
          <a:p>
            <a:r>
              <a:rPr lang="en-IN" sz="2300" dirty="0">
                <a:latin typeface="Times New Roman" panose="02020603050405020304" pitchFamily="18" charset="0"/>
                <a:cs typeface="Times New Roman" panose="02020603050405020304" pitchFamily="18" charset="0"/>
              </a:rPr>
              <a:t>(AUB)’ =A’ ∩ B’ (A∩B)’ = A’ U B’ </a:t>
            </a:r>
          </a:p>
          <a:p>
            <a:r>
              <a:rPr lang="en-IN" sz="2300" dirty="0">
                <a:solidFill>
                  <a:srgbClr val="FF0000"/>
                </a:solidFill>
                <a:latin typeface="Times New Roman" panose="02020603050405020304" pitchFamily="18" charset="0"/>
                <a:cs typeface="Times New Roman" panose="02020603050405020304" pitchFamily="18" charset="0"/>
              </a:rPr>
              <a:t>Double compliment</a:t>
            </a:r>
          </a:p>
          <a:p>
            <a:r>
              <a:rPr lang="en-IN" sz="2300" dirty="0">
                <a:latin typeface="Times New Roman" panose="02020603050405020304" pitchFamily="18" charset="0"/>
                <a:cs typeface="Times New Roman" panose="02020603050405020304" pitchFamily="18" charset="0"/>
              </a:rPr>
              <a:t>(A’)’ =A</a:t>
            </a:r>
          </a:p>
          <a:p>
            <a:r>
              <a:rPr lang="en-IN" sz="2300" dirty="0">
                <a:latin typeface="Times New Roman" panose="02020603050405020304" pitchFamily="18" charset="0"/>
                <a:cs typeface="Times New Roman" panose="02020603050405020304" pitchFamily="18" charset="0"/>
              </a:rPr>
              <a:t>A ∩ A’ = </a:t>
            </a:r>
            <a:r>
              <a:rPr lang="el-GR" sz="2300" dirty="0">
                <a:latin typeface="Times New Roman" panose="02020603050405020304" pitchFamily="18" charset="0"/>
                <a:cs typeface="Times New Roman" panose="02020603050405020304" pitchFamily="18" charset="0"/>
              </a:rPr>
              <a:t>Φ</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986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a:bodyPr>
          <a:lstStyle/>
          <a:p>
            <a:r>
              <a:rPr lang="en-US" sz="2400" dirty="0">
                <a:latin typeface="Times New Roman" panose="02020603050405020304" pitchFamily="18" charset="0"/>
                <a:cs typeface="Times New Roman" panose="02020603050405020304" pitchFamily="18" charset="0"/>
              </a:rPr>
              <a:t>Relations:</a:t>
            </a:r>
          </a:p>
          <a:p>
            <a:r>
              <a:rPr lang="en-US" sz="2400" dirty="0">
                <a:latin typeface="Times New Roman" panose="02020603050405020304" pitchFamily="18" charset="0"/>
                <a:cs typeface="Times New Roman" panose="02020603050405020304" pitchFamily="18" charset="0"/>
              </a:rPr>
              <a:t>Let a and b be two sets a relation R contains </a:t>
            </a:r>
            <a:r>
              <a:rPr lang="en-US" sz="2400" dirty="0" err="1">
                <a:latin typeface="Times New Roman" panose="02020603050405020304" pitchFamily="18" charset="0"/>
                <a:cs typeface="Times New Roman" panose="02020603050405020304" pitchFamily="18" charset="0"/>
              </a:rPr>
              <a:t>aXb</a:t>
            </a:r>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Relations used in TOC:</a:t>
            </a:r>
          </a:p>
          <a:p>
            <a:r>
              <a:rPr lang="en-US" sz="2400" dirty="0">
                <a:solidFill>
                  <a:srgbClr val="FF0000"/>
                </a:solidFill>
                <a:latin typeface="Times New Roman" panose="02020603050405020304" pitchFamily="18" charset="0"/>
                <a:cs typeface="Times New Roman" panose="02020603050405020304" pitchFamily="18" charset="0"/>
              </a:rPr>
              <a:t>Reflexive</a:t>
            </a:r>
            <a:r>
              <a:rPr lang="en-US" sz="2400" dirty="0">
                <a:latin typeface="Times New Roman" panose="02020603050405020304" pitchFamily="18" charset="0"/>
                <a:cs typeface="Times New Roman" panose="02020603050405020304" pitchFamily="18" charset="0"/>
              </a:rPr>
              <a:t>: a = a</a:t>
            </a:r>
          </a:p>
          <a:p>
            <a:r>
              <a:rPr lang="en-US" sz="2400" dirty="0">
                <a:solidFill>
                  <a:srgbClr val="FF0000"/>
                </a:solidFill>
                <a:latin typeface="Times New Roman" panose="02020603050405020304" pitchFamily="18" charset="0"/>
                <a:cs typeface="Times New Roman" panose="02020603050405020304" pitchFamily="18" charset="0"/>
              </a:rPr>
              <a:t>Symmetric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aRb</a:t>
            </a:r>
            <a:r>
              <a:rPr lang="en-US" sz="2400" dirty="0">
                <a:latin typeface="Times New Roman" panose="02020603050405020304" pitchFamily="18" charset="0"/>
                <a:cs typeface="Times New Roman" panose="02020603050405020304" pitchFamily="18" charset="0"/>
              </a:rPr>
              <a:t> = &gt; </a:t>
            </a:r>
            <a:r>
              <a:rPr lang="en-US" sz="2400" dirty="0" err="1">
                <a:latin typeface="Times New Roman" panose="02020603050405020304" pitchFamily="18" charset="0"/>
                <a:cs typeface="Times New Roman" panose="02020603050405020304" pitchFamily="18" charset="0"/>
              </a:rPr>
              <a:t>bRa</a:t>
            </a:r>
            <a:endParaRPr lang="en-US" sz="2400"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Transition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aRb</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bRc</a:t>
            </a:r>
            <a:r>
              <a:rPr lang="en-US" sz="2400" dirty="0">
                <a:latin typeface="Times New Roman" panose="02020603050405020304" pitchFamily="18" charset="0"/>
                <a:cs typeface="Times New Roman" panose="02020603050405020304" pitchFamily="18" charset="0"/>
              </a:rPr>
              <a:t> = &gt; </a:t>
            </a:r>
            <a:r>
              <a:rPr lang="en-US" sz="2400" dirty="0" err="1">
                <a:latin typeface="Times New Roman" panose="02020603050405020304" pitchFamily="18" charset="0"/>
                <a:cs typeface="Times New Roman" panose="02020603050405020304" pitchFamily="18" charset="0"/>
              </a:rPr>
              <a:t>aRc</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If a given relation is reflexive, symmetric and transitive then the relation is called equivalence relation.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5677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3" name="Content Placeholder 2"/>
          <p:cNvSpPr>
            <a:spLocks noGrp="1"/>
          </p:cNvSpPr>
          <p:nvPr>
            <p:ph sz="quarter" idx="1"/>
          </p:nvPr>
        </p:nvSpPr>
        <p:spPr/>
        <p:txBody>
          <a:bodyPr>
            <a:normAutofit fontScale="92500" lnSpcReduction="10000"/>
          </a:bodyPr>
          <a:lstStyle/>
          <a:p>
            <a:pPr algn="just"/>
            <a:r>
              <a:rPr lang="en-US" sz="2300" b="1" dirty="0">
                <a:latin typeface="Times New Roman" panose="02020603050405020304" pitchFamily="18" charset="0"/>
                <a:cs typeface="Times New Roman" panose="02020603050405020304" pitchFamily="18" charset="0"/>
              </a:rPr>
              <a:t>Reflexive Relation</a:t>
            </a:r>
            <a:r>
              <a:rPr lang="en-US" sz="2300" dirty="0">
                <a:latin typeface="Times New Roman" panose="02020603050405020304" pitchFamily="18" charset="0"/>
                <a:cs typeface="Times New Roman" panose="02020603050405020304" pitchFamily="18" charset="0"/>
              </a:rPr>
              <a:t>: A relation R on set A is said to be a reflexive if (a, a) ∈ R for every a ∈ A.</a:t>
            </a:r>
          </a:p>
          <a:p>
            <a:pPr algn="just"/>
            <a:r>
              <a:rPr lang="en-US" sz="2300" dirty="0">
                <a:latin typeface="Times New Roman" panose="02020603050405020304" pitchFamily="18" charset="0"/>
                <a:cs typeface="Times New Roman" panose="02020603050405020304" pitchFamily="18" charset="0"/>
              </a:rPr>
              <a:t>Example: If A = {1, 2, 3, 4} then R = {(1, 1) (2, 2), (1, 3), (2, 4), (3, 3), (3, 4), (4, 4)}. Is a relation reflexive?</a:t>
            </a:r>
          </a:p>
          <a:p>
            <a:pPr algn="just"/>
            <a:r>
              <a:rPr lang="en-US" sz="2300" dirty="0">
                <a:latin typeface="Times New Roman" panose="02020603050405020304" pitchFamily="18" charset="0"/>
                <a:cs typeface="Times New Roman" panose="02020603050405020304" pitchFamily="18" charset="0"/>
              </a:rPr>
              <a:t>Solution: The relation is reflexive as for every a ∈ A. (a, a) ∈ R, i.e. (1, 1), (2, 2), (3, 3), (4, 4) ∈ R.</a:t>
            </a:r>
          </a:p>
          <a:p>
            <a:pPr algn="just"/>
            <a:r>
              <a:rPr lang="en-US" sz="2300" b="1" dirty="0">
                <a:latin typeface="Times New Roman" panose="02020603050405020304" pitchFamily="18" charset="0"/>
                <a:cs typeface="Times New Roman" panose="02020603050405020304" pitchFamily="18" charset="0"/>
              </a:rPr>
              <a:t>Symmetric Relation</a:t>
            </a:r>
            <a:r>
              <a:rPr lang="en-US" sz="2300" dirty="0">
                <a:latin typeface="Times New Roman" panose="02020603050405020304" pitchFamily="18" charset="0"/>
                <a:cs typeface="Times New Roman" panose="02020603050405020304" pitchFamily="18" charset="0"/>
              </a:rPr>
              <a:t>: A relation R on set A is said to be symmetric </a:t>
            </a:r>
            <a:r>
              <a:rPr lang="en-US" sz="2300" dirty="0" err="1">
                <a:latin typeface="Times New Roman" panose="02020603050405020304" pitchFamily="18" charset="0"/>
                <a:cs typeface="Times New Roman" panose="02020603050405020304" pitchFamily="18" charset="0"/>
              </a:rPr>
              <a:t>iff</a:t>
            </a:r>
            <a:r>
              <a:rPr lang="en-US" sz="2300" dirty="0">
                <a:latin typeface="Times New Roman" panose="02020603050405020304" pitchFamily="18" charset="0"/>
                <a:cs typeface="Times New Roman" panose="02020603050405020304" pitchFamily="18" charset="0"/>
              </a:rPr>
              <a:t> (a, b) ∈ R ⟺ (b, a) ∈ R.</a:t>
            </a:r>
          </a:p>
          <a:p>
            <a:pPr algn="just"/>
            <a:r>
              <a:rPr lang="en-US" sz="2300" dirty="0">
                <a:latin typeface="Times New Roman" panose="02020603050405020304" pitchFamily="18" charset="0"/>
                <a:cs typeface="Times New Roman" panose="02020603050405020304" pitchFamily="18" charset="0"/>
              </a:rPr>
              <a:t>Example: Let A = {1, 2, 3} and R = {(1, 1), (2, 2), (1, 2), (2, 1), (2, 3), (3, 2)}. Is a relation R symmetric or not?</a:t>
            </a:r>
          </a:p>
          <a:p>
            <a:pPr algn="just"/>
            <a:r>
              <a:rPr lang="en-US" sz="2300" dirty="0">
                <a:latin typeface="Times New Roman" panose="02020603050405020304" pitchFamily="18" charset="0"/>
                <a:cs typeface="Times New Roman" panose="02020603050405020304" pitchFamily="18" charset="0"/>
              </a:rPr>
              <a:t>Solution: The relation is symmetric as for every (a, b) ∈ R, we have (b, a) ∈ R, i.e., (1, 2), (2, 1), (2, 3), (3, 2) ∈ R but not reflexive because (3, 3) ∉ R.</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8691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476672"/>
            <a:ext cx="7772400" cy="5543128"/>
          </a:xfrm>
        </p:spPr>
        <p:txBody>
          <a:bodyPr>
            <a:normAutofit lnSpcReduction="10000"/>
          </a:bodyPr>
          <a:lstStyle/>
          <a:p>
            <a:pPr algn="just"/>
            <a:r>
              <a:rPr lang="en-US" sz="2300" b="1" dirty="0">
                <a:latin typeface="Times New Roman" panose="02020603050405020304" pitchFamily="18" charset="0"/>
                <a:cs typeface="Times New Roman" panose="02020603050405020304" pitchFamily="18" charset="0"/>
              </a:rPr>
              <a:t>Transitive Relations</a:t>
            </a:r>
            <a:r>
              <a:rPr lang="en-US" sz="2300" dirty="0">
                <a:latin typeface="Times New Roman" panose="02020603050405020304" pitchFamily="18" charset="0"/>
                <a:cs typeface="Times New Roman" panose="02020603050405020304" pitchFamily="18" charset="0"/>
              </a:rPr>
              <a:t>: A Relation R on set A is said to be transitive </a:t>
            </a:r>
            <a:r>
              <a:rPr lang="en-US" sz="2300" dirty="0" err="1">
                <a:latin typeface="Times New Roman" panose="02020603050405020304" pitchFamily="18" charset="0"/>
                <a:cs typeface="Times New Roman" panose="02020603050405020304" pitchFamily="18" charset="0"/>
              </a:rPr>
              <a:t>iff</a:t>
            </a:r>
            <a:r>
              <a:rPr lang="en-US" sz="2300" dirty="0">
                <a:latin typeface="Times New Roman" panose="02020603050405020304" pitchFamily="18" charset="0"/>
                <a:cs typeface="Times New Roman" panose="02020603050405020304" pitchFamily="18" charset="0"/>
              </a:rPr>
              <a:t> (a, b) ∈ R and (b, c) ∈ R ⟺ (a, c) ∈ R.</a:t>
            </a:r>
          </a:p>
          <a:p>
            <a:pPr algn="just"/>
            <a:r>
              <a:rPr lang="en-US" sz="2300" dirty="0">
                <a:latin typeface="Times New Roman" panose="02020603050405020304" pitchFamily="18" charset="0"/>
                <a:cs typeface="Times New Roman" panose="02020603050405020304" pitchFamily="18" charset="0"/>
              </a:rPr>
              <a:t>Example1: Let A = {1, 2, 3} and R = {(1, 2), (2, 1), (1, 1), (2, 2)}. Is the relation transitive?</a:t>
            </a:r>
          </a:p>
          <a:p>
            <a:pPr algn="just"/>
            <a:r>
              <a:rPr lang="en-US" sz="2300" dirty="0">
                <a:latin typeface="Times New Roman" panose="02020603050405020304" pitchFamily="18" charset="0"/>
                <a:cs typeface="Times New Roman" panose="02020603050405020304" pitchFamily="18" charset="0"/>
              </a:rPr>
              <a:t>Solution: The relation R is transitive as for every (a, b) (b, c) belong to R, we have (a, c) ∈ R </a:t>
            </a:r>
            <a:r>
              <a:rPr lang="en-US" sz="2300" dirty="0" err="1">
                <a:latin typeface="Times New Roman" panose="02020603050405020304" pitchFamily="18" charset="0"/>
                <a:cs typeface="Times New Roman" panose="02020603050405020304" pitchFamily="18" charset="0"/>
              </a:rPr>
              <a:t>i.e</a:t>
            </a:r>
            <a:r>
              <a:rPr lang="en-US" sz="2300" dirty="0">
                <a:latin typeface="Times New Roman" panose="02020603050405020304" pitchFamily="18" charset="0"/>
                <a:cs typeface="Times New Roman" panose="02020603050405020304" pitchFamily="18" charset="0"/>
              </a:rPr>
              <a:t>, (1, 2) (2, 1) ∈ R ⇒ (1, 1) ∈ R.</a:t>
            </a:r>
          </a:p>
          <a:p>
            <a:pPr algn="just"/>
            <a:endParaRPr lang="en-US" sz="2300" dirty="0">
              <a:latin typeface="Times New Roman" panose="02020603050405020304" pitchFamily="18" charset="0"/>
              <a:cs typeface="Times New Roman" panose="02020603050405020304" pitchFamily="18" charset="0"/>
            </a:endParaRPr>
          </a:p>
          <a:p>
            <a:pPr algn="just"/>
            <a:r>
              <a:rPr lang="en-US" sz="2300" b="1" dirty="0">
                <a:latin typeface="Times New Roman" panose="02020603050405020304" pitchFamily="18" charset="0"/>
                <a:cs typeface="Times New Roman" panose="02020603050405020304" pitchFamily="18" charset="0"/>
              </a:rPr>
              <a:t>Other relation type (HW)</a:t>
            </a:r>
          </a:p>
          <a:p>
            <a:pPr algn="just"/>
            <a:r>
              <a:rPr lang="en-IN" sz="2300" dirty="0" err="1">
                <a:latin typeface="Times New Roman" panose="02020603050405020304" pitchFamily="18" charset="0"/>
                <a:cs typeface="Times New Roman" panose="02020603050405020304" pitchFamily="18" charset="0"/>
              </a:rPr>
              <a:t>Irreflexive</a:t>
            </a:r>
            <a:r>
              <a:rPr lang="en-IN" sz="2300" dirty="0">
                <a:latin typeface="Times New Roman" panose="02020603050405020304" pitchFamily="18" charset="0"/>
                <a:cs typeface="Times New Roman" panose="02020603050405020304" pitchFamily="18" charset="0"/>
              </a:rPr>
              <a:t> Relation</a:t>
            </a:r>
          </a:p>
          <a:p>
            <a:pPr algn="just"/>
            <a:r>
              <a:rPr lang="en-IN" sz="2300" dirty="0">
                <a:latin typeface="Times New Roman" panose="02020603050405020304" pitchFamily="18" charset="0"/>
                <a:cs typeface="Times New Roman" panose="02020603050405020304" pitchFamily="18" charset="0"/>
              </a:rPr>
              <a:t>Asymmetric Relation</a:t>
            </a:r>
          </a:p>
          <a:p>
            <a:pPr algn="just"/>
            <a:r>
              <a:rPr lang="en-IN" sz="2300" dirty="0">
                <a:latin typeface="Times New Roman" panose="02020603050405020304" pitchFamily="18" charset="0"/>
                <a:cs typeface="Times New Roman" panose="02020603050405020304" pitchFamily="18" charset="0"/>
              </a:rPr>
              <a:t>Identity Relation</a:t>
            </a:r>
          </a:p>
          <a:p>
            <a:pPr algn="just"/>
            <a:r>
              <a:rPr lang="en-IN" sz="2300" dirty="0">
                <a:latin typeface="Times New Roman" panose="02020603050405020304" pitchFamily="18" charset="0"/>
                <a:cs typeface="Times New Roman" panose="02020603050405020304" pitchFamily="18" charset="0"/>
              </a:rPr>
              <a:t>Void Relation</a:t>
            </a:r>
          </a:p>
          <a:p>
            <a:pPr algn="just"/>
            <a:r>
              <a:rPr lang="en-IN" sz="2300" dirty="0">
                <a:latin typeface="Times New Roman" panose="02020603050405020304" pitchFamily="18" charset="0"/>
                <a:cs typeface="Times New Roman" panose="02020603050405020304" pitchFamily="18" charset="0"/>
              </a:rPr>
              <a:t>Universal Relation</a:t>
            </a:r>
          </a:p>
        </p:txBody>
      </p:sp>
    </p:spTree>
    <p:extLst>
      <p:ext uri="{BB962C8B-B14F-4D97-AF65-F5344CB8AC3E}">
        <p14:creationId xmlns:p14="http://schemas.microsoft.com/office/powerpoint/2010/main" val="3734603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Formal Proof</a:t>
            </a:r>
          </a:p>
        </p:txBody>
      </p:sp>
      <p:sp>
        <p:nvSpPr>
          <p:cNvPr id="3" name="Content Placeholder 2"/>
          <p:cNvSpPr>
            <a:spLocks noGrp="1"/>
          </p:cNvSpPr>
          <p:nvPr>
            <p:ph sz="quarter" idx="1"/>
          </p:nvPr>
        </p:nvSpPr>
        <p:spPr/>
        <p:txBody>
          <a:bodyPr/>
          <a:lstStyle/>
          <a:p>
            <a:r>
              <a:rPr lang="en-US" sz="2400" b="1" dirty="0">
                <a:latin typeface="Times New Roman" panose="02020603050405020304" pitchFamily="18" charset="0"/>
                <a:cs typeface="Times New Roman" panose="02020603050405020304" pitchFamily="18" charset="0"/>
              </a:rPr>
              <a:t>Types of Proof</a:t>
            </a:r>
          </a:p>
          <a:p>
            <a:r>
              <a:rPr lang="en-US" sz="2400" b="1" dirty="0">
                <a:solidFill>
                  <a:srgbClr val="FF0000"/>
                </a:solidFill>
                <a:latin typeface="Times New Roman" panose="02020603050405020304" pitchFamily="18" charset="0"/>
                <a:cs typeface="Times New Roman" panose="02020603050405020304" pitchFamily="18" charset="0"/>
              </a:rPr>
              <a:t>Deductive proof</a:t>
            </a:r>
            <a:r>
              <a:rPr lang="en-US" sz="2400"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A sequence of justified steps</a:t>
            </a:r>
          </a:p>
          <a:p>
            <a:r>
              <a:rPr lang="en-US" sz="2400" b="1" dirty="0">
                <a:solidFill>
                  <a:srgbClr val="FF0000"/>
                </a:solidFill>
                <a:latin typeface="Times New Roman" panose="02020603050405020304" pitchFamily="18" charset="0"/>
                <a:cs typeface="Times New Roman" panose="02020603050405020304" pitchFamily="18" charset="0"/>
              </a:rPr>
              <a:t>Inductive proof:</a:t>
            </a:r>
          </a:p>
          <a:p>
            <a:pPr lvl="1"/>
            <a:r>
              <a:rPr lang="en-US" dirty="0">
                <a:latin typeface="Times New Roman" panose="02020603050405020304" pitchFamily="18" charset="0"/>
                <a:cs typeface="Times New Roman" panose="02020603050405020304" pitchFamily="18" charset="0"/>
              </a:rPr>
              <a:t>Recursive proofs of a parameterized statements</a:t>
            </a:r>
          </a:p>
          <a:p>
            <a:endParaRPr lang="en-IN" dirty="0"/>
          </a:p>
        </p:txBody>
      </p:sp>
    </p:spTree>
    <p:extLst>
      <p:ext uri="{BB962C8B-B14F-4D97-AF65-F5344CB8AC3E}">
        <p14:creationId xmlns:p14="http://schemas.microsoft.com/office/powerpoint/2010/main" val="776940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Deductive proof</a:t>
            </a:r>
          </a:p>
        </p:txBody>
      </p:sp>
      <p:sp>
        <p:nvSpPr>
          <p:cNvPr id="3" name="Content Placeholder 2"/>
          <p:cNvSpPr>
            <a:spLocks noGrp="1"/>
          </p:cNvSpPr>
          <p:nvPr>
            <p:ph sz="quarter" idx="1"/>
          </p:nvPr>
        </p:nvSpPr>
        <p:spPr/>
        <p:txBody>
          <a:bodyPr>
            <a:normAutofit/>
          </a:bodyPr>
          <a:lstStyle/>
          <a:p>
            <a:pPr algn="just"/>
            <a:r>
              <a:rPr lang="en-US" sz="2300" dirty="0">
                <a:latin typeface="Times New Roman" panose="02020603050405020304" pitchFamily="18" charset="0"/>
                <a:cs typeface="Times New Roman" panose="02020603050405020304" pitchFamily="18" charset="0"/>
              </a:rPr>
              <a:t>Consists of a sequence of statements whose truth lead us from some initial statement called the hypothesis / given statement to a conclusion statement.</a:t>
            </a:r>
          </a:p>
          <a:p>
            <a:pPr algn="just"/>
            <a:r>
              <a:rPr lang="en-US" sz="2300" dirty="0">
                <a:latin typeface="Times New Roman" panose="02020603050405020304" pitchFamily="18" charset="0"/>
                <a:cs typeface="Times New Roman" panose="02020603050405020304" pitchFamily="18" charset="0"/>
              </a:rPr>
              <a:t>Hypothesis may be true / false, typically depending on the values of its parameters. </a:t>
            </a:r>
          </a:p>
          <a:p>
            <a:pPr algn="just"/>
            <a:r>
              <a:rPr lang="en-US" sz="2300" dirty="0">
                <a:latin typeface="Times New Roman" panose="02020603050405020304" pitchFamily="18" charset="0"/>
                <a:cs typeface="Times New Roman" panose="02020603050405020304" pitchFamily="18" charset="0"/>
              </a:rPr>
              <a:t>When we go from </a:t>
            </a:r>
            <a:r>
              <a:rPr lang="en-US" sz="2300" dirty="0">
                <a:solidFill>
                  <a:srgbClr val="FF0000"/>
                </a:solidFill>
                <a:latin typeface="Times New Roman" panose="02020603050405020304" pitchFamily="18" charset="0"/>
                <a:cs typeface="Times New Roman" panose="02020603050405020304" pitchFamily="18" charset="0"/>
              </a:rPr>
              <a:t>hypothesis</a:t>
            </a:r>
            <a:r>
              <a:rPr lang="en-US" sz="2300" dirty="0">
                <a:latin typeface="Times New Roman" panose="02020603050405020304" pitchFamily="18" charset="0"/>
                <a:cs typeface="Times New Roman" panose="02020603050405020304" pitchFamily="18" charset="0"/>
              </a:rPr>
              <a:t> H to </a:t>
            </a:r>
            <a:r>
              <a:rPr lang="en-US" sz="2300" dirty="0">
                <a:solidFill>
                  <a:srgbClr val="FF0000"/>
                </a:solidFill>
                <a:latin typeface="Times New Roman" panose="02020603050405020304" pitchFamily="18" charset="0"/>
                <a:cs typeface="Times New Roman" panose="02020603050405020304" pitchFamily="18" charset="0"/>
              </a:rPr>
              <a:t>conclusion</a:t>
            </a:r>
            <a:r>
              <a:rPr lang="en-US" sz="2300" dirty="0">
                <a:latin typeface="Times New Roman" panose="02020603050405020304" pitchFamily="18" charset="0"/>
                <a:cs typeface="Times New Roman" panose="02020603050405020304" pitchFamily="18" charset="0"/>
              </a:rPr>
              <a:t> C, “If H Then C “. We call the C is deduced from H. </a:t>
            </a:r>
          </a:p>
          <a:p>
            <a:pPr algn="just"/>
            <a:r>
              <a:rPr lang="en-US" sz="2300" dirty="0">
                <a:latin typeface="Times New Roman" panose="02020603050405020304" pitchFamily="18" charset="0"/>
                <a:cs typeface="Times New Roman" panose="02020603050405020304" pitchFamily="18" charset="0"/>
              </a:rPr>
              <a:t>Ex:</a:t>
            </a:r>
          </a:p>
          <a:p>
            <a:pPr algn="just"/>
            <a:r>
              <a:rPr lang="en-US" sz="2300" dirty="0">
                <a:latin typeface="Times New Roman" panose="02020603050405020304" pitchFamily="18" charset="0"/>
                <a:cs typeface="Times New Roman" panose="02020603050405020304" pitchFamily="18" charset="0"/>
              </a:rPr>
              <a:t>If x &gt;=4, then 2</a:t>
            </a:r>
            <a:r>
              <a:rPr lang="en-US" sz="2300" baseline="30000" dirty="0">
                <a:latin typeface="Times New Roman" panose="02020603050405020304" pitchFamily="18" charset="0"/>
                <a:cs typeface="Times New Roman" panose="02020603050405020304" pitchFamily="18" charset="0"/>
              </a:rPr>
              <a:t>x</a:t>
            </a:r>
            <a:r>
              <a:rPr lang="en-US" sz="2300" dirty="0">
                <a:latin typeface="Times New Roman" panose="02020603050405020304" pitchFamily="18" charset="0"/>
                <a:cs typeface="Times New Roman" panose="02020603050405020304" pitchFamily="18" charset="0"/>
              </a:rPr>
              <a:t> &gt;=x</a:t>
            </a:r>
            <a:r>
              <a:rPr lang="en-US" sz="2300" baseline="30000" dirty="0">
                <a:latin typeface="Times New Roman" panose="02020603050405020304" pitchFamily="18" charset="0"/>
                <a:cs typeface="Times New Roman" panose="02020603050405020304" pitchFamily="18" charset="0"/>
              </a:rPr>
              <a:t>2</a:t>
            </a:r>
          </a:p>
          <a:p>
            <a:pPr algn="just"/>
            <a:r>
              <a:rPr lang="en-US" sz="2300" dirty="0">
                <a:latin typeface="Times New Roman" panose="02020603050405020304" pitchFamily="18" charset="0"/>
                <a:cs typeface="Times New Roman" panose="02020603050405020304" pitchFamily="18" charset="0"/>
              </a:rPr>
              <a:t>If x is the sum of squares of four positive integers, then 2</a:t>
            </a:r>
            <a:r>
              <a:rPr lang="en-US" sz="2300" baseline="30000" dirty="0">
                <a:latin typeface="Times New Roman" panose="02020603050405020304" pitchFamily="18" charset="0"/>
                <a:cs typeface="Times New Roman" panose="02020603050405020304" pitchFamily="18" charset="0"/>
              </a:rPr>
              <a:t>x</a:t>
            </a:r>
            <a:r>
              <a:rPr lang="en-US" sz="2300" dirty="0">
                <a:latin typeface="Times New Roman" panose="02020603050405020304" pitchFamily="18" charset="0"/>
                <a:cs typeface="Times New Roman" panose="02020603050405020304" pitchFamily="18" charset="0"/>
              </a:rPr>
              <a:t> &gt;= x</a:t>
            </a:r>
            <a:r>
              <a:rPr lang="en-US" sz="2300" baseline="30000" dirty="0">
                <a:latin typeface="Times New Roman" panose="02020603050405020304" pitchFamily="18" charset="0"/>
                <a:cs typeface="Times New Roman" panose="02020603050405020304" pitchFamily="18" charset="0"/>
              </a:rPr>
              <a:t>2</a:t>
            </a:r>
          </a:p>
          <a:p>
            <a:pPr algn="just"/>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9067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a:bodyPr>
          <a:lstStyle/>
          <a:p>
            <a:pPr algn="just"/>
            <a:r>
              <a:rPr lang="en-IN" sz="2300" dirty="0">
                <a:latin typeface="Times New Roman" panose="02020603050405020304" pitchFamily="18" charset="0"/>
                <a:cs typeface="Times New Roman" panose="02020603050405020304" pitchFamily="18" charset="0"/>
              </a:rPr>
              <a:t>Another example</a:t>
            </a:r>
          </a:p>
          <a:p>
            <a:pPr algn="just"/>
            <a:r>
              <a:rPr lang="en-US" sz="2300" dirty="0">
                <a:latin typeface="Times New Roman" panose="02020603050405020304" pitchFamily="18" charset="0"/>
                <a:cs typeface="Times New Roman" panose="02020603050405020304" pitchFamily="18" charset="0"/>
              </a:rPr>
              <a:t>If p is true then q is true</a:t>
            </a:r>
          </a:p>
          <a:p>
            <a:pPr algn="just"/>
            <a:r>
              <a:rPr lang="en-US" sz="2300" dirty="0" err="1">
                <a:latin typeface="Times New Roman" panose="02020603050405020304" pitchFamily="18" charset="0"/>
                <a:cs typeface="Times New Roman" panose="02020603050405020304" pitchFamily="18" charset="0"/>
              </a:rPr>
              <a:t>Eg</a:t>
            </a:r>
            <a:r>
              <a:rPr lang="en-US" sz="2300" dirty="0">
                <a:latin typeface="Times New Roman" panose="02020603050405020304" pitchFamily="18" charset="0"/>
                <a:cs typeface="Times New Roman" panose="02020603050405020304" pitchFamily="18" charset="0"/>
              </a:rPr>
              <a:t>: if a and b are odd numbers then product is also an odd number.</a:t>
            </a:r>
          </a:p>
          <a:p>
            <a:pPr algn="just"/>
            <a:r>
              <a:rPr lang="en-US" sz="2300" dirty="0">
                <a:latin typeface="Times New Roman" panose="02020603050405020304" pitchFamily="18" charset="0"/>
                <a:cs typeface="Times New Roman" panose="02020603050405020304" pitchFamily="18" charset="0"/>
              </a:rPr>
              <a:t>Odd number can be represented as 2n+1</a:t>
            </a:r>
          </a:p>
          <a:p>
            <a:pPr algn="just"/>
            <a:r>
              <a:rPr lang="en-US" sz="2300" dirty="0">
                <a:latin typeface="Times New Roman" panose="02020603050405020304" pitchFamily="18" charset="0"/>
                <a:cs typeface="Times New Roman" panose="02020603050405020304" pitchFamily="18" charset="0"/>
              </a:rPr>
              <a:t>a=2x+1, b=2y+1</a:t>
            </a:r>
          </a:p>
          <a:p>
            <a:pPr algn="just"/>
            <a:r>
              <a:rPr lang="en-US" sz="2300" dirty="0">
                <a:latin typeface="Times New Roman" panose="02020603050405020304" pitchFamily="18" charset="0"/>
                <a:cs typeface="Times New Roman" panose="02020603050405020304" pitchFamily="18" charset="0"/>
              </a:rPr>
              <a:t>product of a X b = (2x+1) X (2y+1)</a:t>
            </a:r>
          </a:p>
          <a:p>
            <a:pPr algn="just"/>
            <a:r>
              <a:rPr lang="en-US" sz="2300" dirty="0">
                <a:latin typeface="Times New Roman" panose="02020603050405020304" pitchFamily="18" charset="0"/>
                <a:cs typeface="Times New Roman" panose="02020603050405020304" pitchFamily="18" charset="0"/>
              </a:rPr>
              <a:t>= 2(2xy+x+y)+1 = 2z+1 (odd number)</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5997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Additional Forms of Proof</a:t>
            </a:r>
          </a:p>
        </p:txBody>
      </p:sp>
      <p:sp>
        <p:nvSpPr>
          <p:cNvPr id="3" name="Content Placeholder 2"/>
          <p:cNvSpPr>
            <a:spLocks noGrp="1"/>
          </p:cNvSpPr>
          <p:nvPr>
            <p:ph sz="quarter" idx="1"/>
          </p:nvPr>
        </p:nvSpPr>
        <p:spPr/>
        <p:txBody>
          <a:bodyPr/>
          <a:lstStyle/>
          <a:p>
            <a:r>
              <a:rPr lang="en-US" sz="2300" dirty="0">
                <a:latin typeface="Times New Roman" panose="02020603050405020304" pitchFamily="18" charset="0"/>
                <a:cs typeface="Times New Roman" panose="02020603050405020304" pitchFamily="18" charset="0"/>
              </a:rPr>
              <a:t>Proofs about sets</a:t>
            </a:r>
          </a:p>
          <a:p>
            <a:r>
              <a:rPr lang="en-US" sz="2300" dirty="0">
                <a:latin typeface="Times New Roman" panose="02020603050405020304" pitchFamily="18" charset="0"/>
                <a:cs typeface="Times New Roman" panose="02020603050405020304" pitchFamily="18" charset="0"/>
              </a:rPr>
              <a:t>Proofs by contradiction</a:t>
            </a:r>
          </a:p>
          <a:p>
            <a:r>
              <a:rPr lang="en-US" sz="2300" dirty="0">
                <a:latin typeface="Times New Roman" panose="02020603050405020304" pitchFamily="18" charset="0"/>
                <a:cs typeface="Times New Roman" panose="02020603050405020304" pitchFamily="18" charset="0"/>
              </a:rPr>
              <a:t>Proofs by counter example</a:t>
            </a:r>
          </a:p>
          <a:p>
            <a:endParaRPr lang="en-IN" dirty="0"/>
          </a:p>
        </p:txBody>
      </p:sp>
    </p:spTree>
    <p:extLst>
      <p:ext uri="{BB962C8B-B14F-4D97-AF65-F5344CB8AC3E}">
        <p14:creationId xmlns:p14="http://schemas.microsoft.com/office/powerpoint/2010/main" val="4059084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78098"/>
          </a:xfrm>
        </p:spPr>
        <p:txBody>
          <a:bodyPr>
            <a:normAutofit/>
          </a:bodyPr>
          <a:lstStyle/>
          <a:p>
            <a:r>
              <a:rPr lang="en-US" dirty="0">
                <a:latin typeface="Times New Roman" panose="02020603050405020304" pitchFamily="18" charset="0"/>
                <a:cs typeface="Times New Roman" panose="02020603050405020304" pitchFamily="18" charset="0"/>
              </a:rPr>
              <a:t>Proofs about sets</a:t>
            </a:r>
            <a:endParaRPr lang="en-IN" dirty="0"/>
          </a:p>
        </p:txBody>
      </p:sp>
      <p:sp>
        <p:nvSpPr>
          <p:cNvPr id="3" name="Content Placeholder 2"/>
          <p:cNvSpPr>
            <a:spLocks noGrp="1"/>
          </p:cNvSpPr>
          <p:nvPr>
            <p:ph sz="quarter" idx="1"/>
          </p:nvPr>
        </p:nvSpPr>
        <p:spPr>
          <a:xfrm>
            <a:off x="914400" y="980728"/>
            <a:ext cx="7772400" cy="5400600"/>
          </a:xfrm>
        </p:spPr>
        <p:txBody>
          <a:bodyPr>
            <a:normAutofit lnSpcReduction="10000"/>
          </a:bodyPr>
          <a:lstStyle/>
          <a:p>
            <a:pPr algn="just"/>
            <a:r>
              <a:rPr lang="en-IN" sz="2300" dirty="0">
                <a:latin typeface="Times New Roman" panose="02020603050405020304" pitchFamily="18" charset="0"/>
                <a:cs typeface="Times New Roman" panose="02020603050405020304" pitchFamily="18" charset="0"/>
              </a:rPr>
              <a:t>If A and B are two expression representing sets, the statement A = B means that the two sets representation are the same. </a:t>
            </a:r>
          </a:p>
          <a:p>
            <a:pPr algn="just"/>
            <a:r>
              <a:rPr lang="en-IN" sz="2300" dirty="0">
                <a:latin typeface="Times New Roman" panose="02020603050405020304" pitchFamily="18" charset="0"/>
                <a:cs typeface="Times New Roman" panose="02020603050405020304" pitchFamily="18" charset="0"/>
              </a:rPr>
              <a:t>We can prove the equivalence of sets A = B in the following ways: </a:t>
            </a:r>
          </a:p>
          <a:p>
            <a:pPr lvl="1" algn="just"/>
            <a:r>
              <a:rPr lang="en-IN" sz="2300" dirty="0">
                <a:solidFill>
                  <a:srgbClr val="FF0000"/>
                </a:solidFill>
                <a:latin typeface="Times New Roman" panose="02020603050405020304" pitchFamily="18" charset="0"/>
                <a:cs typeface="Times New Roman" panose="02020603050405020304" pitchFamily="18" charset="0"/>
              </a:rPr>
              <a:t>By commutative law of union of two sets E and  F as          </a:t>
            </a:r>
            <a:r>
              <a:rPr lang="en-IN" sz="2300" i="1" dirty="0">
                <a:solidFill>
                  <a:srgbClr val="FF0000"/>
                </a:solidFill>
                <a:latin typeface="Times New Roman" panose="02020603050405020304" pitchFamily="18" charset="0"/>
                <a:cs typeface="Times New Roman" panose="02020603050405020304" pitchFamily="18" charset="0"/>
              </a:rPr>
              <a:t>E U F </a:t>
            </a:r>
            <a:r>
              <a:rPr lang="en-IN" sz="2300" dirty="0">
                <a:solidFill>
                  <a:srgbClr val="FF0000"/>
                </a:solidFill>
                <a:latin typeface="Times New Roman" panose="02020603050405020304" pitchFamily="18" charset="0"/>
                <a:cs typeface="Times New Roman" panose="02020603050405020304" pitchFamily="18" charset="0"/>
              </a:rPr>
              <a:t>= </a:t>
            </a:r>
            <a:r>
              <a:rPr lang="en-IN" sz="2300" i="1" dirty="0">
                <a:solidFill>
                  <a:srgbClr val="FF0000"/>
                </a:solidFill>
                <a:latin typeface="Times New Roman" panose="02020603050405020304" pitchFamily="18" charset="0"/>
                <a:cs typeface="Times New Roman" panose="02020603050405020304" pitchFamily="18" charset="0"/>
              </a:rPr>
              <a:t>F U E</a:t>
            </a:r>
            <a:r>
              <a:rPr lang="en-IN" sz="2300" dirty="0">
                <a:solidFill>
                  <a:srgbClr val="FF0000"/>
                </a:solidFill>
                <a:latin typeface="Times New Roman" panose="02020603050405020304" pitchFamily="18" charset="0"/>
                <a:cs typeface="Times New Roman" panose="02020603050405020304" pitchFamily="18" charset="0"/>
              </a:rPr>
              <a:t>. </a:t>
            </a:r>
          </a:p>
          <a:p>
            <a:pPr lvl="1" algn="just"/>
            <a:r>
              <a:rPr lang="en-IN" sz="2300" dirty="0">
                <a:solidFill>
                  <a:srgbClr val="FF0000"/>
                </a:solidFill>
                <a:latin typeface="Times New Roman" panose="02020603050405020304" pitchFamily="18" charset="0"/>
                <a:cs typeface="Times New Roman" panose="02020603050405020304" pitchFamily="18" charset="0"/>
              </a:rPr>
              <a:t>Where A is the expression for </a:t>
            </a:r>
            <a:r>
              <a:rPr lang="en-IN" sz="2300" i="1" dirty="0">
                <a:solidFill>
                  <a:srgbClr val="FF0000"/>
                </a:solidFill>
                <a:latin typeface="Times New Roman" panose="02020603050405020304" pitchFamily="18" charset="0"/>
                <a:cs typeface="Times New Roman" panose="02020603050405020304" pitchFamily="18" charset="0"/>
              </a:rPr>
              <a:t>E U F </a:t>
            </a:r>
            <a:r>
              <a:rPr lang="en-IN" sz="2300" dirty="0">
                <a:solidFill>
                  <a:srgbClr val="FF0000"/>
                </a:solidFill>
                <a:latin typeface="Times New Roman" panose="02020603050405020304" pitchFamily="18" charset="0"/>
                <a:cs typeface="Times New Roman" panose="02020603050405020304" pitchFamily="18" charset="0"/>
              </a:rPr>
              <a:t>and B is the expression for </a:t>
            </a:r>
            <a:r>
              <a:rPr lang="en-IN" sz="2300" i="1" dirty="0">
                <a:solidFill>
                  <a:srgbClr val="FF0000"/>
                </a:solidFill>
                <a:latin typeface="Times New Roman" panose="02020603050405020304" pitchFamily="18" charset="0"/>
                <a:cs typeface="Times New Roman" panose="02020603050405020304" pitchFamily="18" charset="0"/>
              </a:rPr>
              <a:t>F U E</a:t>
            </a:r>
            <a:r>
              <a:rPr lang="en-IN" sz="2300" dirty="0">
                <a:solidFill>
                  <a:srgbClr val="FF0000"/>
                </a:solidFill>
                <a:latin typeface="Times New Roman" panose="02020603050405020304" pitchFamily="18" charset="0"/>
                <a:cs typeface="Times New Roman" panose="02020603050405020304" pitchFamily="18" charset="0"/>
              </a:rPr>
              <a:t>.</a:t>
            </a:r>
          </a:p>
          <a:p>
            <a:pPr lvl="1" algn="just"/>
            <a:r>
              <a:rPr lang="en-IN" sz="2300" dirty="0">
                <a:solidFill>
                  <a:srgbClr val="FF0000"/>
                </a:solidFill>
                <a:latin typeface="Times New Roman" panose="02020603050405020304" pitchFamily="18" charset="0"/>
                <a:cs typeface="Times New Roman" panose="02020603050405020304" pitchFamily="18" charset="0"/>
              </a:rPr>
              <a:t>So A = B  by the commutative law of union.</a:t>
            </a:r>
          </a:p>
          <a:p>
            <a:pPr lvl="1" algn="just"/>
            <a:r>
              <a:rPr lang="en-IN" sz="2300" dirty="0">
                <a:solidFill>
                  <a:srgbClr val="0070C0"/>
                </a:solidFill>
                <a:latin typeface="Times New Roman" panose="02020603050405020304" pitchFamily="18" charset="0"/>
                <a:cs typeface="Times New Roman" panose="02020603050405020304" pitchFamily="18" charset="0"/>
              </a:rPr>
              <a:t>We can prove the set equality A = B by if and only if statement that is “ an element x is in A </a:t>
            </a:r>
            <a:r>
              <a:rPr lang="en-IN" sz="2300" dirty="0" err="1">
                <a:solidFill>
                  <a:srgbClr val="0070C0"/>
                </a:solidFill>
                <a:latin typeface="Times New Roman" panose="02020603050405020304" pitchFamily="18" charset="0"/>
                <a:cs typeface="Times New Roman" panose="02020603050405020304" pitchFamily="18" charset="0"/>
              </a:rPr>
              <a:t>iff</a:t>
            </a:r>
            <a:r>
              <a:rPr lang="en-IN" sz="2300" dirty="0">
                <a:solidFill>
                  <a:srgbClr val="0070C0"/>
                </a:solidFill>
                <a:latin typeface="Times New Roman" panose="02020603050405020304" pitchFamily="18" charset="0"/>
                <a:cs typeface="Times New Roman" panose="02020603050405020304" pitchFamily="18" charset="0"/>
              </a:rPr>
              <a:t>  x is in B”.</a:t>
            </a:r>
          </a:p>
          <a:p>
            <a:pPr lvl="1" algn="just"/>
            <a:r>
              <a:rPr lang="en-IN" sz="2300" dirty="0">
                <a:latin typeface="Times New Roman" panose="02020603050405020304" pitchFamily="18" charset="0"/>
                <a:cs typeface="Times New Roman" panose="02020603050405020304" pitchFamily="18" charset="0"/>
              </a:rPr>
              <a:t>The set of equation A=B can be proved by two if statement as follows:</a:t>
            </a:r>
          </a:p>
          <a:p>
            <a:pPr lvl="1" algn="just"/>
            <a:r>
              <a:rPr lang="en-IN" sz="2300" dirty="0">
                <a:latin typeface="Times New Roman" panose="02020603050405020304" pitchFamily="18" charset="0"/>
                <a:cs typeface="Times New Roman" panose="02020603050405020304" pitchFamily="18" charset="0"/>
              </a:rPr>
              <a:t>(</a:t>
            </a:r>
            <a:r>
              <a:rPr lang="en-IN" sz="2300" dirty="0" err="1">
                <a:latin typeface="Times New Roman" panose="02020603050405020304" pitchFamily="18" charset="0"/>
                <a:cs typeface="Times New Roman" panose="02020603050405020304" pitchFamily="18" charset="0"/>
              </a:rPr>
              <a:t>i</a:t>
            </a:r>
            <a:r>
              <a:rPr lang="en-IN" sz="2300" dirty="0">
                <a:latin typeface="Times New Roman" panose="02020603050405020304" pitchFamily="18" charset="0"/>
                <a:cs typeface="Times New Roman" panose="02020603050405020304" pitchFamily="18" charset="0"/>
              </a:rPr>
              <a:t>) if x is in A then x is in B</a:t>
            </a:r>
          </a:p>
          <a:p>
            <a:pPr lvl="1" algn="just"/>
            <a:r>
              <a:rPr lang="en-IN" sz="2300" dirty="0">
                <a:latin typeface="Times New Roman" panose="02020603050405020304" pitchFamily="18" charset="0"/>
                <a:cs typeface="Times New Roman" panose="02020603050405020304" pitchFamily="18" charset="0"/>
              </a:rPr>
              <a:t>(ii) if x is in B then x is in A.</a:t>
            </a:r>
          </a:p>
          <a:p>
            <a:pPr lvl="1" algn="just"/>
            <a:endParaRPr lang="en-IN" sz="2300" dirty="0">
              <a:latin typeface="Times New Roman" panose="02020603050405020304" pitchFamily="18" charset="0"/>
              <a:cs typeface="Times New Roman" panose="02020603050405020304" pitchFamily="18" charset="0"/>
            </a:endParaRPr>
          </a:p>
          <a:p>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9995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Proof by contrapositive:</a:t>
            </a:r>
            <a:endParaRPr lang="en-IN" dirty="0"/>
          </a:p>
        </p:txBody>
      </p:sp>
      <p:sp>
        <p:nvSpPr>
          <p:cNvPr id="3" name="Content Placeholder 2"/>
          <p:cNvSpPr>
            <a:spLocks noGrp="1"/>
          </p:cNvSpPr>
          <p:nvPr>
            <p:ph sz="quarter" idx="1"/>
          </p:nvPr>
        </p:nvSpPr>
        <p:spPr/>
        <p:txBody>
          <a:bodyPr>
            <a:normAutofit/>
          </a:bodyPr>
          <a:lstStyle/>
          <a:p>
            <a:pPr algn="just"/>
            <a:r>
              <a:rPr lang="en-US" sz="2300" dirty="0">
                <a:latin typeface="Times New Roman" panose="02020603050405020304" pitchFamily="18" charset="0"/>
                <a:cs typeface="Times New Roman" panose="02020603050405020304" pitchFamily="18" charset="0"/>
              </a:rPr>
              <a:t>The contrapositive o the statement “if H then C” is “if not C then not H.” </a:t>
            </a:r>
          </a:p>
          <a:p>
            <a:pPr algn="just"/>
            <a:r>
              <a:rPr lang="en-US" sz="2300" dirty="0">
                <a:latin typeface="Times New Roman" panose="02020603050405020304" pitchFamily="18" charset="0"/>
                <a:cs typeface="Times New Roman" panose="02020603050405020304" pitchFamily="18" charset="0"/>
              </a:rPr>
              <a:t>A statement and its contrapositive are either both true or both false, so we can prove either to prove the other.</a:t>
            </a:r>
            <a:endParaRPr lang="en-IN" sz="2300" dirty="0">
              <a:latin typeface="Times New Roman" panose="02020603050405020304" pitchFamily="18" charset="0"/>
              <a:cs typeface="Times New Roman" panose="02020603050405020304" pitchFamily="18" charset="0"/>
            </a:endParaRPr>
          </a:p>
          <a:p>
            <a:pPr algn="just"/>
            <a:r>
              <a:rPr lang="en-IN" sz="2300" dirty="0">
                <a:latin typeface="Times New Roman" panose="02020603050405020304" pitchFamily="18" charset="0"/>
                <a:cs typeface="Times New Roman" panose="02020603050405020304" pitchFamily="18" charset="0"/>
              </a:rPr>
              <a:t>To prove that </a:t>
            </a:r>
            <a:r>
              <a:rPr lang="en-US" sz="2300" dirty="0">
                <a:latin typeface="Times New Roman" panose="02020603050405020304" pitchFamily="18" charset="0"/>
                <a:cs typeface="Times New Roman" panose="02020603050405020304" pitchFamily="18" charset="0"/>
              </a:rPr>
              <a:t>“If H then C” and “I not C then not H” are logically equivalent, first observe that there are four cases to consider:</a:t>
            </a:r>
          </a:p>
          <a:p>
            <a:pPr algn="just"/>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H and C both true</a:t>
            </a:r>
          </a:p>
          <a:p>
            <a:pPr algn="just"/>
            <a:r>
              <a:rPr lang="en-US" sz="2300" dirty="0">
                <a:latin typeface="Times New Roman" panose="02020603050405020304" pitchFamily="18" charset="0"/>
                <a:cs typeface="Times New Roman" panose="02020603050405020304" pitchFamily="18" charset="0"/>
              </a:rPr>
              <a:t>H true and C false</a:t>
            </a:r>
          </a:p>
          <a:p>
            <a:pPr algn="just"/>
            <a:r>
              <a:rPr lang="en-US" sz="2300" dirty="0">
                <a:latin typeface="Times New Roman" panose="02020603050405020304" pitchFamily="18" charset="0"/>
                <a:cs typeface="Times New Roman" panose="02020603050405020304" pitchFamily="18" charset="0"/>
              </a:rPr>
              <a:t>C true and H false</a:t>
            </a:r>
          </a:p>
          <a:p>
            <a:pPr algn="just"/>
            <a:r>
              <a:rPr lang="en-US" sz="2300" dirty="0">
                <a:latin typeface="Times New Roman" panose="02020603050405020304" pitchFamily="18" charset="0"/>
                <a:cs typeface="Times New Roman" panose="02020603050405020304" pitchFamily="18" charset="0"/>
              </a:rPr>
              <a:t>H and C both false</a:t>
            </a:r>
          </a:p>
          <a:p>
            <a:pPr algn="just"/>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5866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Proofs by contradiction</a:t>
            </a:r>
            <a:endParaRPr lang="en-IN" dirty="0"/>
          </a:p>
        </p:txBody>
      </p:sp>
      <p:sp>
        <p:nvSpPr>
          <p:cNvPr id="3" name="Content Placeholder 2"/>
          <p:cNvSpPr>
            <a:spLocks noGrp="1"/>
          </p:cNvSpPr>
          <p:nvPr>
            <p:ph sz="quarter" idx="1"/>
          </p:nvPr>
        </p:nvSpPr>
        <p:spPr/>
        <p:txBody>
          <a:bodyPr>
            <a:normAutofit/>
          </a:bodyPr>
          <a:lstStyle/>
          <a:p>
            <a:pPr algn="just"/>
            <a:r>
              <a:rPr lang="en-IN" sz="2300" dirty="0">
                <a:latin typeface="Times New Roman" panose="02020603050405020304" pitchFamily="18" charset="0"/>
                <a:cs typeface="Times New Roman" panose="02020603050405020304" pitchFamily="18" charset="0"/>
              </a:rPr>
              <a:t>Another way to prove the statement </a:t>
            </a:r>
            <a:r>
              <a:rPr lang="en-US" sz="2300" dirty="0">
                <a:solidFill>
                  <a:srgbClr val="FF0000"/>
                </a:solidFill>
                <a:latin typeface="Times New Roman" panose="02020603050405020304" pitchFamily="18" charset="0"/>
                <a:cs typeface="Times New Roman" panose="02020603050405020304" pitchFamily="18" charset="0"/>
              </a:rPr>
              <a:t>“if H then C” </a:t>
            </a:r>
            <a:r>
              <a:rPr lang="en-US" sz="2300" dirty="0">
                <a:latin typeface="Times New Roman" panose="02020603050405020304" pitchFamily="18" charset="0"/>
                <a:cs typeface="Times New Roman" panose="02020603050405020304" pitchFamily="18" charset="0"/>
              </a:rPr>
              <a:t>by the from </a:t>
            </a:r>
            <a:r>
              <a:rPr lang="en-US" sz="2300" b="1" dirty="0">
                <a:solidFill>
                  <a:srgbClr val="FF0000"/>
                </a:solidFill>
                <a:latin typeface="Times New Roman" panose="02020603050405020304" pitchFamily="18" charset="0"/>
                <a:cs typeface="Times New Roman" panose="02020603050405020304" pitchFamily="18" charset="0"/>
              </a:rPr>
              <a:t>H and not C implies falsehood</a:t>
            </a:r>
            <a:r>
              <a:rPr lang="en-US" sz="2300" dirty="0">
                <a:latin typeface="Times New Roman" panose="02020603050405020304" pitchFamily="18" charset="0"/>
                <a:cs typeface="Times New Roman" panose="02020603050405020304" pitchFamily="18" charset="0"/>
              </a:rPr>
              <a:t>.</a:t>
            </a:r>
          </a:p>
          <a:p>
            <a:pPr algn="just"/>
            <a:r>
              <a:rPr lang="en-US" sz="2300" dirty="0">
                <a:latin typeface="Times New Roman" panose="02020603050405020304" pitchFamily="18" charset="0"/>
                <a:cs typeface="Times New Roman" panose="02020603050405020304" pitchFamily="18" charset="0"/>
              </a:rPr>
              <a:t>We assume that the hypothesis H and the negation of the conclusion C as true and then  we compute the proof by showing that something known to be false follows logically from H and not C. This form of proof is called proof by contradiction.</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2157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260648"/>
            <a:ext cx="7772400" cy="5759152"/>
          </a:xfrm>
        </p:spPr>
        <p:txBody>
          <a:bodyPr>
            <a:normAutofit/>
          </a:bodyPr>
          <a:lstStyle/>
          <a:p>
            <a:pPr algn="just"/>
            <a:r>
              <a:rPr lang="en-US" sz="2300" b="1" dirty="0">
                <a:latin typeface="Times New Roman" pitchFamily="18" charset="0"/>
                <a:cs typeface="Times New Roman" pitchFamily="18" charset="0"/>
              </a:rPr>
              <a:t>Example: </a:t>
            </a:r>
          </a:p>
          <a:p>
            <a:pPr algn="just"/>
            <a:r>
              <a:rPr lang="en-US" sz="2300" b="1" dirty="0">
                <a:solidFill>
                  <a:srgbClr val="FF0000"/>
                </a:solidFill>
                <a:latin typeface="Times New Roman" pitchFamily="18" charset="0"/>
                <a:cs typeface="Times New Roman" pitchFamily="18" charset="0"/>
              </a:rPr>
              <a:t>Proposition Suppose </a:t>
            </a:r>
            <a:r>
              <a:rPr lang="en-US" sz="2300" dirty="0">
                <a:latin typeface="Times New Roman" pitchFamily="18" charset="0"/>
                <a:cs typeface="Times New Roman" pitchFamily="18" charset="0"/>
              </a:rPr>
              <a:t>x ∈ Z. If 7x + 9 is even, then x is odd.</a:t>
            </a:r>
          </a:p>
          <a:p>
            <a:pPr algn="just"/>
            <a:r>
              <a:rPr lang="en-US" sz="2300" b="1" dirty="0">
                <a:solidFill>
                  <a:srgbClr val="FF0000"/>
                </a:solidFill>
                <a:latin typeface="Times New Roman" pitchFamily="18" charset="0"/>
                <a:cs typeface="Times New Roman" pitchFamily="18" charset="0"/>
              </a:rPr>
              <a:t>Proof.</a:t>
            </a:r>
            <a:r>
              <a:rPr lang="en-US" sz="2300" dirty="0">
                <a:latin typeface="Times New Roman" pitchFamily="18" charset="0"/>
                <a:cs typeface="Times New Roman" pitchFamily="18" charset="0"/>
              </a:rPr>
              <a:t> (Direct) Suppose 7x + 9 is even.</a:t>
            </a:r>
          </a:p>
          <a:p>
            <a:pPr algn="just"/>
            <a:r>
              <a:rPr lang="en-US" sz="2300" dirty="0">
                <a:latin typeface="Times New Roman" pitchFamily="18" charset="0"/>
                <a:cs typeface="Times New Roman" pitchFamily="18" charset="0"/>
              </a:rPr>
              <a:t>Thus 7x + 9 = 2a for some integer a.</a:t>
            </a:r>
          </a:p>
          <a:p>
            <a:pPr algn="just"/>
            <a:r>
              <a:rPr lang="en-US" sz="2300" dirty="0">
                <a:latin typeface="Times New Roman" pitchFamily="18" charset="0"/>
                <a:cs typeface="Times New Roman" pitchFamily="18" charset="0"/>
              </a:rPr>
              <a:t>Subtracting 6x + 9 from both sides, we get x = 2a − 6x − 9.</a:t>
            </a:r>
          </a:p>
          <a:p>
            <a:pPr algn="just"/>
            <a:r>
              <a:rPr lang="en-US" sz="2300" dirty="0">
                <a:latin typeface="Times New Roman" pitchFamily="18" charset="0"/>
                <a:cs typeface="Times New Roman" pitchFamily="18" charset="0"/>
              </a:rPr>
              <a:t>Thus x = 2a − 6x − 9 = 2a − 6x − 10 + 1 = 2(a − 3x − 5) + 1.</a:t>
            </a:r>
          </a:p>
          <a:p>
            <a:pPr algn="just"/>
            <a:r>
              <a:rPr lang="en-US" sz="2300" dirty="0">
                <a:latin typeface="Times New Roman" pitchFamily="18" charset="0"/>
                <a:cs typeface="Times New Roman" pitchFamily="18" charset="0"/>
              </a:rPr>
              <a:t>Consequently x = 2b + 1, where b = a − 3x − 5 ∈ Z.</a:t>
            </a:r>
          </a:p>
          <a:p>
            <a:pPr algn="just"/>
            <a:r>
              <a:rPr lang="en-US" sz="2300" dirty="0">
                <a:latin typeface="Times New Roman" pitchFamily="18" charset="0"/>
                <a:cs typeface="Times New Roman" pitchFamily="18" charset="0"/>
              </a:rPr>
              <a:t>Therefore x is odd. </a:t>
            </a:r>
          </a:p>
          <a:p>
            <a:pPr algn="just"/>
            <a:r>
              <a:rPr lang="en-US" sz="2300" dirty="0">
                <a:latin typeface="Times New Roman" pitchFamily="18" charset="0"/>
                <a:cs typeface="Times New Roman" pitchFamily="18" charset="0"/>
              </a:rPr>
              <a:t>Here is a contrapositive proof of the same statement:</a:t>
            </a:r>
          </a:p>
        </p:txBody>
      </p:sp>
    </p:spTree>
    <p:extLst>
      <p:ext uri="{BB962C8B-B14F-4D97-AF65-F5344CB8AC3E}">
        <p14:creationId xmlns:p14="http://schemas.microsoft.com/office/powerpoint/2010/main" val="14302839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332656"/>
            <a:ext cx="7772400" cy="5687144"/>
          </a:xfrm>
        </p:spPr>
        <p:txBody>
          <a:bodyPr>
            <a:normAutofit/>
          </a:bodyPr>
          <a:lstStyle/>
          <a:p>
            <a:r>
              <a:rPr lang="en-US" sz="2300" dirty="0">
                <a:latin typeface="Times New Roman" pitchFamily="18" charset="0"/>
                <a:cs typeface="Times New Roman" pitchFamily="18" charset="0"/>
              </a:rPr>
              <a:t>Example: </a:t>
            </a:r>
          </a:p>
          <a:p>
            <a:r>
              <a:rPr lang="en-US" sz="2300" b="1" dirty="0">
                <a:solidFill>
                  <a:srgbClr val="FF0000"/>
                </a:solidFill>
                <a:latin typeface="Times New Roman" pitchFamily="18" charset="0"/>
                <a:cs typeface="Times New Roman" pitchFamily="18" charset="0"/>
              </a:rPr>
              <a:t>Proposition Suppose </a:t>
            </a:r>
            <a:r>
              <a:rPr lang="en-US" sz="2300" dirty="0">
                <a:latin typeface="Times New Roman" pitchFamily="18" charset="0"/>
                <a:cs typeface="Times New Roman" pitchFamily="18" charset="0"/>
              </a:rPr>
              <a:t>x ∈ Z. If x</a:t>
            </a:r>
            <a:r>
              <a:rPr lang="en-US" sz="2300" baseline="30000" dirty="0">
                <a:latin typeface="Times New Roman" pitchFamily="18" charset="0"/>
                <a:cs typeface="Times New Roman" pitchFamily="18" charset="0"/>
              </a:rPr>
              <a:t>2</a:t>
            </a:r>
            <a:r>
              <a:rPr lang="en-US" sz="2300" dirty="0">
                <a:latin typeface="Times New Roman" pitchFamily="18" charset="0"/>
                <a:cs typeface="Times New Roman" pitchFamily="18" charset="0"/>
              </a:rPr>
              <a:t> − 6x + 5 is even, then x is odd.</a:t>
            </a:r>
          </a:p>
          <a:p>
            <a:r>
              <a:rPr lang="en-US" sz="2300" b="1" dirty="0">
                <a:solidFill>
                  <a:srgbClr val="FF0000"/>
                </a:solidFill>
                <a:latin typeface="Times New Roman" pitchFamily="18" charset="0"/>
                <a:cs typeface="Times New Roman" pitchFamily="18" charset="0"/>
              </a:rPr>
              <a:t>Proof.</a:t>
            </a:r>
            <a:r>
              <a:rPr lang="en-US" sz="2300" dirty="0">
                <a:latin typeface="Times New Roman" pitchFamily="18" charset="0"/>
                <a:cs typeface="Times New Roman" pitchFamily="18" charset="0"/>
              </a:rPr>
              <a:t> (Contrapositive) Suppose x is not odd.</a:t>
            </a:r>
          </a:p>
          <a:p>
            <a:r>
              <a:rPr lang="en-US" sz="2300" dirty="0">
                <a:latin typeface="Times New Roman" pitchFamily="18" charset="0"/>
                <a:cs typeface="Times New Roman" pitchFamily="18" charset="0"/>
              </a:rPr>
              <a:t>Thus x is even, so x = 2a for some integer a.</a:t>
            </a:r>
          </a:p>
          <a:p>
            <a:r>
              <a:rPr lang="en-US" sz="2300" dirty="0">
                <a:latin typeface="Times New Roman" pitchFamily="18" charset="0"/>
                <a:cs typeface="Times New Roman" pitchFamily="18" charset="0"/>
              </a:rPr>
              <a:t>So x</a:t>
            </a:r>
            <a:r>
              <a:rPr lang="en-US" sz="2300" baseline="30000" dirty="0">
                <a:latin typeface="Times New Roman" pitchFamily="18" charset="0"/>
                <a:cs typeface="Times New Roman" pitchFamily="18" charset="0"/>
              </a:rPr>
              <a:t>2</a:t>
            </a:r>
            <a:r>
              <a:rPr lang="en-US" sz="2300" dirty="0">
                <a:latin typeface="Times New Roman" pitchFamily="18" charset="0"/>
                <a:cs typeface="Times New Roman" pitchFamily="18" charset="0"/>
              </a:rPr>
              <a:t>−6x+5 = (2a)</a:t>
            </a:r>
            <a:r>
              <a:rPr lang="en-US" sz="2300" baseline="30000" dirty="0">
                <a:latin typeface="Times New Roman" pitchFamily="18" charset="0"/>
                <a:cs typeface="Times New Roman" pitchFamily="18" charset="0"/>
              </a:rPr>
              <a:t>2</a:t>
            </a:r>
            <a:r>
              <a:rPr lang="en-US" sz="2300" dirty="0">
                <a:latin typeface="Times New Roman" pitchFamily="18" charset="0"/>
                <a:cs typeface="Times New Roman" pitchFamily="18" charset="0"/>
              </a:rPr>
              <a:t>−6(2a)+5 = 4a</a:t>
            </a:r>
            <a:r>
              <a:rPr lang="en-US" sz="2300" baseline="30000" dirty="0">
                <a:latin typeface="Times New Roman" pitchFamily="18" charset="0"/>
                <a:cs typeface="Times New Roman" pitchFamily="18" charset="0"/>
              </a:rPr>
              <a:t>2</a:t>
            </a:r>
            <a:r>
              <a:rPr lang="en-US" sz="2300" dirty="0">
                <a:latin typeface="Times New Roman" pitchFamily="18" charset="0"/>
                <a:cs typeface="Times New Roman" pitchFamily="18" charset="0"/>
              </a:rPr>
              <a:t>−12a+5 = 4a</a:t>
            </a:r>
            <a:r>
              <a:rPr lang="en-US" sz="2300" baseline="30000" dirty="0">
                <a:latin typeface="Times New Roman" pitchFamily="18" charset="0"/>
                <a:cs typeface="Times New Roman" pitchFamily="18" charset="0"/>
              </a:rPr>
              <a:t>2</a:t>
            </a:r>
            <a:r>
              <a:rPr lang="en-US" sz="2300" dirty="0">
                <a:latin typeface="Times New Roman" pitchFamily="18" charset="0"/>
                <a:cs typeface="Times New Roman" pitchFamily="18" charset="0"/>
              </a:rPr>
              <a:t>−12a+4+1 = 2(2a</a:t>
            </a:r>
            <a:r>
              <a:rPr lang="en-US" sz="2300" baseline="30000" dirty="0">
                <a:latin typeface="Times New Roman" pitchFamily="18" charset="0"/>
                <a:cs typeface="Times New Roman" pitchFamily="18" charset="0"/>
              </a:rPr>
              <a:t>2</a:t>
            </a:r>
            <a:r>
              <a:rPr lang="en-US" sz="2300" dirty="0">
                <a:latin typeface="Times New Roman" pitchFamily="18" charset="0"/>
                <a:cs typeface="Times New Roman" pitchFamily="18" charset="0"/>
              </a:rPr>
              <a:t>−6a+2)+1.</a:t>
            </a:r>
          </a:p>
          <a:p>
            <a:r>
              <a:rPr lang="en-US" sz="2300" dirty="0">
                <a:latin typeface="Times New Roman" pitchFamily="18" charset="0"/>
                <a:cs typeface="Times New Roman" pitchFamily="18" charset="0"/>
              </a:rPr>
              <a:t>Therefore x</a:t>
            </a:r>
            <a:r>
              <a:rPr lang="en-US" sz="2300" baseline="30000" dirty="0">
                <a:latin typeface="Times New Roman" pitchFamily="18" charset="0"/>
                <a:cs typeface="Times New Roman" pitchFamily="18" charset="0"/>
              </a:rPr>
              <a:t>2</a:t>
            </a:r>
            <a:r>
              <a:rPr lang="en-US" sz="2300" dirty="0">
                <a:latin typeface="Times New Roman" pitchFamily="18" charset="0"/>
                <a:cs typeface="Times New Roman" pitchFamily="18" charset="0"/>
              </a:rPr>
              <a:t> − 6x + 5 = 2b + 1, where b is the integer 2a</a:t>
            </a:r>
            <a:r>
              <a:rPr lang="en-US" sz="2300" baseline="30000" dirty="0">
                <a:latin typeface="Times New Roman" pitchFamily="18" charset="0"/>
                <a:cs typeface="Times New Roman" pitchFamily="18" charset="0"/>
              </a:rPr>
              <a:t>2</a:t>
            </a:r>
            <a:r>
              <a:rPr lang="en-US" sz="2300" dirty="0">
                <a:latin typeface="Times New Roman" pitchFamily="18" charset="0"/>
                <a:cs typeface="Times New Roman" pitchFamily="18" charset="0"/>
              </a:rPr>
              <a:t> − 6a + 2.</a:t>
            </a:r>
          </a:p>
          <a:p>
            <a:r>
              <a:rPr lang="en-US" sz="2300" dirty="0">
                <a:latin typeface="Times New Roman" pitchFamily="18" charset="0"/>
                <a:cs typeface="Times New Roman" pitchFamily="18" charset="0"/>
              </a:rPr>
              <a:t>Consequently x</a:t>
            </a:r>
            <a:r>
              <a:rPr lang="en-US" sz="2300" baseline="30000" dirty="0">
                <a:latin typeface="Times New Roman" pitchFamily="18" charset="0"/>
                <a:cs typeface="Times New Roman" pitchFamily="18" charset="0"/>
              </a:rPr>
              <a:t>2</a:t>
            </a:r>
            <a:r>
              <a:rPr lang="en-US" sz="2300" dirty="0">
                <a:latin typeface="Times New Roman" pitchFamily="18" charset="0"/>
                <a:cs typeface="Times New Roman" pitchFamily="18" charset="0"/>
              </a:rPr>
              <a:t> − 6x + 5 is odd.</a:t>
            </a:r>
          </a:p>
          <a:p>
            <a:r>
              <a:rPr lang="en-US" sz="2300" dirty="0">
                <a:latin typeface="Times New Roman" pitchFamily="18" charset="0"/>
                <a:cs typeface="Times New Roman" pitchFamily="18" charset="0"/>
              </a:rPr>
              <a:t>Therefore x</a:t>
            </a:r>
            <a:r>
              <a:rPr lang="en-US" sz="2300" baseline="30000" dirty="0">
                <a:latin typeface="Times New Roman" pitchFamily="18" charset="0"/>
                <a:cs typeface="Times New Roman" pitchFamily="18" charset="0"/>
              </a:rPr>
              <a:t>2</a:t>
            </a:r>
            <a:r>
              <a:rPr lang="en-US" sz="2300" dirty="0">
                <a:latin typeface="Times New Roman" pitchFamily="18" charset="0"/>
                <a:cs typeface="Times New Roman" pitchFamily="18" charset="0"/>
              </a:rPr>
              <a:t> − 6x + 5 is not even.</a:t>
            </a:r>
          </a:p>
        </p:txBody>
      </p:sp>
    </p:spTree>
    <p:extLst>
      <p:ext uri="{BB962C8B-B14F-4D97-AF65-F5344CB8AC3E}">
        <p14:creationId xmlns:p14="http://schemas.microsoft.com/office/powerpoint/2010/main" val="4182184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Counter Example</a:t>
            </a:r>
          </a:p>
        </p:txBody>
      </p:sp>
      <p:sp>
        <p:nvSpPr>
          <p:cNvPr id="3" name="Content Placeholder 2"/>
          <p:cNvSpPr>
            <a:spLocks noGrp="1"/>
          </p:cNvSpPr>
          <p:nvPr>
            <p:ph sz="quarter" idx="1"/>
          </p:nvPr>
        </p:nvSpPr>
        <p:spPr/>
        <p:txBody>
          <a:bodyPr>
            <a:normAutofit/>
          </a:bodyPr>
          <a:lstStyle/>
          <a:p>
            <a:pPr algn="just"/>
            <a:r>
              <a:rPr lang="en-IN" sz="2400" dirty="0">
                <a:latin typeface="Times New Roman" panose="02020603050405020304" pitchFamily="18" charset="0"/>
                <a:cs typeface="Times New Roman" panose="02020603050405020304" pitchFamily="18" charset="0"/>
              </a:rPr>
              <a:t>To prove theorem itself is true or false.</a:t>
            </a:r>
          </a:p>
          <a:p>
            <a:pPr algn="just"/>
            <a:r>
              <a:rPr lang="en-IN" sz="2400" dirty="0">
                <a:latin typeface="Times New Roman" panose="02020603050405020304" pitchFamily="18" charset="0"/>
                <a:cs typeface="Times New Roman" panose="02020603050405020304" pitchFamily="18" charset="0"/>
              </a:rPr>
              <a:t>To solve this problem, we try to prove the theorem else if we are unable to prove the theorem then try to prove the statement is false.</a:t>
            </a:r>
          </a:p>
          <a:p>
            <a:pPr algn="just"/>
            <a:r>
              <a:rPr lang="en-IN" sz="2400" dirty="0">
                <a:latin typeface="Times New Roman" panose="02020603050405020304" pitchFamily="18" charset="0"/>
                <a:cs typeface="Times New Roman" panose="02020603050405020304" pitchFamily="18" charset="0"/>
              </a:rPr>
              <a:t>It is easy to prove that a statement is not a theorem than to prove it is a theorem. </a:t>
            </a:r>
          </a:p>
        </p:txBody>
      </p:sp>
    </p:spTree>
    <p:extLst>
      <p:ext uri="{BB962C8B-B14F-4D97-AF65-F5344CB8AC3E}">
        <p14:creationId xmlns:p14="http://schemas.microsoft.com/office/powerpoint/2010/main" val="26787626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476672"/>
            <a:ext cx="7772400" cy="6048672"/>
          </a:xfrm>
        </p:spPr>
        <p:txBody>
          <a:bodyPr>
            <a:noAutofit/>
          </a:bodyPr>
          <a:lstStyle/>
          <a:p>
            <a:pPr algn="just"/>
            <a:r>
              <a:rPr lang="en-US" sz="2200" b="1" dirty="0">
                <a:solidFill>
                  <a:srgbClr val="FF0000"/>
                </a:solidFill>
                <a:latin typeface="Times New Roman" pitchFamily="18" charset="0"/>
                <a:cs typeface="Times New Roman" pitchFamily="18" charset="0"/>
              </a:rPr>
              <a:t>Consider the statement, "All even numbers are multiples of ‍4." What are two counterexamples that show that the statement is false?</a:t>
            </a:r>
          </a:p>
          <a:p>
            <a:pPr algn="just"/>
            <a:r>
              <a:rPr lang="en-US" sz="2200" dirty="0">
                <a:latin typeface="Times New Roman" pitchFamily="18" charset="0"/>
                <a:cs typeface="Times New Roman" pitchFamily="18" charset="0"/>
              </a:rPr>
              <a:t>We need to find two numbers that satisfy the condition of the statement, but not its conclusion. </a:t>
            </a:r>
          </a:p>
          <a:p>
            <a:pPr algn="just"/>
            <a:r>
              <a:rPr lang="en-US" sz="2200" dirty="0">
                <a:latin typeface="Times New Roman" pitchFamily="18" charset="0"/>
                <a:cs typeface="Times New Roman" pitchFamily="18" charset="0"/>
              </a:rPr>
              <a:t>Condition: </a:t>
            </a:r>
            <a:r>
              <a:rPr lang="en-US" sz="2200" i="1" dirty="0">
                <a:latin typeface="Times New Roman" pitchFamily="18" charset="0"/>
                <a:cs typeface="Times New Roman" pitchFamily="18" charset="0"/>
              </a:rPr>
              <a:t>is an even number</a:t>
            </a: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Conclusion: </a:t>
            </a:r>
            <a:r>
              <a:rPr lang="en-US" sz="2200" i="1" dirty="0">
                <a:latin typeface="Times New Roman" pitchFamily="18" charset="0"/>
                <a:cs typeface="Times New Roman" pitchFamily="18" charset="0"/>
              </a:rPr>
              <a:t>is a multiple of  4</a:t>
            </a: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Let's consider some example numbers that satisfy the condition: ‍2, 4 , 6, and 8.</a:t>
            </a:r>
          </a:p>
          <a:p>
            <a:pPr algn="just"/>
            <a:r>
              <a:rPr lang="en-US" sz="2200" dirty="0">
                <a:latin typeface="Times New Roman" pitchFamily="18" charset="0"/>
                <a:cs typeface="Times New Roman" pitchFamily="18" charset="0"/>
              </a:rPr>
              <a:t>Next, let's check to see if any aren't multiples of </a:t>
            </a:r>
          </a:p>
          <a:p>
            <a:pPr algn="just"/>
            <a:r>
              <a:rPr lang="en-US" sz="2200" dirty="0">
                <a:latin typeface="Times New Roman" pitchFamily="18" charset="0"/>
                <a:cs typeface="Times New Roman" pitchFamily="18" charset="0"/>
              </a:rPr>
              <a:t> 2/4 = 0.5, 4/4= 1, 6/4= 1.5 and 8/4=2</a:t>
            </a:r>
          </a:p>
          <a:p>
            <a:pPr algn="just"/>
            <a:r>
              <a:rPr lang="en-US" sz="2200" dirty="0">
                <a:latin typeface="Times New Roman" pitchFamily="18" charset="0"/>
                <a:cs typeface="Times New Roman" pitchFamily="18" charset="0"/>
              </a:rPr>
              <a:t>‍2 and 6‍ do not divide evenly by ‍4, so these are numbers for which the statement's conclusion isn't true. </a:t>
            </a:r>
          </a:p>
          <a:p>
            <a:pPr algn="just"/>
            <a:r>
              <a:rPr lang="en-US" sz="2200" dirty="0">
                <a:latin typeface="Times New Roman" pitchFamily="18" charset="0"/>
                <a:cs typeface="Times New Roman" pitchFamily="18" charset="0"/>
              </a:rPr>
              <a:t>2 and ‍6 are counter examples that show the statement is false.</a:t>
            </a:r>
          </a:p>
        </p:txBody>
      </p:sp>
    </p:spTree>
    <p:extLst>
      <p:ext uri="{BB962C8B-B14F-4D97-AF65-F5344CB8AC3E}">
        <p14:creationId xmlns:p14="http://schemas.microsoft.com/office/powerpoint/2010/main" val="3935520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Inductive Proofs</a:t>
            </a:r>
          </a:p>
        </p:txBody>
      </p:sp>
      <p:sp>
        <p:nvSpPr>
          <p:cNvPr id="3" name="Content Placeholder 2"/>
          <p:cNvSpPr>
            <a:spLocks noGrp="1"/>
          </p:cNvSpPr>
          <p:nvPr>
            <p:ph sz="quarter" idx="1"/>
          </p:nvPr>
        </p:nvSpPr>
        <p:spPr/>
        <p:txBody>
          <a:bodyPr>
            <a:normAutofit/>
          </a:bodyPr>
          <a:lstStyle/>
          <a:p>
            <a:pPr algn="just"/>
            <a:r>
              <a:rPr lang="en-US" sz="2300" dirty="0">
                <a:latin typeface="Times New Roman" panose="02020603050405020304" pitchFamily="18" charset="0"/>
                <a:cs typeface="Times New Roman" panose="02020603050405020304" pitchFamily="18" charset="0"/>
              </a:rPr>
              <a:t>Deals with recursively defined objects like trees and expressions of various kinds such as regular expression</a:t>
            </a:r>
          </a:p>
          <a:p>
            <a:pPr algn="just"/>
            <a:r>
              <a:rPr lang="en-US" sz="2300" dirty="0">
                <a:latin typeface="Times New Roman" panose="02020603050405020304" pitchFamily="18" charset="0"/>
                <a:cs typeface="Times New Roman" panose="02020603050405020304" pitchFamily="18" charset="0"/>
              </a:rPr>
              <a:t>Inductive proof includes the following:</a:t>
            </a:r>
          </a:p>
          <a:p>
            <a:pPr lvl="1" algn="just"/>
            <a:r>
              <a:rPr lang="en-US" sz="2300" dirty="0">
                <a:solidFill>
                  <a:srgbClr val="FF0000"/>
                </a:solidFill>
                <a:latin typeface="Times New Roman" panose="02020603050405020304" pitchFamily="18" charset="0"/>
                <a:cs typeface="Times New Roman" panose="02020603050405020304" pitchFamily="18" charset="0"/>
              </a:rPr>
              <a:t>Induction on Integers</a:t>
            </a:r>
          </a:p>
          <a:p>
            <a:pPr lvl="1" algn="just"/>
            <a:r>
              <a:rPr lang="en-US" sz="2300" dirty="0">
                <a:solidFill>
                  <a:srgbClr val="FF0000"/>
                </a:solidFill>
                <a:latin typeface="Times New Roman" panose="02020603050405020304" pitchFamily="18" charset="0"/>
                <a:cs typeface="Times New Roman" panose="02020603050405020304" pitchFamily="18" charset="0"/>
              </a:rPr>
              <a:t>Structural Induction</a:t>
            </a:r>
          </a:p>
          <a:p>
            <a:pPr lvl="1" algn="just"/>
            <a:r>
              <a:rPr lang="en-US" sz="2300" dirty="0">
                <a:solidFill>
                  <a:srgbClr val="FF0000"/>
                </a:solidFill>
                <a:latin typeface="Times New Roman" panose="02020603050405020304" pitchFamily="18" charset="0"/>
                <a:cs typeface="Times New Roman" panose="02020603050405020304" pitchFamily="18" charset="0"/>
              </a:rPr>
              <a:t>Mutual Induction</a:t>
            </a:r>
          </a:p>
          <a:p>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7654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 Induction on Integers</a:t>
            </a:r>
          </a:p>
        </p:txBody>
      </p:sp>
      <p:sp>
        <p:nvSpPr>
          <p:cNvPr id="3" name="Content Placeholder 2"/>
          <p:cNvSpPr>
            <a:spLocks noGrp="1"/>
          </p:cNvSpPr>
          <p:nvPr>
            <p:ph sz="quarter" idx="1"/>
          </p:nvPr>
        </p:nvSpPr>
        <p:spPr/>
        <p:txBody>
          <a:bodyPr>
            <a:normAutofit/>
          </a:bodyPr>
          <a:lstStyle/>
          <a:p>
            <a:pPr algn="just"/>
            <a:r>
              <a:rPr lang="en-US" sz="2300" dirty="0">
                <a:latin typeface="Times New Roman" panose="02020603050405020304" pitchFamily="18" charset="0"/>
                <a:cs typeface="Times New Roman" panose="02020603050405020304" pitchFamily="18" charset="0"/>
              </a:rPr>
              <a:t>Suppose we are given a statement S(n) about an integer n to prove. One common approach is to prove two things:</a:t>
            </a:r>
          </a:p>
          <a:p>
            <a:pPr lvl="1" algn="just"/>
            <a:r>
              <a:rPr lang="en-US" sz="2300" dirty="0">
                <a:latin typeface="Times New Roman" panose="02020603050405020304" pitchFamily="18" charset="0"/>
                <a:cs typeface="Times New Roman" panose="02020603050405020304" pitchFamily="18" charset="0"/>
              </a:rPr>
              <a:t>The basis where we show S(</a:t>
            </a:r>
            <a:r>
              <a:rPr lang="en-US" sz="2300" dirty="0" err="1">
                <a:latin typeface="Times New Roman" panose="02020603050405020304" pitchFamily="18" charset="0"/>
                <a:cs typeface="Times New Roman" panose="02020603050405020304" pitchFamily="18" charset="0"/>
              </a:rPr>
              <a:t>i</a:t>
            </a:r>
            <a:r>
              <a:rPr lang="en-US" sz="2300" dirty="0">
                <a:latin typeface="Times New Roman" panose="02020603050405020304" pitchFamily="18" charset="0"/>
                <a:cs typeface="Times New Roman" panose="02020603050405020304" pitchFamily="18" charset="0"/>
              </a:rPr>
              <a:t>) for a particular integer </a:t>
            </a:r>
            <a:r>
              <a:rPr lang="en-US" sz="2300" dirty="0" err="1">
                <a:latin typeface="Times New Roman" panose="02020603050405020304" pitchFamily="18" charset="0"/>
                <a:cs typeface="Times New Roman" panose="02020603050405020304" pitchFamily="18" charset="0"/>
              </a:rPr>
              <a:t>i</a:t>
            </a:r>
            <a:r>
              <a:rPr lang="en-US" sz="2300" dirty="0">
                <a:latin typeface="Times New Roman" panose="02020603050405020304" pitchFamily="18" charset="0"/>
                <a:cs typeface="Times New Roman" panose="02020603050405020304" pitchFamily="18" charset="0"/>
              </a:rPr>
              <a:t> Usually </a:t>
            </a:r>
            <a:r>
              <a:rPr lang="en-US" sz="2300" dirty="0" err="1">
                <a:latin typeface="Times New Roman" panose="02020603050405020304" pitchFamily="18" charset="0"/>
                <a:cs typeface="Times New Roman" panose="02020603050405020304" pitchFamily="18" charset="0"/>
              </a:rPr>
              <a:t>i</a:t>
            </a:r>
            <a:r>
              <a:rPr lang="en-US" sz="2300" dirty="0">
                <a:latin typeface="Times New Roman" panose="02020603050405020304" pitchFamily="18" charset="0"/>
                <a:cs typeface="Times New Roman" panose="02020603050405020304" pitchFamily="18" charset="0"/>
              </a:rPr>
              <a:t> =0 or </a:t>
            </a:r>
            <a:r>
              <a:rPr lang="en-US" sz="2300" dirty="0" err="1">
                <a:latin typeface="Times New Roman" panose="02020603050405020304" pitchFamily="18" charset="0"/>
                <a:cs typeface="Times New Roman" panose="02020603050405020304" pitchFamily="18" charset="0"/>
              </a:rPr>
              <a:t>i</a:t>
            </a:r>
            <a:r>
              <a:rPr lang="en-US" sz="2300" dirty="0">
                <a:latin typeface="Times New Roman" panose="02020603050405020304" pitchFamily="18" charset="0"/>
                <a:cs typeface="Times New Roman" panose="02020603050405020304" pitchFamily="18" charset="0"/>
              </a:rPr>
              <a:t> =1 but there are examples where we want to start at some higher </a:t>
            </a:r>
            <a:r>
              <a:rPr lang="en-US" sz="2300" dirty="0" err="1">
                <a:latin typeface="Times New Roman" panose="02020603050405020304" pitchFamily="18" charset="0"/>
                <a:cs typeface="Times New Roman" panose="02020603050405020304" pitchFamily="18" charset="0"/>
              </a:rPr>
              <a:t>i</a:t>
            </a:r>
            <a:r>
              <a:rPr lang="en-US" sz="2300" dirty="0">
                <a:latin typeface="Times New Roman" panose="02020603050405020304" pitchFamily="18" charset="0"/>
                <a:cs typeface="Times New Roman" panose="02020603050405020304" pitchFamily="18" charset="0"/>
              </a:rPr>
              <a:t> perhaps because the statement S is false for a few small integers</a:t>
            </a:r>
          </a:p>
          <a:p>
            <a:pPr lvl="1" algn="just"/>
            <a:r>
              <a:rPr lang="en-US" sz="2300" dirty="0">
                <a:latin typeface="Times New Roman" panose="02020603050405020304" pitchFamily="18" charset="0"/>
                <a:cs typeface="Times New Roman" panose="02020603050405020304" pitchFamily="18" charset="0"/>
              </a:rPr>
              <a:t>The inductive step where we assume n &gt;= </a:t>
            </a:r>
            <a:r>
              <a:rPr lang="en-US" sz="2300" dirty="0" err="1">
                <a:latin typeface="Times New Roman" panose="02020603050405020304" pitchFamily="18" charset="0"/>
                <a:cs typeface="Times New Roman" panose="02020603050405020304" pitchFamily="18" charset="0"/>
              </a:rPr>
              <a:t>i</a:t>
            </a:r>
            <a:r>
              <a:rPr lang="en-US" sz="2300" dirty="0">
                <a:latin typeface="Times New Roman" panose="02020603050405020304" pitchFamily="18" charset="0"/>
                <a:cs typeface="Times New Roman" panose="02020603050405020304" pitchFamily="18" charset="0"/>
              </a:rPr>
              <a:t> where </a:t>
            </a:r>
            <a:r>
              <a:rPr lang="en-US" sz="2300" dirty="0" err="1">
                <a:latin typeface="Times New Roman" panose="02020603050405020304" pitchFamily="18" charset="0"/>
                <a:cs typeface="Times New Roman" panose="02020603050405020304" pitchFamily="18" charset="0"/>
              </a:rPr>
              <a:t>i</a:t>
            </a:r>
            <a:r>
              <a:rPr lang="en-US" sz="2300" dirty="0">
                <a:latin typeface="Times New Roman" panose="02020603050405020304" pitchFamily="18" charset="0"/>
                <a:cs typeface="Times New Roman" panose="02020603050405020304" pitchFamily="18" charset="0"/>
              </a:rPr>
              <a:t> is the basis integer and we show that “if S(n) then S(n +1)</a:t>
            </a:r>
          </a:p>
          <a:p>
            <a:pPr algn="just"/>
            <a:r>
              <a:rPr lang="en-US" sz="2300" dirty="0">
                <a:latin typeface="Times New Roman" panose="02020603050405020304" pitchFamily="18" charset="0"/>
                <a:cs typeface="Times New Roman" panose="02020603050405020304" pitchFamily="18" charset="0"/>
              </a:rPr>
              <a:t>The Induction Principle:  If we prove S(</a:t>
            </a:r>
            <a:r>
              <a:rPr lang="en-US" sz="2300" dirty="0" err="1">
                <a:latin typeface="Times New Roman" panose="02020603050405020304" pitchFamily="18" charset="0"/>
                <a:cs typeface="Times New Roman" panose="02020603050405020304" pitchFamily="18" charset="0"/>
              </a:rPr>
              <a:t>i</a:t>
            </a:r>
            <a:r>
              <a:rPr lang="en-US" sz="2300" dirty="0">
                <a:latin typeface="Times New Roman" panose="02020603050405020304" pitchFamily="18" charset="0"/>
                <a:cs typeface="Times New Roman" panose="02020603050405020304" pitchFamily="18" charset="0"/>
              </a:rPr>
              <a:t>) and we prove that for all n &gt;=</a:t>
            </a:r>
            <a:r>
              <a:rPr lang="en-US" sz="2300" dirty="0" err="1">
                <a:latin typeface="Times New Roman" panose="02020603050405020304" pitchFamily="18" charset="0"/>
                <a:cs typeface="Times New Roman" panose="02020603050405020304" pitchFamily="18" charset="0"/>
              </a:rPr>
              <a:t>i</a:t>
            </a:r>
            <a:r>
              <a:rPr lang="en-US" sz="2300" dirty="0">
                <a:latin typeface="Times New Roman" panose="02020603050405020304" pitchFamily="18" charset="0"/>
                <a:cs typeface="Times New Roman" panose="02020603050405020304" pitchFamily="18" charset="0"/>
              </a:rPr>
              <a:t>, S(n) implies S(n+1) then we may conclude S(n) for all n &gt;= </a:t>
            </a:r>
            <a:r>
              <a:rPr lang="en-US" sz="2300" dirty="0" err="1">
                <a:latin typeface="Times New Roman" panose="02020603050405020304" pitchFamily="18" charset="0"/>
                <a:cs typeface="Times New Roman" panose="02020603050405020304" pitchFamily="18" charset="0"/>
              </a:rPr>
              <a:t>i</a:t>
            </a:r>
            <a:r>
              <a:rPr lang="en-US" sz="2300" dirty="0">
                <a:latin typeface="Times New Roman" panose="02020603050405020304" pitchFamily="18" charset="0"/>
                <a:cs typeface="Times New Roman" panose="02020603050405020304" pitchFamily="18" charset="0"/>
              </a:rPr>
              <a:t>. </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12907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Prove the induction</a:t>
            </a:r>
          </a:p>
        </p:txBody>
      </p:sp>
      <p:sp>
        <p:nvSpPr>
          <p:cNvPr id="3" name="Content Placeholder 2"/>
          <p:cNvSpPr>
            <a:spLocks noGrp="1"/>
          </p:cNvSpPr>
          <p:nvPr>
            <p:ph sz="quarter" idx="1"/>
          </p:nvPr>
        </p:nvSpPr>
        <p:spPr>
          <a:xfrm>
            <a:off x="914400" y="1447800"/>
            <a:ext cx="7772400" cy="4789512"/>
          </a:xfrm>
        </p:spPr>
        <p:txBody>
          <a:bodyPr>
            <a:normAutofit/>
          </a:bodyPr>
          <a:lstStyle/>
          <a:p>
            <a:r>
              <a:rPr lang="en-IN" dirty="0">
                <a:latin typeface="Times New Roman" panose="02020603050405020304" pitchFamily="18" charset="0"/>
                <a:cs typeface="Times New Roman" panose="02020603050405020304" pitchFamily="18" charset="0"/>
              </a:rPr>
              <a:t>Prove the following by induction for all n&gt;=0.</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proof is in two parts the basis and the inductive step we prove each in turn.</a:t>
            </a:r>
          </a:p>
          <a:p>
            <a:r>
              <a:rPr lang="en-US" dirty="0">
                <a:latin typeface="Times New Roman" panose="02020603050405020304" pitchFamily="18" charset="0"/>
                <a:cs typeface="Times New Roman" panose="02020603050405020304" pitchFamily="18" charset="0"/>
              </a:rPr>
              <a:t>Basis: </a:t>
            </a:r>
          </a:p>
          <a:p>
            <a:r>
              <a:rPr lang="en-US" dirty="0">
                <a:latin typeface="Times New Roman" panose="02020603050405020304" pitchFamily="18" charset="0"/>
                <a:cs typeface="Times New Roman" panose="02020603050405020304" pitchFamily="18" charset="0"/>
              </a:rPr>
              <a:t>Let n= 0, then </a:t>
            </a:r>
          </a:p>
          <a:p>
            <a:pPr marL="0" indent="0">
              <a:buNone/>
            </a:pPr>
            <a:r>
              <a:rPr lang="en-US" dirty="0">
                <a:latin typeface="Times New Roman" panose="02020603050405020304" pitchFamily="18" charset="0"/>
                <a:cs typeface="Times New Roman" panose="02020603050405020304" pitchFamily="18" charset="0"/>
              </a:rPr>
              <a:t>                              = 0 x (0+1) x (2x0 + 1) = 0</a:t>
            </a:r>
          </a:p>
          <a:p>
            <a:pPr marL="0" indent="0">
              <a:buNone/>
            </a:pPr>
            <a:r>
              <a:rPr lang="en-US" dirty="0">
                <a:latin typeface="Times New Roman" panose="02020603050405020304" pitchFamily="18" charset="0"/>
                <a:cs typeface="Times New Roman" panose="02020603050405020304" pitchFamily="18" charset="0"/>
              </a:rPr>
              <a:t>=&gt; 0 = 0</a:t>
            </a:r>
            <a:endParaRPr lang="en-IN"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2060848"/>
            <a:ext cx="5544616" cy="1224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8952" y="4581128"/>
            <a:ext cx="1287064" cy="6480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2855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611560" y="404664"/>
            <a:ext cx="8280920" cy="5976664"/>
          </a:xfrm>
        </p:spPr>
        <p:txBody>
          <a:bodyPr>
            <a:normAutofit/>
          </a:bodyPr>
          <a:lstStyle/>
          <a:p>
            <a:r>
              <a:rPr lang="en-IN" sz="2300" dirty="0">
                <a:latin typeface="Times New Roman" panose="02020603050405020304" pitchFamily="18" charset="0"/>
                <a:cs typeface="Times New Roman" panose="02020603050405020304" pitchFamily="18" charset="0"/>
              </a:rPr>
              <a:t>Let n=1, then</a:t>
            </a:r>
          </a:p>
          <a:p>
            <a:r>
              <a:rPr lang="en-IN" sz="2300" dirty="0">
                <a:latin typeface="Times New Roman" panose="02020603050405020304" pitchFamily="18" charset="0"/>
                <a:cs typeface="Times New Roman" panose="02020603050405020304" pitchFamily="18" charset="0"/>
              </a:rPr>
              <a:t>1</a:t>
            </a:r>
            <a:r>
              <a:rPr lang="en-IN" sz="2300" baseline="30000" dirty="0">
                <a:latin typeface="Times New Roman" panose="02020603050405020304" pitchFamily="18" charset="0"/>
                <a:cs typeface="Times New Roman" panose="02020603050405020304" pitchFamily="18" charset="0"/>
              </a:rPr>
              <a:t>2</a:t>
            </a:r>
            <a:r>
              <a:rPr lang="en-IN" sz="2300" dirty="0">
                <a:latin typeface="Times New Roman" panose="02020603050405020304" pitchFamily="18" charset="0"/>
                <a:cs typeface="Times New Roman" panose="02020603050405020304" pitchFamily="18" charset="0"/>
              </a:rPr>
              <a:t> = 1 x (1 +1) x (2 x 1 + 1)/6 = 6/ 6 =1</a:t>
            </a:r>
          </a:p>
          <a:p>
            <a:r>
              <a:rPr lang="en-IN" sz="2300" dirty="0">
                <a:latin typeface="Times New Roman" panose="02020603050405020304" pitchFamily="18" charset="0"/>
                <a:cs typeface="Times New Roman" panose="02020603050405020304" pitchFamily="18" charset="0"/>
              </a:rPr>
              <a:t>=&gt; 1=1</a:t>
            </a:r>
          </a:p>
          <a:p>
            <a:r>
              <a:rPr lang="en-IN" sz="2300" dirty="0">
                <a:latin typeface="Times New Roman" panose="02020603050405020304" pitchFamily="18" charset="0"/>
                <a:cs typeface="Times New Roman" panose="02020603050405020304" pitchFamily="18" charset="0"/>
              </a:rPr>
              <a:t>Similarly Let n=2, then</a:t>
            </a:r>
          </a:p>
          <a:p>
            <a:r>
              <a:rPr lang="en-IN" sz="2300" dirty="0">
                <a:latin typeface="Times New Roman" panose="02020603050405020304" pitchFamily="18" charset="0"/>
                <a:cs typeface="Times New Roman" panose="02020603050405020304" pitchFamily="18" charset="0"/>
              </a:rPr>
              <a:t>1</a:t>
            </a:r>
            <a:r>
              <a:rPr lang="en-IN" sz="2300" baseline="30000" dirty="0">
                <a:latin typeface="Times New Roman" panose="02020603050405020304" pitchFamily="18" charset="0"/>
                <a:cs typeface="Times New Roman" panose="02020603050405020304" pitchFamily="18" charset="0"/>
              </a:rPr>
              <a:t>2 </a:t>
            </a:r>
            <a:r>
              <a:rPr lang="en-IN" sz="2300" dirty="0">
                <a:latin typeface="Times New Roman" panose="02020603050405020304" pitchFamily="18" charset="0"/>
                <a:cs typeface="Times New Roman" panose="02020603050405020304" pitchFamily="18" charset="0"/>
              </a:rPr>
              <a:t>+</a:t>
            </a:r>
            <a:r>
              <a:rPr lang="en-IN" sz="2300" baseline="30000" dirty="0">
                <a:latin typeface="Times New Roman" panose="02020603050405020304" pitchFamily="18" charset="0"/>
                <a:cs typeface="Times New Roman" panose="02020603050405020304" pitchFamily="18" charset="0"/>
              </a:rPr>
              <a:t> </a:t>
            </a:r>
            <a:r>
              <a:rPr lang="en-IN" sz="2300" dirty="0">
                <a:latin typeface="Times New Roman" panose="02020603050405020304" pitchFamily="18" charset="0"/>
                <a:cs typeface="Times New Roman" panose="02020603050405020304" pitchFamily="18" charset="0"/>
              </a:rPr>
              <a:t>2</a:t>
            </a:r>
            <a:r>
              <a:rPr lang="en-IN" sz="2300" baseline="30000" dirty="0">
                <a:latin typeface="Times New Roman" panose="02020603050405020304" pitchFamily="18" charset="0"/>
                <a:cs typeface="Times New Roman" panose="02020603050405020304" pitchFamily="18" charset="0"/>
              </a:rPr>
              <a:t>2</a:t>
            </a:r>
            <a:r>
              <a:rPr lang="en-IN" sz="2300" dirty="0">
                <a:latin typeface="Times New Roman" panose="02020603050405020304" pitchFamily="18" charset="0"/>
                <a:cs typeface="Times New Roman" panose="02020603050405020304" pitchFamily="18" charset="0"/>
              </a:rPr>
              <a:t> = 2 x (2 +1) x (2 x 2 + 1)/6 = 30/ 6 =5</a:t>
            </a:r>
          </a:p>
          <a:p>
            <a:r>
              <a:rPr lang="en-IN" sz="2300" dirty="0">
                <a:latin typeface="Times New Roman" panose="02020603050405020304" pitchFamily="18" charset="0"/>
                <a:cs typeface="Times New Roman" panose="02020603050405020304" pitchFamily="18" charset="0"/>
              </a:rPr>
              <a:t>=&gt; 5=5</a:t>
            </a:r>
          </a:p>
          <a:p>
            <a:endParaRPr lang="en-IN" sz="2300" baseline="30000" dirty="0">
              <a:latin typeface="Times New Roman" panose="02020603050405020304" pitchFamily="18" charset="0"/>
              <a:cs typeface="Times New Roman" panose="02020603050405020304" pitchFamily="18" charset="0"/>
            </a:endParaRPr>
          </a:p>
          <a:p>
            <a:r>
              <a:rPr lang="en-IN" sz="2300" dirty="0">
                <a:latin typeface="Times New Roman" panose="02020603050405020304" pitchFamily="18" charset="0"/>
                <a:cs typeface="Times New Roman" panose="02020603050405020304" pitchFamily="18" charset="0"/>
              </a:rPr>
              <a:t>Induction: </a:t>
            </a:r>
          </a:p>
          <a:p>
            <a:r>
              <a:rPr lang="en-IN" sz="2300" dirty="0">
                <a:latin typeface="Times New Roman" panose="02020603050405020304" pitchFamily="18" charset="0"/>
                <a:cs typeface="Times New Roman" panose="02020603050405020304" pitchFamily="18" charset="0"/>
              </a:rPr>
              <a:t>S(n) = 1</a:t>
            </a:r>
            <a:r>
              <a:rPr lang="en-IN" sz="2300" baseline="30000" dirty="0">
                <a:latin typeface="Times New Roman" panose="02020603050405020304" pitchFamily="18" charset="0"/>
                <a:cs typeface="Times New Roman" panose="02020603050405020304" pitchFamily="18" charset="0"/>
              </a:rPr>
              <a:t>2</a:t>
            </a:r>
            <a:r>
              <a:rPr lang="en-IN" sz="2300" dirty="0">
                <a:latin typeface="Times New Roman" panose="02020603050405020304" pitchFamily="18" charset="0"/>
                <a:cs typeface="Times New Roman" panose="02020603050405020304" pitchFamily="18" charset="0"/>
              </a:rPr>
              <a:t> + 2</a:t>
            </a:r>
            <a:r>
              <a:rPr lang="en-IN" sz="2300" baseline="30000" dirty="0">
                <a:latin typeface="Times New Roman" panose="02020603050405020304" pitchFamily="18" charset="0"/>
                <a:cs typeface="Times New Roman" panose="02020603050405020304" pitchFamily="18" charset="0"/>
              </a:rPr>
              <a:t>2 </a:t>
            </a:r>
            <a:r>
              <a:rPr lang="en-IN" sz="2300" dirty="0">
                <a:latin typeface="Times New Roman" panose="02020603050405020304" pitchFamily="18" charset="0"/>
                <a:cs typeface="Times New Roman" panose="02020603050405020304" pitchFamily="18" charset="0"/>
              </a:rPr>
              <a:t>+3</a:t>
            </a:r>
            <a:r>
              <a:rPr lang="en-IN" sz="2300" baseline="30000" dirty="0">
                <a:latin typeface="Times New Roman" panose="02020603050405020304" pitchFamily="18" charset="0"/>
                <a:cs typeface="Times New Roman" panose="02020603050405020304" pitchFamily="18" charset="0"/>
              </a:rPr>
              <a:t>2 </a:t>
            </a:r>
            <a:r>
              <a:rPr lang="en-IN" sz="2300" dirty="0">
                <a:latin typeface="Times New Roman" panose="02020603050405020304" pitchFamily="18" charset="0"/>
                <a:cs typeface="Times New Roman" panose="02020603050405020304" pitchFamily="18" charset="0"/>
              </a:rPr>
              <a:t>+………+ n</a:t>
            </a:r>
            <a:r>
              <a:rPr lang="en-IN" sz="2300" baseline="30000" dirty="0">
                <a:latin typeface="Times New Roman" panose="02020603050405020304" pitchFamily="18" charset="0"/>
                <a:cs typeface="Times New Roman" panose="02020603050405020304" pitchFamily="18" charset="0"/>
              </a:rPr>
              <a:t>2 </a:t>
            </a:r>
            <a:r>
              <a:rPr lang="en-IN" sz="2300" dirty="0">
                <a:latin typeface="Times New Roman" panose="02020603050405020304" pitchFamily="18" charset="0"/>
                <a:cs typeface="Times New Roman" panose="02020603050405020304" pitchFamily="18" charset="0"/>
              </a:rPr>
              <a:t>= n(n+1)(2n+1)/6 is true for all n values. </a:t>
            </a:r>
          </a:p>
          <a:p>
            <a:r>
              <a:rPr lang="en-IN" sz="2300" dirty="0">
                <a:latin typeface="Times New Roman" panose="02020603050405020304" pitchFamily="18" charset="0"/>
                <a:cs typeface="Times New Roman" panose="02020603050405020304" pitchFamily="18" charset="0"/>
              </a:rPr>
              <a:t>S(n) is true for all n&gt;=</a:t>
            </a:r>
            <a:r>
              <a:rPr lang="en-IN" sz="2300" dirty="0" err="1">
                <a:latin typeface="Times New Roman" panose="02020603050405020304" pitchFamily="18" charset="0"/>
                <a:cs typeface="Times New Roman" panose="02020603050405020304" pitchFamily="18" charset="0"/>
              </a:rPr>
              <a:t>i</a:t>
            </a:r>
            <a:r>
              <a:rPr lang="en-IN" sz="2300" dirty="0">
                <a:latin typeface="Times New Roman" panose="02020603050405020304" pitchFamily="18" charset="0"/>
                <a:cs typeface="Times New Roman" panose="02020603050405020304" pitchFamily="18" charset="0"/>
              </a:rPr>
              <a:t>.</a:t>
            </a:r>
          </a:p>
          <a:p>
            <a:r>
              <a:rPr lang="en-IN" sz="2300" dirty="0">
                <a:latin typeface="Times New Roman" panose="02020603050405020304" pitchFamily="18" charset="0"/>
                <a:cs typeface="Times New Roman" panose="02020603050405020304" pitchFamily="18" charset="0"/>
              </a:rPr>
              <a:t>Now we have to prove S(n+1) is also true.</a:t>
            </a:r>
          </a:p>
          <a:p>
            <a:endParaRPr lang="en-IN" sz="2300" dirty="0">
              <a:latin typeface="Times New Roman" panose="02020603050405020304" pitchFamily="18" charset="0"/>
              <a:cs typeface="Times New Roman" panose="02020603050405020304" pitchFamily="18" charset="0"/>
            </a:endParaRPr>
          </a:p>
          <a:p>
            <a:r>
              <a:rPr lang="en-IN" sz="2300" b="1" dirty="0">
                <a:solidFill>
                  <a:srgbClr val="FF0000"/>
                </a:solidFill>
                <a:latin typeface="Times New Roman" panose="02020603050405020304" pitchFamily="18" charset="0"/>
                <a:cs typeface="Times New Roman" panose="02020603050405020304" pitchFamily="18" charset="0"/>
              </a:rPr>
              <a:t>S(n+1) = 1</a:t>
            </a:r>
            <a:r>
              <a:rPr lang="en-IN" sz="2300" b="1" baseline="30000" dirty="0">
                <a:solidFill>
                  <a:srgbClr val="FF0000"/>
                </a:solidFill>
                <a:latin typeface="Times New Roman" panose="02020603050405020304" pitchFamily="18" charset="0"/>
                <a:cs typeface="Times New Roman" panose="02020603050405020304" pitchFamily="18" charset="0"/>
              </a:rPr>
              <a:t>2</a:t>
            </a:r>
            <a:r>
              <a:rPr lang="en-IN" sz="2300" b="1" dirty="0">
                <a:solidFill>
                  <a:srgbClr val="FF0000"/>
                </a:solidFill>
                <a:latin typeface="Times New Roman" panose="02020603050405020304" pitchFamily="18" charset="0"/>
                <a:cs typeface="Times New Roman" panose="02020603050405020304" pitchFamily="18" charset="0"/>
              </a:rPr>
              <a:t> + 2</a:t>
            </a:r>
            <a:r>
              <a:rPr lang="en-IN" sz="2300" b="1" baseline="30000" dirty="0">
                <a:solidFill>
                  <a:srgbClr val="FF0000"/>
                </a:solidFill>
                <a:latin typeface="Times New Roman" panose="02020603050405020304" pitchFamily="18" charset="0"/>
                <a:cs typeface="Times New Roman" panose="02020603050405020304" pitchFamily="18" charset="0"/>
              </a:rPr>
              <a:t>2 </a:t>
            </a:r>
            <a:r>
              <a:rPr lang="en-IN" sz="2300" b="1" dirty="0">
                <a:solidFill>
                  <a:srgbClr val="FF0000"/>
                </a:solidFill>
                <a:latin typeface="Times New Roman" panose="02020603050405020304" pitchFamily="18" charset="0"/>
                <a:cs typeface="Times New Roman" panose="02020603050405020304" pitchFamily="18" charset="0"/>
              </a:rPr>
              <a:t>+3</a:t>
            </a:r>
            <a:r>
              <a:rPr lang="en-IN" sz="2300" b="1" baseline="30000" dirty="0">
                <a:solidFill>
                  <a:srgbClr val="FF0000"/>
                </a:solidFill>
                <a:latin typeface="Times New Roman" panose="02020603050405020304" pitchFamily="18" charset="0"/>
                <a:cs typeface="Times New Roman" panose="02020603050405020304" pitchFamily="18" charset="0"/>
              </a:rPr>
              <a:t>2 </a:t>
            </a:r>
            <a:r>
              <a:rPr lang="en-IN" sz="2300" b="1" dirty="0">
                <a:solidFill>
                  <a:srgbClr val="FF0000"/>
                </a:solidFill>
                <a:latin typeface="Times New Roman" panose="02020603050405020304" pitchFamily="18" charset="0"/>
                <a:cs typeface="Times New Roman" panose="02020603050405020304" pitchFamily="18" charset="0"/>
              </a:rPr>
              <a:t>+………+ (n+1)</a:t>
            </a:r>
            <a:r>
              <a:rPr lang="en-IN" sz="2300" b="1" baseline="30000" dirty="0">
                <a:solidFill>
                  <a:srgbClr val="FF0000"/>
                </a:solidFill>
                <a:latin typeface="Times New Roman" panose="02020603050405020304" pitchFamily="18" charset="0"/>
                <a:cs typeface="Times New Roman" panose="02020603050405020304" pitchFamily="18" charset="0"/>
              </a:rPr>
              <a:t>2  </a:t>
            </a:r>
            <a:r>
              <a:rPr lang="en-IN" sz="2300" b="1" dirty="0">
                <a:solidFill>
                  <a:srgbClr val="FF0000"/>
                </a:solidFill>
                <a:latin typeface="Times New Roman" panose="02020603050405020304" pitchFamily="18" charset="0"/>
                <a:cs typeface="Times New Roman" panose="02020603050405020304" pitchFamily="18" charset="0"/>
              </a:rPr>
              <a:t>=(n+1)(n+2)(2(n+1)+1)/6 </a:t>
            </a:r>
          </a:p>
        </p:txBody>
      </p:sp>
    </p:spTree>
    <p:extLst>
      <p:ext uri="{BB962C8B-B14F-4D97-AF65-F5344CB8AC3E}">
        <p14:creationId xmlns:p14="http://schemas.microsoft.com/office/powerpoint/2010/main" val="37550504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692696"/>
            <a:ext cx="7772400" cy="5327104"/>
          </a:xfrm>
        </p:spPr>
        <p:txBody>
          <a:bodyPr>
            <a:normAutofit/>
          </a:bodyPr>
          <a:lstStyle/>
          <a:p>
            <a:r>
              <a:rPr lang="en-IN" sz="2300" dirty="0">
                <a:latin typeface="Times New Roman" panose="02020603050405020304" pitchFamily="18" charset="0"/>
                <a:cs typeface="Times New Roman" panose="02020603050405020304" pitchFamily="18" charset="0"/>
              </a:rPr>
              <a:t>LHS: </a:t>
            </a:r>
          </a:p>
          <a:p>
            <a:r>
              <a:rPr lang="pt-BR" sz="2300" dirty="0">
                <a:latin typeface="Times New Roman" panose="02020603050405020304" pitchFamily="18" charset="0"/>
                <a:cs typeface="Times New Roman" panose="02020603050405020304" pitchFamily="18" charset="0"/>
              </a:rPr>
              <a:t>S(n+1) = 1</a:t>
            </a:r>
            <a:r>
              <a:rPr lang="pt-BR" sz="2300" baseline="30000" dirty="0">
                <a:latin typeface="Times New Roman" panose="02020603050405020304" pitchFamily="18" charset="0"/>
                <a:cs typeface="Times New Roman" panose="02020603050405020304" pitchFamily="18" charset="0"/>
              </a:rPr>
              <a:t>2</a:t>
            </a:r>
            <a:r>
              <a:rPr lang="pt-BR" sz="2300" dirty="0">
                <a:latin typeface="Times New Roman" panose="02020603050405020304" pitchFamily="18" charset="0"/>
                <a:cs typeface="Times New Roman" panose="02020603050405020304" pitchFamily="18" charset="0"/>
              </a:rPr>
              <a:t> + 2</a:t>
            </a:r>
            <a:r>
              <a:rPr lang="pt-BR" sz="2300" baseline="30000" dirty="0">
                <a:latin typeface="Times New Roman" panose="02020603050405020304" pitchFamily="18" charset="0"/>
                <a:cs typeface="Times New Roman" panose="02020603050405020304" pitchFamily="18" charset="0"/>
              </a:rPr>
              <a:t>2</a:t>
            </a:r>
            <a:r>
              <a:rPr lang="pt-BR" sz="2300" dirty="0">
                <a:latin typeface="Times New Roman" panose="02020603050405020304" pitchFamily="18" charset="0"/>
                <a:cs typeface="Times New Roman" panose="02020603050405020304" pitchFamily="18" charset="0"/>
              </a:rPr>
              <a:t> +3</a:t>
            </a:r>
            <a:r>
              <a:rPr lang="pt-BR" sz="2300" baseline="30000" dirty="0">
                <a:latin typeface="Times New Roman" panose="02020603050405020304" pitchFamily="18" charset="0"/>
                <a:cs typeface="Times New Roman" panose="02020603050405020304" pitchFamily="18" charset="0"/>
              </a:rPr>
              <a:t>2</a:t>
            </a:r>
            <a:r>
              <a:rPr lang="pt-BR" sz="2300" dirty="0">
                <a:latin typeface="Times New Roman" panose="02020603050405020304" pitchFamily="18" charset="0"/>
                <a:cs typeface="Times New Roman" panose="02020603050405020304" pitchFamily="18" charset="0"/>
              </a:rPr>
              <a:t> +………+ (n+1)</a:t>
            </a:r>
            <a:r>
              <a:rPr lang="pt-BR" sz="2300" baseline="30000" dirty="0">
                <a:latin typeface="Times New Roman" panose="02020603050405020304" pitchFamily="18" charset="0"/>
                <a:cs typeface="Times New Roman" panose="02020603050405020304" pitchFamily="18" charset="0"/>
              </a:rPr>
              <a:t>2</a:t>
            </a:r>
            <a:r>
              <a:rPr lang="pt-BR" sz="2300" dirty="0">
                <a:latin typeface="Times New Roman" panose="02020603050405020304" pitchFamily="18" charset="0"/>
                <a:cs typeface="Times New Roman" panose="02020603050405020304" pitchFamily="18" charset="0"/>
              </a:rPr>
              <a:t> </a:t>
            </a:r>
          </a:p>
          <a:p>
            <a:r>
              <a:rPr lang="pt-BR" sz="2300" dirty="0">
                <a:latin typeface="Times New Roman" panose="02020603050405020304" pitchFamily="18" charset="0"/>
                <a:cs typeface="Times New Roman" panose="02020603050405020304" pitchFamily="18" charset="0"/>
              </a:rPr>
              <a:t>= </a:t>
            </a:r>
            <a:r>
              <a:rPr lang="pt-BR" sz="2300" u="sng" dirty="0">
                <a:latin typeface="Times New Roman" panose="02020603050405020304" pitchFamily="18" charset="0"/>
                <a:cs typeface="Times New Roman" panose="02020603050405020304" pitchFamily="18" charset="0"/>
              </a:rPr>
              <a:t>1</a:t>
            </a:r>
            <a:r>
              <a:rPr lang="pt-BR" sz="2300" u="sng" baseline="30000" dirty="0">
                <a:latin typeface="Times New Roman" panose="02020603050405020304" pitchFamily="18" charset="0"/>
                <a:cs typeface="Times New Roman" panose="02020603050405020304" pitchFamily="18" charset="0"/>
              </a:rPr>
              <a:t>2</a:t>
            </a:r>
            <a:r>
              <a:rPr lang="pt-BR" sz="2300" u="sng" dirty="0">
                <a:latin typeface="Times New Roman" panose="02020603050405020304" pitchFamily="18" charset="0"/>
                <a:cs typeface="Times New Roman" panose="02020603050405020304" pitchFamily="18" charset="0"/>
              </a:rPr>
              <a:t> + 2</a:t>
            </a:r>
            <a:r>
              <a:rPr lang="pt-BR" sz="2300" u="sng" baseline="30000" dirty="0">
                <a:latin typeface="Times New Roman" panose="02020603050405020304" pitchFamily="18" charset="0"/>
                <a:cs typeface="Times New Roman" panose="02020603050405020304" pitchFamily="18" charset="0"/>
              </a:rPr>
              <a:t>2</a:t>
            </a:r>
            <a:r>
              <a:rPr lang="pt-BR" sz="2300" u="sng" dirty="0">
                <a:latin typeface="Times New Roman" panose="02020603050405020304" pitchFamily="18" charset="0"/>
                <a:cs typeface="Times New Roman" panose="02020603050405020304" pitchFamily="18" charset="0"/>
              </a:rPr>
              <a:t> +3</a:t>
            </a:r>
            <a:r>
              <a:rPr lang="pt-BR" sz="2300" u="sng" baseline="30000" dirty="0">
                <a:latin typeface="Times New Roman" panose="02020603050405020304" pitchFamily="18" charset="0"/>
                <a:cs typeface="Times New Roman" panose="02020603050405020304" pitchFamily="18" charset="0"/>
              </a:rPr>
              <a:t>2</a:t>
            </a:r>
            <a:r>
              <a:rPr lang="pt-BR" sz="2300" u="sng" dirty="0">
                <a:latin typeface="Times New Roman" panose="02020603050405020304" pitchFamily="18" charset="0"/>
                <a:cs typeface="Times New Roman" panose="02020603050405020304" pitchFamily="18" charset="0"/>
              </a:rPr>
              <a:t> +………n</a:t>
            </a:r>
            <a:r>
              <a:rPr lang="pt-BR" sz="2300" u="sng" baseline="30000" dirty="0">
                <a:latin typeface="Times New Roman" panose="02020603050405020304" pitchFamily="18" charset="0"/>
                <a:cs typeface="Times New Roman" panose="02020603050405020304" pitchFamily="18" charset="0"/>
              </a:rPr>
              <a:t>2</a:t>
            </a:r>
            <a:r>
              <a:rPr lang="pt-BR" sz="2300" dirty="0">
                <a:latin typeface="Times New Roman" panose="02020603050405020304" pitchFamily="18" charset="0"/>
                <a:cs typeface="Times New Roman" panose="02020603050405020304" pitchFamily="18" charset="0"/>
              </a:rPr>
              <a:t>+ (n+1)</a:t>
            </a:r>
            <a:r>
              <a:rPr lang="pt-BR" sz="2300" baseline="30000" dirty="0">
                <a:latin typeface="Times New Roman" panose="02020603050405020304" pitchFamily="18" charset="0"/>
                <a:cs typeface="Times New Roman" panose="02020603050405020304" pitchFamily="18" charset="0"/>
              </a:rPr>
              <a:t>2</a:t>
            </a:r>
            <a:r>
              <a:rPr lang="pt-BR" sz="2300" dirty="0">
                <a:latin typeface="Times New Roman" panose="02020603050405020304" pitchFamily="18" charset="0"/>
                <a:cs typeface="Times New Roman" panose="02020603050405020304" pitchFamily="18" charset="0"/>
              </a:rPr>
              <a:t> </a:t>
            </a:r>
          </a:p>
          <a:p>
            <a:r>
              <a:rPr lang="pt-BR" sz="2300" dirty="0">
                <a:latin typeface="Times New Roman" panose="02020603050405020304" pitchFamily="18" charset="0"/>
                <a:cs typeface="Times New Roman" panose="02020603050405020304" pitchFamily="18" charset="0"/>
              </a:rPr>
              <a:t>= n(n+1)(2n+1)/6 + (n+1)</a:t>
            </a:r>
            <a:r>
              <a:rPr lang="pt-BR" sz="2300" baseline="30000" dirty="0">
                <a:latin typeface="Times New Roman" panose="02020603050405020304" pitchFamily="18" charset="0"/>
                <a:cs typeface="Times New Roman" panose="02020603050405020304" pitchFamily="18" charset="0"/>
              </a:rPr>
              <a:t>2</a:t>
            </a:r>
            <a:r>
              <a:rPr lang="pt-BR" sz="2300" dirty="0">
                <a:latin typeface="Times New Roman" panose="02020603050405020304" pitchFamily="18" charset="0"/>
                <a:cs typeface="Times New Roman" panose="02020603050405020304" pitchFamily="18" charset="0"/>
              </a:rPr>
              <a:t>  = n(n+1)(2n+1) + 6(n+1)</a:t>
            </a:r>
            <a:r>
              <a:rPr lang="pt-BR" sz="2300" baseline="30000" dirty="0">
                <a:latin typeface="Times New Roman" panose="02020603050405020304" pitchFamily="18" charset="0"/>
                <a:cs typeface="Times New Roman" panose="02020603050405020304" pitchFamily="18" charset="0"/>
              </a:rPr>
              <a:t>2</a:t>
            </a:r>
            <a:r>
              <a:rPr lang="pt-BR" sz="2300" dirty="0">
                <a:latin typeface="Times New Roman" panose="02020603050405020304" pitchFamily="18" charset="0"/>
                <a:cs typeface="Times New Roman" panose="02020603050405020304" pitchFamily="18" charset="0"/>
              </a:rPr>
              <a:t> /6</a:t>
            </a:r>
          </a:p>
          <a:p>
            <a:r>
              <a:rPr lang="pt-BR" sz="2300" dirty="0">
                <a:latin typeface="Times New Roman" panose="02020603050405020304" pitchFamily="18" charset="0"/>
                <a:cs typeface="Times New Roman" panose="02020603050405020304" pitchFamily="18" charset="0"/>
              </a:rPr>
              <a:t>= (n+1) [n (2n+1) + 6 (n+1)]/6  </a:t>
            </a:r>
          </a:p>
          <a:p>
            <a:r>
              <a:rPr lang="pt-BR" sz="2300" dirty="0">
                <a:latin typeface="Times New Roman" panose="02020603050405020304" pitchFamily="18" charset="0"/>
                <a:cs typeface="Times New Roman" panose="02020603050405020304" pitchFamily="18" charset="0"/>
              </a:rPr>
              <a:t>= (n+1) [ 2n</a:t>
            </a:r>
            <a:r>
              <a:rPr lang="pt-BR" sz="2300" baseline="30000" dirty="0">
                <a:latin typeface="Times New Roman" panose="02020603050405020304" pitchFamily="18" charset="0"/>
                <a:cs typeface="Times New Roman" panose="02020603050405020304" pitchFamily="18" charset="0"/>
              </a:rPr>
              <a:t>2</a:t>
            </a:r>
            <a:r>
              <a:rPr lang="pt-BR" sz="2300" dirty="0">
                <a:latin typeface="Times New Roman" panose="02020603050405020304" pitchFamily="18" charset="0"/>
                <a:cs typeface="Times New Roman" panose="02020603050405020304" pitchFamily="18" charset="0"/>
              </a:rPr>
              <a:t> + n + 6n + 6]/6</a:t>
            </a:r>
          </a:p>
          <a:p>
            <a:r>
              <a:rPr lang="pt-BR" sz="2300" dirty="0">
                <a:latin typeface="Times New Roman" panose="02020603050405020304" pitchFamily="18" charset="0"/>
                <a:cs typeface="Times New Roman" panose="02020603050405020304" pitchFamily="18" charset="0"/>
              </a:rPr>
              <a:t>= (n+1) [ 2n</a:t>
            </a:r>
            <a:r>
              <a:rPr lang="pt-BR" sz="2300" baseline="30000" dirty="0">
                <a:latin typeface="Times New Roman" panose="02020603050405020304" pitchFamily="18" charset="0"/>
                <a:cs typeface="Times New Roman" panose="02020603050405020304" pitchFamily="18" charset="0"/>
              </a:rPr>
              <a:t>2</a:t>
            </a:r>
            <a:r>
              <a:rPr lang="pt-BR" sz="2300" dirty="0">
                <a:latin typeface="Times New Roman" panose="02020603050405020304" pitchFamily="18" charset="0"/>
                <a:cs typeface="Times New Roman" panose="02020603050405020304" pitchFamily="18" charset="0"/>
              </a:rPr>
              <a:t> + 7n + 6]/6</a:t>
            </a:r>
          </a:p>
          <a:p>
            <a:r>
              <a:rPr lang="pt-BR" sz="2300" dirty="0">
                <a:latin typeface="Times New Roman" panose="02020603050405020304" pitchFamily="18" charset="0"/>
                <a:cs typeface="Times New Roman" panose="02020603050405020304" pitchFamily="18" charset="0"/>
              </a:rPr>
              <a:t>= (n+1) [(n+2) (2n+3)]/6</a:t>
            </a:r>
          </a:p>
          <a:p>
            <a:r>
              <a:rPr lang="pt-BR" sz="2300" dirty="0">
                <a:latin typeface="Times New Roman" panose="02020603050405020304" pitchFamily="18" charset="0"/>
                <a:cs typeface="Times New Roman" panose="02020603050405020304" pitchFamily="18" charset="0"/>
              </a:rPr>
              <a:t>= (n+1) [((n+1)+1)(2(n+1)+1)]/6</a:t>
            </a:r>
          </a:p>
          <a:p>
            <a:r>
              <a:rPr lang="pt-BR" sz="2300" dirty="0">
                <a:latin typeface="Times New Roman" panose="02020603050405020304" pitchFamily="18" charset="0"/>
                <a:cs typeface="Times New Roman" panose="02020603050405020304" pitchFamily="18" charset="0"/>
              </a:rPr>
              <a:t>= RHS. </a:t>
            </a:r>
          </a:p>
          <a:p>
            <a:r>
              <a:rPr lang="pt-BR" sz="2300" dirty="0">
                <a:latin typeface="Times New Roman" panose="02020603050405020304" pitchFamily="18" charset="0"/>
                <a:cs typeface="Times New Roman" panose="02020603050405020304" pitchFamily="18" charset="0"/>
              </a:rPr>
              <a:t>Hence LHS = RHS.</a:t>
            </a:r>
          </a:p>
          <a:p>
            <a:r>
              <a:rPr lang="pt-BR" sz="2300" dirty="0">
                <a:latin typeface="Times New Roman" panose="02020603050405020304" pitchFamily="18" charset="0"/>
                <a:cs typeface="Times New Roman" panose="02020603050405020304" pitchFamily="18" charset="0"/>
              </a:rPr>
              <a:t>So, it is proved S(n+1) is also true.</a:t>
            </a:r>
          </a:p>
          <a:p>
            <a:endParaRPr lang="en-IN" sz="2300" dirty="0">
              <a:latin typeface="Times New Roman" panose="02020603050405020304" pitchFamily="18" charset="0"/>
              <a:cs typeface="Times New Roman" panose="02020603050405020304" pitchFamily="18" charset="0"/>
            </a:endParaRPr>
          </a:p>
          <a:p>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4012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 Structural Induction</a:t>
            </a:r>
          </a:p>
        </p:txBody>
      </p:sp>
      <p:sp>
        <p:nvSpPr>
          <p:cNvPr id="3" name="Content Placeholder 2"/>
          <p:cNvSpPr>
            <a:spLocks noGrp="1"/>
          </p:cNvSpPr>
          <p:nvPr>
            <p:ph sz="quarter" idx="1"/>
          </p:nvPr>
        </p:nvSpPr>
        <p:spPr>
          <a:xfrm>
            <a:off x="914400" y="1447800"/>
            <a:ext cx="7772400" cy="4789512"/>
          </a:xfrm>
        </p:spPr>
        <p:txBody>
          <a:bodyPr>
            <a:normAutofit/>
          </a:bodyPr>
          <a:lstStyle/>
          <a:p>
            <a:pPr algn="just"/>
            <a:r>
              <a:rPr lang="en-IN" sz="2300" dirty="0">
                <a:latin typeface="Times New Roman" panose="02020603050405020304" pitchFamily="18" charset="0"/>
                <a:cs typeface="Times New Roman" panose="02020603050405020304" pitchFamily="18" charset="0"/>
              </a:rPr>
              <a:t>It deals with the recursively defined structure.</a:t>
            </a:r>
          </a:p>
          <a:p>
            <a:pPr algn="just"/>
            <a:r>
              <a:rPr lang="en-US" sz="2300" dirty="0">
                <a:latin typeface="Times New Roman" panose="02020603050405020304" pitchFamily="18" charset="0"/>
                <a:cs typeface="Times New Roman" panose="02020603050405020304" pitchFamily="18" charset="0"/>
              </a:rPr>
              <a:t>all recursive definitions have a basis case where one or more elementary structures are defined and an inductive step where more complex structures are defined in terms of previously defined structures. </a:t>
            </a:r>
          </a:p>
          <a:p>
            <a:pPr algn="just"/>
            <a:r>
              <a:rPr lang="en-US" sz="2300" dirty="0">
                <a:latin typeface="Times New Roman" panose="02020603050405020304" pitchFamily="18" charset="0"/>
                <a:cs typeface="Times New Roman" panose="02020603050405020304" pitchFamily="18" charset="0"/>
              </a:rPr>
              <a:t>Structural induction is a technique that allows us to apply induction on recursive definitions even if there is no integer.</a:t>
            </a:r>
          </a:p>
          <a:p>
            <a:pPr algn="just"/>
            <a:r>
              <a:rPr lang="en-US" sz="2300" dirty="0">
                <a:latin typeface="Times New Roman" panose="02020603050405020304" pitchFamily="18" charset="0"/>
                <a:cs typeface="Times New Roman" panose="02020603050405020304" pitchFamily="18" charset="0"/>
              </a:rPr>
              <a:t>Structural induction is also no more powerful than regular induction, but can make proofs much easier.</a:t>
            </a:r>
          </a:p>
        </p:txBody>
      </p:sp>
    </p:spTree>
    <p:extLst>
      <p:ext uri="{BB962C8B-B14F-4D97-AF65-F5344CB8AC3E}">
        <p14:creationId xmlns:p14="http://schemas.microsoft.com/office/powerpoint/2010/main" val="1990442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914400" y="548680"/>
            <a:ext cx="7772400" cy="5471120"/>
          </a:xfrm>
        </p:spPr>
        <p:txBody>
          <a:bodyPr/>
          <a:lstStyle/>
          <a:p>
            <a:pPr algn="just"/>
            <a:r>
              <a:rPr lang="en-US" sz="2300" b="1" dirty="0">
                <a:solidFill>
                  <a:srgbClr val="FF0000"/>
                </a:solidFill>
                <a:latin typeface="Times New Roman" panose="02020603050405020304" pitchFamily="18" charset="0"/>
                <a:cs typeface="Times New Roman" panose="02020603050405020304" pitchFamily="18" charset="0"/>
              </a:rPr>
              <a:t>BASIS</a:t>
            </a:r>
            <a:r>
              <a:rPr lang="en-US" sz="2300" dirty="0">
                <a:latin typeface="Times New Roman" panose="02020603050405020304" pitchFamily="18" charset="0"/>
                <a:cs typeface="Times New Roman" panose="02020603050405020304" pitchFamily="18" charset="0"/>
              </a:rPr>
              <a:t>:  A single node is a tree and that node is the root of the tree.</a:t>
            </a:r>
          </a:p>
          <a:p>
            <a:pPr algn="just"/>
            <a:r>
              <a:rPr lang="en-US" sz="2300" b="1" dirty="0">
                <a:solidFill>
                  <a:srgbClr val="FF0000"/>
                </a:solidFill>
                <a:latin typeface="Times New Roman" panose="02020603050405020304" pitchFamily="18" charset="0"/>
                <a:cs typeface="Times New Roman" panose="02020603050405020304" pitchFamily="18" charset="0"/>
              </a:rPr>
              <a:t>INDUCTION</a:t>
            </a:r>
            <a:r>
              <a:rPr lang="en-US" sz="2300" dirty="0">
                <a:latin typeface="Times New Roman" panose="02020603050405020304" pitchFamily="18" charset="0"/>
                <a:cs typeface="Times New Roman" panose="02020603050405020304" pitchFamily="18" charset="0"/>
              </a:rPr>
              <a:t>: If T</a:t>
            </a:r>
            <a:r>
              <a:rPr lang="en-US" sz="2300" baseline="-25000" dirty="0">
                <a:latin typeface="Times New Roman" panose="02020603050405020304" pitchFamily="18" charset="0"/>
                <a:cs typeface="Times New Roman" panose="02020603050405020304" pitchFamily="18" charset="0"/>
              </a:rPr>
              <a:t>1</a:t>
            </a:r>
            <a:r>
              <a:rPr lang="en-US" sz="2300" dirty="0">
                <a:latin typeface="Times New Roman" panose="02020603050405020304" pitchFamily="18" charset="0"/>
                <a:cs typeface="Times New Roman" panose="02020603050405020304" pitchFamily="18" charset="0"/>
              </a:rPr>
              <a:t>, T2, ………., </a:t>
            </a:r>
            <a:r>
              <a:rPr lang="en-US" sz="2300" dirty="0" err="1">
                <a:latin typeface="Times New Roman" panose="02020603050405020304" pitchFamily="18" charset="0"/>
                <a:cs typeface="Times New Roman" panose="02020603050405020304" pitchFamily="18" charset="0"/>
              </a:rPr>
              <a:t>T</a:t>
            </a:r>
            <a:r>
              <a:rPr lang="en-US" sz="2300" baseline="-25000" dirty="0" err="1">
                <a:latin typeface="Times New Roman" panose="02020603050405020304" pitchFamily="18" charset="0"/>
                <a:cs typeface="Times New Roman" panose="02020603050405020304" pitchFamily="18" charset="0"/>
              </a:rPr>
              <a:t>k</a:t>
            </a:r>
            <a:r>
              <a:rPr lang="en-US" sz="2300" dirty="0">
                <a:latin typeface="Times New Roman" panose="02020603050405020304" pitchFamily="18" charset="0"/>
                <a:cs typeface="Times New Roman" panose="02020603050405020304" pitchFamily="18" charset="0"/>
              </a:rPr>
              <a:t> are trees then we can form a new tree as follows:</a:t>
            </a:r>
          </a:p>
          <a:p>
            <a:pPr lvl="1" algn="just"/>
            <a:r>
              <a:rPr lang="en-US" sz="2100" dirty="0">
                <a:latin typeface="Times New Roman" panose="02020603050405020304" pitchFamily="18" charset="0"/>
                <a:cs typeface="Times New Roman" panose="02020603050405020304" pitchFamily="18" charset="0"/>
              </a:rPr>
              <a:t>Begin with a new node N  which is the root of the tree</a:t>
            </a:r>
          </a:p>
          <a:p>
            <a:pPr lvl="1" algn="just"/>
            <a:r>
              <a:rPr lang="en-US" sz="2100" dirty="0">
                <a:latin typeface="Times New Roman" panose="02020603050405020304" pitchFamily="18" charset="0"/>
                <a:cs typeface="Times New Roman" panose="02020603050405020304" pitchFamily="18" charset="0"/>
              </a:rPr>
              <a:t>Add copies of all the trees T</a:t>
            </a:r>
            <a:r>
              <a:rPr lang="en-US" sz="2100" baseline="-25000" dirty="0">
                <a:latin typeface="Times New Roman" panose="02020603050405020304" pitchFamily="18" charset="0"/>
                <a:cs typeface="Times New Roman" panose="02020603050405020304" pitchFamily="18" charset="0"/>
              </a:rPr>
              <a:t>1</a:t>
            </a:r>
            <a:r>
              <a:rPr lang="en-US" sz="2100" dirty="0">
                <a:latin typeface="Times New Roman" panose="02020603050405020304" pitchFamily="18" charset="0"/>
                <a:cs typeface="Times New Roman" panose="02020603050405020304" pitchFamily="18" charset="0"/>
              </a:rPr>
              <a:t>, T2, ………., </a:t>
            </a:r>
            <a:r>
              <a:rPr lang="en-US" sz="2100" dirty="0" err="1">
                <a:latin typeface="Times New Roman" panose="02020603050405020304" pitchFamily="18" charset="0"/>
                <a:cs typeface="Times New Roman" panose="02020603050405020304" pitchFamily="18" charset="0"/>
              </a:rPr>
              <a:t>T</a:t>
            </a:r>
            <a:r>
              <a:rPr lang="en-US" sz="2100" baseline="-25000" dirty="0" err="1">
                <a:latin typeface="Times New Roman" panose="02020603050405020304" pitchFamily="18" charset="0"/>
                <a:cs typeface="Times New Roman" panose="02020603050405020304" pitchFamily="18" charset="0"/>
              </a:rPr>
              <a:t>k</a:t>
            </a:r>
            <a:r>
              <a:rPr lang="en-US" sz="2100" dirty="0">
                <a:latin typeface="Times New Roman" panose="02020603050405020304" pitchFamily="18" charset="0"/>
                <a:cs typeface="Times New Roman" panose="02020603050405020304" pitchFamily="18" charset="0"/>
              </a:rPr>
              <a:t> </a:t>
            </a:r>
          </a:p>
          <a:p>
            <a:pPr lvl="1" algn="just"/>
            <a:r>
              <a:rPr lang="en-US" sz="2100" dirty="0">
                <a:latin typeface="Times New Roman" panose="02020603050405020304" pitchFamily="18" charset="0"/>
                <a:cs typeface="Times New Roman" panose="02020603050405020304" pitchFamily="18" charset="0"/>
              </a:rPr>
              <a:t>Add edges from node N to the roots of each of the trees T</a:t>
            </a:r>
            <a:r>
              <a:rPr lang="en-US" sz="2100" baseline="-25000" dirty="0">
                <a:latin typeface="Times New Roman" panose="02020603050405020304" pitchFamily="18" charset="0"/>
                <a:cs typeface="Times New Roman" panose="02020603050405020304" pitchFamily="18" charset="0"/>
              </a:rPr>
              <a:t>1</a:t>
            </a:r>
            <a:r>
              <a:rPr lang="en-US" sz="2100" dirty="0">
                <a:latin typeface="Times New Roman" panose="02020603050405020304" pitchFamily="18" charset="0"/>
                <a:cs typeface="Times New Roman" panose="02020603050405020304" pitchFamily="18" charset="0"/>
              </a:rPr>
              <a:t>, T2, ………., </a:t>
            </a:r>
            <a:r>
              <a:rPr lang="en-US" sz="2100" dirty="0" err="1">
                <a:latin typeface="Times New Roman" panose="02020603050405020304" pitchFamily="18" charset="0"/>
                <a:cs typeface="Times New Roman" panose="02020603050405020304" pitchFamily="18" charset="0"/>
              </a:rPr>
              <a:t>T</a:t>
            </a:r>
            <a:r>
              <a:rPr lang="en-US" sz="2100" baseline="-25000" dirty="0" err="1">
                <a:latin typeface="Times New Roman" panose="02020603050405020304" pitchFamily="18" charset="0"/>
                <a:cs typeface="Times New Roman" panose="02020603050405020304" pitchFamily="18" charset="0"/>
              </a:rPr>
              <a:t>k</a:t>
            </a:r>
            <a:r>
              <a:rPr lang="en-US" sz="2100" dirty="0">
                <a:latin typeface="Times New Roman" panose="02020603050405020304" pitchFamily="18" charset="0"/>
                <a:cs typeface="Times New Roman" panose="02020603050405020304" pitchFamily="18" charset="0"/>
              </a:rPr>
              <a:t> </a:t>
            </a:r>
            <a:endParaRPr lang="en-IN" sz="2100" dirty="0">
              <a:latin typeface="Times New Roman" panose="02020603050405020304" pitchFamily="18" charset="0"/>
              <a:cs typeface="Times New Roman" panose="02020603050405020304" pitchFamily="18" charset="0"/>
            </a:endParaRP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933056"/>
            <a:ext cx="6624735" cy="259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450049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78098"/>
          </a:xfrm>
        </p:spPr>
        <p:txBody>
          <a:bodyPr/>
          <a:lstStyle/>
          <a:p>
            <a:r>
              <a:rPr lang="en-IN" dirty="0"/>
              <a:t>c) Mutual Inductions</a:t>
            </a:r>
          </a:p>
        </p:txBody>
      </p:sp>
      <p:sp>
        <p:nvSpPr>
          <p:cNvPr id="3" name="Content Placeholder 2"/>
          <p:cNvSpPr>
            <a:spLocks noGrp="1"/>
          </p:cNvSpPr>
          <p:nvPr>
            <p:ph sz="quarter" idx="1"/>
          </p:nvPr>
        </p:nvSpPr>
        <p:spPr>
          <a:xfrm>
            <a:off x="914400" y="1052736"/>
            <a:ext cx="7772400" cy="4967064"/>
          </a:xfrm>
        </p:spPr>
        <p:txBody>
          <a:bodyPr>
            <a:noAutofit/>
          </a:bodyPr>
          <a:lstStyle/>
          <a:p>
            <a:pPr algn="just"/>
            <a:r>
              <a:rPr lang="en-US" sz="2300" dirty="0">
                <a:latin typeface="Times New Roman" panose="02020603050405020304" pitchFamily="18" charset="0"/>
                <a:cs typeface="Times New Roman" panose="02020603050405020304" pitchFamily="18" charset="0"/>
              </a:rPr>
              <a:t>Sometimes we cannot prove a single statement by induction but rather need to prove a group of statements S</a:t>
            </a:r>
            <a:r>
              <a:rPr lang="en-US" sz="2300" baseline="-25000" dirty="0">
                <a:latin typeface="Times New Roman" panose="02020603050405020304" pitchFamily="18" charset="0"/>
                <a:cs typeface="Times New Roman" panose="02020603050405020304" pitchFamily="18" charset="0"/>
              </a:rPr>
              <a:t>1</a:t>
            </a:r>
            <a:r>
              <a:rPr lang="en-US" sz="2300" dirty="0">
                <a:latin typeface="Times New Roman" panose="02020603050405020304" pitchFamily="18" charset="0"/>
                <a:cs typeface="Times New Roman" panose="02020603050405020304" pitchFamily="18" charset="0"/>
              </a:rPr>
              <a:t>(n), S</a:t>
            </a:r>
            <a:r>
              <a:rPr lang="en-US" sz="2300" baseline="-25000" dirty="0">
                <a:latin typeface="Times New Roman" panose="02020603050405020304" pitchFamily="18" charset="0"/>
                <a:cs typeface="Times New Roman" panose="02020603050405020304" pitchFamily="18" charset="0"/>
              </a:rPr>
              <a:t>2</a:t>
            </a:r>
            <a:r>
              <a:rPr lang="en-US" sz="2300" dirty="0">
                <a:latin typeface="Times New Roman" panose="02020603050405020304" pitchFamily="18" charset="0"/>
                <a:cs typeface="Times New Roman" panose="02020603050405020304" pitchFamily="18" charset="0"/>
              </a:rPr>
              <a:t>(n), ……. , </a:t>
            </a:r>
            <a:r>
              <a:rPr lang="en-US" sz="2300" dirty="0" err="1">
                <a:latin typeface="Times New Roman" panose="02020603050405020304" pitchFamily="18" charset="0"/>
                <a:cs typeface="Times New Roman" panose="02020603050405020304" pitchFamily="18" charset="0"/>
              </a:rPr>
              <a:t>S</a:t>
            </a:r>
            <a:r>
              <a:rPr lang="en-US" sz="2300" baseline="-25000" dirty="0" err="1">
                <a:latin typeface="Times New Roman" panose="02020603050405020304" pitchFamily="18" charset="0"/>
                <a:cs typeface="Times New Roman" panose="02020603050405020304" pitchFamily="18" charset="0"/>
              </a:rPr>
              <a:t>k</a:t>
            </a:r>
            <a:r>
              <a:rPr lang="en-US" sz="2300" dirty="0">
                <a:latin typeface="Times New Roman" panose="02020603050405020304" pitchFamily="18" charset="0"/>
                <a:cs typeface="Times New Roman" panose="02020603050405020304" pitchFamily="18" charset="0"/>
              </a:rPr>
              <a:t>(n) together by induction on n.</a:t>
            </a:r>
          </a:p>
          <a:p>
            <a:pPr algn="just"/>
            <a:r>
              <a:rPr lang="en-US" sz="2300" dirty="0">
                <a:latin typeface="Times New Roman" panose="02020603050405020304" pitchFamily="18" charset="0"/>
                <a:cs typeface="Times New Roman" panose="02020603050405020304" pitchFamily="18" charset="0"/>
              </a:rPr>
              <a:t>Strictly speaking proving a group of statements is no different from proving the conjunction  (logical AND) of all the statements.</a:t>
            </a:r>
          </a:p>
          <a:p>
            <a:pPr algn="just"/>
            <a:r>
              <a:rPr lang="en-US" sz="2300" dirty="0">
                <a:latin typeface="Times New Roman" panose="02020603050405020304" pitchFamily="18" charset="0"/>
                <a:cs typeface="Times New Roman" panose="02020603050405020304" pitchFamily="18" charset="0"/>
              </a:rPr>
              <a:t>For instance the group of statements S</a:t>
            </a:r>
            <a:r>
              <a:rPr lang="en-US" sz="2300" baseline="-25000" dirty="0">
                <a:latin typeface="Times New Roman" panose="02020603050405020304" pitchFamily="18" charset="0"/>
                <a:cs typeface="Times New Roman" panose="02020603050405020304" pitchFamily="18" charset="0"/>
              </a:rPr>
              <a:t>1</a:t>
            </a:r>
            <a:r>
              <a:rPr lang="en-US" sz="2300" dirty="0">
                <a:latin typeface="Times New Roman" panose="02020603050405020304" pitchFamily="18" charset="0"/>
                <a:cs typeface="Times New Roman" panose="02020603050405020304" pitchFamily="18" charset="0"/>
              </a:rPr>
              <a:t>(n), S</a:t>
            </a:r>
            <a:r>
              <a:rPr lang="en-US" sz="2300" baseline="-25000" dirty="0">
                <a:latin typeface="Times New Roman" panose="02020603050405020304" pitchFamily="18" charset="0"/>
                <a:cs typeface="Times New Roman" panose="02020603050405020304" pitchFamily="18" charset="0"/>
              </a:rPr>
              <a:t>2</a:t>
            </a:r>
            <a:r>
              <a:rPr lang="en-US" sz="2300" dirty="0">
                <a:latin typeface="Times New Roman" panose="02020603050405020304" pitchFamily="18" charset="0"/>
                <a:cs typeface="Times New Roman" panose="02020603050405020304" pitchFamily="18" charset="0"/>
              </a:rPr>
              <a:t>(n), ……. , </a:t>
            </a:r>
            <a:r>
              <a:rPr lang="en-US" sz="2300" dirty="0" err="1">
                <a:latin typeface="Times New Roman" panose="02020603050405020304" pitchFamily="18" charset="0"/>
                <a:cs typeface="Times New Roman" panose="02020603050405020304" pitchFamily="18" charset="0"/>
              </a:rPr>
              <a:t>S</a:t>
            </a:r>
            <a:r>
              <a:rPr lang="en-US" sz="2300" baseline="-25000" dirty="0" err="1">
                <a:latin typeface="Times New Roman" panose="02020603050405020304" pitchFamily="18" charset="0"/>
                <a:cs typeface="Times New Roman" panose="02020603050405020304" pitchFamily="18" charset="0"/>
              </a:rPr>
              <a:t>k</a:t>
            </a:r>
            <a:r>
              <a:rPr lang="en-US" sz="2300" dirty="0">
                <a:latin typeface="Times New Roman" panose="02020603050405020304" pitchFamily="18" charset="0"/>
                <a:cs typeface="Times New Roman" panose="02020603050405020304" pitchFamily="18" charset="0"/>
              </a:rPr>
              <a:t>(n) could be replaced by the single statement S</a:t>
            </a:r>
            <a:r>
              <a:rPr lang="en-US" sz="2300" baseline="-25000" dirty="0">
                <a:latin typeface="Times New Roman" panose="02020603050405020304" pitchFamily="18" charset="0"/>
                <a:cs typeface="Times New Roman" panose="02020603050405020304" pitchFamily="18" charset="0"/>
              </a:rPr>
              <a:t>1</a:t>
            </a:r>
            <a:r>
              <a:rPr lang="en-US" sz="2300" dirty="0">
                <a:latin typeface="Times New Roman" panose="02020603050405020304" pitchFamily="18" charset="0"/>
                <a:cs typeface="Times New Roman" panose="02020603050405020304" pitchFamily="18" charset="0"/>
              </a:rPr>
              <a:t>(n) AND S</a:t>
            </a:r>
            <a:r>
              <a:rPr lang="en-US" sz="2300" baseline="-25000" dirty="0">
                <a:latin typeface="Times New Roman" panose="02020603050405020304" pitchFamily="18" charset="0"/>
                <a:cs typeface="Times New Roman" panose="02020603050405020304" pitchFamily="18" charset="0"/>
              </a:rPr>
              <a:t>2</a:t>
            </a:r>
            <a:r>
              <a:rPr lang="en-US" sz="2300" dirty="0">
                <a:latin typeface="Times New Roman" panose="02020603050405020304" pitchFamily="18" charset="0"/>
                <a:cs typeface="Times New Roman" panose="02020603050405020304" pitchFamily="18" charset="0"/>
              </a:rPr>
              <a:t>(n)AND ……. AND </a:t>
            </a:r>
            <a:r>
              <a:rPr lang="en-US" sz="2300" dirty="0" err="1">
                <a:latin typeface="Times New Roman" panose="02020603050405020304" pitchFamily="18" charset="0"/>
                <a:cs typeface="Times New Roman" panose="02020603050405020304" pitchFamily="18" charset="0"/>
              </a:rPr>
              <a:t>S</a:t>
            </a:r>
            <a:r>
              <a:rPr lang="en-US" sz="2300" baseline="-25000" dirty="0" err="1">
                <a:latin typeface="Times New Roman" panose="02020603050405020304" pitchFamily="18" charset="0"/>
                <a:cs typeface="Times New Roman" panose="02020603050405020304" pitchFamily="18" charset="0"/>
              </a:rPr>
              <a:t>k</a:t>
            </a:r>
            <a:r>
              <a:rPr lang="en-US" sz="2300" dirty="0">
                <a:latin typeface="Times New Roman" panose="02020603050405020304" pitchFamily="18" charset="0"/>
                <a:cs typeface="Times New Roman" panose="02020603050405020304" pitchFamily="18" charset="0"/>
              </a:rPr>
              <a:t>(n). </a:t>
            </a:r>
          </a:p>
          <a:p>
            <a:pPr algn="just"/>
            <a:r>
              <a:rPr lang="en-US" sz="2300" dirty="0">
                <a:latin typeface="Times New Roman" panose="02020603050405020304" pitchFamily="18" charset="0"/>
                <a:cs typeface="Times New Roman" panose="02020603050405020304" pitchFamily="18" charset="0"/>
              </a:rPr>
              <a:t>However when there are really several independent statements to prove it is generally less confusing to keep the statements separate and to prove them all in their own parts of the basis and inductive steps We call this sort of proof mutual induction. </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02090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792BE-AD41-2990-D55F-716E09324874}"/>
              </a:ext>
            </a:extLst>
          </p:cNvPr>
          <p:cNvSpPr>
            <a:spLocks noGrp="1"/>
          </p:cNvSpPr>
          <p:nvPr>
            <p:ph type="title"/>
          </p:nvPr>
        </p:nvSpPr>
        <p:spPr/>
        <p:txBody>
          <a:bodyPr/>
          <a:lstStyle/>
          <a:p>
            <a:r>
              <a:rPr lang="en-US" dirty="0"/>
              <a:t>Structure of Mutual Induction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389D7E9-FD37-0B43-71DB-6D79C64B5386}"/>
                  </a:ext>
                </a:extLst>
              </p:cNvPr>
              <p:cNvSpPr>
                <a:spLocks noGrp="1"/>
              </p:cNvSpPr>
              <p:nvPr>
                <p:ph sz="quarter" idx="1"/>
              </p:nvPr>
            </p:nvSpPr>
            <p:spPr>
              <a:xfrm>
                <a:off x="914400" y="1447800"/>
                <a:ext cx="7978080" cy="4572000"/>
              </a:xfrm>
            </p:spPr>
            <p:txBody>
              <a:bodyPr>
                <a:noAutofit/>
              </a:bodyPr>
              <a:lstStyle/>
              <a:p>
                <a:r>
                  <a:rPr lang="en-US" sz="2300" dirty="0">
                    <a:latin typeface="Times New Roman" panose="02020603050405020304" pitchFamily="18" charset="0"/>
                    <a:cs typeface="Times New Roman" panose="02020603050405020304" pitchFamily="18" charset="0"/>
                  </a:rPr>
                  <a:t>Let the statements be:</a:t>
                </a:r>
              </a:p>
              <a:p>
                <a14:m>
                  <m:oMath xmlns:m="http://schemas.openxmlformats.org/officeDocument/2006/math">
                    <m:r>
                      <a:rPr lang="en-US" sz="2300" i="1"/>
                      <m:t>𝑃</m:t>
                    </m:r>
                    <m:d>
                      <m:dPr>
                        <m:ctrlPr>
                          <a:rPr lang="ar-AE" sz="2300" i="1"/>
                        </m:ctrlPr>
                      </m:dPr>
                      <m:e>
                        <m:r>
                          <a:rPr lang="ar-AE" sz="2300" i="1"/>
                          <m:t>𝑛</m:t>
                        </m:r>
                      </m:e>
                    </m:d>
                  </m:oMath>
                </a14:m>
                <a:r>
                  <a:rPr lang="ar-AE"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 first property, </a:t>
                </a:r>
                <a14:m>
                  <m:oMath xmlns:m="http://schemas.openxmlformats.org/officeDocument/2006/math">
                    <m:r>
                      <a:rPr lang="en-US" sz="2300" i="1"/>
                      <m:t>𝑄</m:t>
                    </m:r>
                    <m:d>
                      <m:dPr>
                        <m:ctrlPr>
                          <a:rPr lang="ar-AE" sz="2300" i="1"/>
                        </m:ctrlPr>
                      </m:dPr>
                      <m:e>
                        <m:r>
                          <a:rPr lang="ar-AE" sz="2300" i="1"/>
                          <m:t>𝑛</m:t>
                        </m:r>
                      </m:e>
                    </m:d>
                  </m:oMath>
                </a14:m>
                <a:r>
                  <a:rPr lang="ar-AE"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 second property</a:t>
                </a:r>
              </a:p>
              <a:p>
                <a:r>
                  <a:rPr lang="en-US" sz="2300" dirty="0">
                    <a:latin typeface="Times New Roman" panose="02020603050405020304" pitchFamily="18" charset="0"/>
                    <a:cs typeface="Times New Roman" panose="02020603050405020304" pitchFamily="18" charset="0"/>
                  </a:rPr>
                  <a:t>You must prove:</a:t>
                </a:r>
              </a:p>
              <a:p>
                <a:pPr marL="0" indent="0">
                  <a:buNone/>
                </a:pPr>
                <a:r>
                  <a:rPr lang="en-US" sz="2300" b="1" dirty="0">
                    <a:latin typeface="Times New Roman" panose="02020603050405020304" pitchFamily="18" charset="0"/>
                    <a:cs typeface="Times New Roman" panose="02020603050405020304" pitchFamily="18" charset="0"/>
                  </a:rPr>
                  <a:t>1. Base Cases</a:t>
                </a:r>
              </a:p>
              <a:p>
                <a:r>
                  <a:rPr lang="en-US" sz="2300" dirty="0">
                    <a:latin typeface="Times New Roman" panose="02020603050405020304" pitchFamily="18" charset="0"/>
                    <a:cs typeface="Times New Roman" panose="02020603050405020304" pitchFamily="18" charset="0"/>
                  </a:rPr>
                  <a:t>Show both are true for initial value(s), usually </a:t>
                </a:r>
                <a14:m>
                  <m:oMath xmlns:m="http://schemas.openxmlformats.org/officeDocument/2006/math">
                    <m:r>
                      <a:rPr lang="en-US" sz="2300" i="1"/>
                      <m:t>𝑛</m:t>
                    </m:r>
                    <m:r>
                      <a:rPr lang="en-US" sz="2300"/>
                      <m:t>=</m:t>
                    </m:r>
                    <m:r>
                      <a:rPr lang="en-US" sz="2300"/>
                      <m:t>0</m:t>
                    </m:r>
                  </m:oMath>
                </a14:m>
                <a:r>
                  <a:rPr lang="en-US" sz="2300" dirty="0">
                    <a:latin typeface="Times New Roman" panose="02020603050405020304" pitchFamily="18" charset="0"/>
                    <a:cs typeface="Times New Roman" panose="02020603050405020304" pitchFamily="18" charset="0"/>
                  </a:rPr>
                  <a:t> or </a:t>
                </a:r>
                <a14:m>
                  <m:oMath xmlns:m="http://schemas.openxmlformats.org/officeDocument/2006/math">
                    <m:r>
                      <a:rPr lang="en-US" sz="2300" i="1"/>
                      <m:t>𝑛</m:t>
                    </m:r>
                    <m:r>
                      <a:rPr lang="en-US" sz="2300"/>
                      <m:t>=</m:t>
                    </m:r>
                    <m:r>
                      <a:rPr lang="en-US" sz="2300"/>
                      <m:t>1</m:t>
                    </m:r>
                  </m:oMath>
                </a14:m>
                <a:r>
                  <a:rPr lang="en-US" sz="2300" dirty="0">
                    <a:latin typeface="Times New Roman" panose="02020603050405020304" pitchFamily="18" charset="0"/>
                    <a:cs typeface="Times New Roman" panose="02020603050405020304" pitchFamily="18" charset="0"/>
                  </a:rPr>
                  <a:t>:</a:t>
                </a:r>
              </a:p>
              <a:p>
                <a:pPr marL="0" indent="0">
                  <a:buNone/>
                </a:pPr>
                <a14:m>
                  <m:oMathPara xmlns:m="http://schemas.openxmlformats.org/officeDocument/2006/math">
                    <m:oMathParaPr>
                      <m:jc m:val="centerGroup"/>
                    </m:oMathParaPr>
                    <m:oMath xmlns:m="http://schemas.openxmlformats.org/officeDocument/2006/math">
                      <m:r>
                        <a:rPr lang="en-US" sz="2300" i="1"/>
                        <m:t>𝑃</m:t>
                      </m:r>
                      <m:d>
                        <m:dPr>
                          <m:ctrlPr>
                            <a:rPr lang="ar-AE" sz="2300" i="1"/>
                          </m:ctrlPr>
                        </m:dPr>
                        <m:e>
                          <m:r>
                            <a:rPr lang="ar-AE" sz="2300"/>
                            <m:t>0</m:t>
                          </m:r>
                        </m:e>
                      </m:d>
                      <m:r>
                        <m:rPr>
                          <m:nor/>
                        </m:rPr>
                        <a:rPr lang="ar-AE" sz="2300" i="1">
                          <a:latin typeface="Times New Roman" panose="02020603050405020304" pitchFamily="18" charset="0"/>
                          <a:cs typeface="Times New Roman" panose="02020603050405020304" pitchFamily="18" charset="0"/>
                        </a:rPr>
                        <m:t> </m:t>
                      </m:r>
                      <m:r>
                        <m:rPr>
                          <m:nor/>
                        </m:rPr>
                        <a:rPr lang="en-US" sz="2300" i="1">
                          <a:latin typeface="Times New Roman" panose="02020603050405020304" pitchFamily="18" charset="0"/>
                          <a:cs typeface="Times New Roman" panose="02020603050405020304" pitchFamily="18" charset="0"/>
                        </a:rPr>
                        <m:t>true</m:t>
                      </m:r>
                      <m:r>
                        <a:rPr lang="en-US" sz="2300"/>
                        <m:t>, </m:t>
                      </m:r>
                      <m:r>
                        <a:rPr lang="en-US" sz="2300" b="0" i="1" smtClean="0">
                          <a:latin typeface="Cambria Math" panose="02040503050406030204" pitchFamily="18" charset="0"/>
                        </a:rPr>
                        <m:t> </m:t>
                      </m:r>
                      <m:r>
                        <a:rPr lang="en-US" sz="2300" i="1"/>
                        <m:t>𝑄</m:t>
                      </m:r>
                      <m:d>
                        <m:dPr>
                          <m:ctrlPr>
                            <a:rPr lang="ar-AE" sz="2300" i="1"/>
                          </m:ctrlPr>
                        </m:dPr>
                        <m:e>
                          <m:r>
                            <a:rPr lang="ar-AE" sz="2300"/>
                            <m:t>0</m:t>
                          </m:r>
                        </m:e>
                      </m:d>
                      <m:r>
                        <m:rPr>
                          <m:nor/>
                        </m:rPr>
                        <a:rPr lang="ar-AE" sz="2300" i="1">
                          <a:latin typeface="Times New Roman" panose="02020603050405020304" pitchFamily="18" charset="0"/>
                          <a:cs typeface="Times New Roman" panose="02020603050405020304" pitchFamily="18" charset="0"/>
                        </a:rPr>
                        <m:t> </m:t>
                      </m:r>
                      <m:r>
                        <m:rPr>
                          <m:nor/>
                        </m:rPr>
                        <a:rPr lang="en-US" sz="2300" i="1">
                          <a:latin typeface="Times New Roman" panose="02020603050405020304" pitchFamily="18" charset="0"/>
                          <a:cs typeface="Times New Roman" panose="02020603050405020304" pitchFamily="18" charset="0"/>
                        </a:rPr>
                        <m:t>true</m:t>
                      </m:r>
                    </m:oMath>
                  </m:oMathPara>
                </a14:m>
                <a:endParaRPr lang="en-US" sz="2300" b="0" dirty="0">
                  <a:latin typeface="Times New Roman" panose="02020603050405020304" pitchFamily="18" charset="0"/>
                  <a:cs typeface="Times New Roman" panose="02020603050405020304" pitchFamily="18" charset="0"/>
                </a:endParaRPr>
              </a:p>
              <a:p>
                <a:pPr marL="0" indent="0">
                  <a:buNone/>
                </a:pPr>
                <a:r>
                  <a:rPr lang="en-US" sz="2300" b="1" dirty="0">
                    <a:latin typeface="Times New Roman" panose="02020603050405020304" pitchFamily="18" charset="0"/>
                    <a:cs typeface="Times New Roman" panose="02020603050405020304" pitchFamily="18" charset="0"/>
                  </a:rPr>
                  <a:t>2. Inductive Step</a:t>
                </a:r>
              </a:p>
              <a:p>
                <a:r>
                  <a:rPr lang="en-US" sz="2300" dirty="0">
                    <a:latin typeface="Times New Roman" panose="02020603050405020304" pitchFamily="18" charset="0"/>
                    <a:cs typeface="Times New Roman" panose="02020603050405020304" pitchFamily="18" charset="0"/>
                  </a:rPr>
                  <a:t>Assume both statements are true for </a:t>
                </a:r>
                <a14:m>
                  <m:oMath xmlns:m="http://schemas.openxmlformats.org/officeDocument/2006/math">
                    <m:r>
                      <a:rPr lang="en-US" sz="2300" i="1"/>
                      <m:t>𝑛</m:t>
                    </m:r>
                    <m:r>
                      <a:rPr lang="en-US" sz="2300"/>
                      <m:t>=</m:t>
                    </m:r>
                    <m:r>
                      <a:rPr lang="en-US" sz="2300" i="1"/>
                      <m:t>𝑘</m:t>
                    </m:r>
                  </m:oMath>
                </a14:m>
                <a:r>
                  <a:rPr lang="en-US" sz="2300" dirty="0">
                    <a:latin typeface="Times New Roman" panose="02020603050405020304" pitchFamily="18" charset="0"/>
                    <a:cs typeface="Times New Roman" panose="02020603050405020304" pitchFamily="18" charset="0"/>
                  </a:rPr>
                  <a:t>:</a:t>
                </a:r>
              </a:p>
              <a:p>
                <a14:m>
                  <m:oMath xmlns:m="http://schemas.openxmlformats.org/officeDocument/2006/math">
                    <m:r>
                      <a:rPr lang="en-US" sz="2300" i="1"/>
                      <m:t>𝑃</m:t>
                    </m:r>
                    <m:d>
                      <m:dPr>
                        <m:ctrlPr>
                          <a:rPr lang="ar-AE" sz="2300" i="1"/>
                        </m:ctrlPr>
                      </m:dPr>
                      <m:e>
                        <m:r>
                          <a:rPr lang="ar-AE" sz="2300" i="1"/>
                          <m:t>𝑘</m:t>
                        </m:r>
                      </m:e>
                    </m:d>
                    <m:r>
                      <m:rPr>
                        <m:nor/>
                      </m:rPr>
                      <a:rPr lang="ar-AE" sz="2300" i="1">
                        <a:latin typeface="Times New Roman" panose="02020603050405020304" pitchFamily="18" charset="0"/>
                        <a:cs typeface="Times New Roman" panose="02020603050405020304" pitchFamily="18" charset="0"/>
                      </a:rPr>
                      <m:t> </m:t>
                    </m:r>
                    <m:r>
                      <m:rPr>
                        <m:nor/>
                      </m:rPr>
                      <a:rPr lang="en-US" sz="2300" i="1">
                        <a:latin typeface="Times New Roman" panose="02020603050405020304" pitchFamily="18" charset="0"/>
                        <a:cs typeface="Times New Roman" panose="02020603050405020304" pitchFamily="18" charset="0"/>
                      </a:rPr>
                      <m:t>true</m:t>
                    </m:r>
                    <m:r>
                      <a:rPr lang="en-US" sz="2300"/>
                      <m:t> </m:t>
                    </m:r>
                    <m:r>
                      <m:rPr>
                        <m:nor/>
                      </m:rPr>
                      <a:rPr lang="en-US" sz="2300" i="1">
                        <a:latin typeface="Times New Roman" panose="02020603050405020304" pitchFamily="18" charset="0"/>
                        <a:cs typeface="Times New Roman" panose="02020603050405020304" pitchFamily="18" charset="0"/>
                      </a:rPr>
                      <m:t>and</m:t>
                    </m:r>
                    <m:r>
                      <a:rPr lang="en-US" sz="2300"/>
                      <m:t> </m:t>
                    </m:r>
                    <m:r>
                      <a:rPr lang="en-US" sz="2300" i="1"/>
                      <m:t>𝑄</m:t>
                    </m:r>
                    <m:d>
                      <m:dPr>
                        <m:ctrlPr>
                          <a:rPr lang="ar-AE" sz="2300" i="1"/>
                        </m:ctrlPr>
                      </m:dPr>
                      <m:e>
                        <m:r>
                          <a:rPr lang="ar-AE" sz="2300" i="1"/>
                          <m:t>𝑘</m:t>
                        </m:r>
                      </m:e>
                    </m:d>
                    <m:r>
                      <m:rPr>
                        <m:nor/>
                      </m:rPr>
                      <a:rPr lang="ar-AE" sz="2300" i="1">
                        <a:latin typeface="Times New Roman" panose="02020603050405020304" pitchFamily="18" charset="0"/>
                        <a:cs typeface="Times New Roman" panose="02020603050405020304" pitchFamily="18" charset="0"/>
                      </a:rPr>
                      <m:t> </m:t>
                    </m:r>
                    <m:r>
                      <m:rPr>
                        <m:nor/>
                      </m:rPr>
                      <a:rPr lang="en-US" sz="2300" i="1">
                        <a:latin typeface="Times New Roman" panose="02020603050405020304" pitchFamily="18" charset="0"/>
                        <a:cs typeface="Times New Roman" panose="02020603050405020304" pitchFamily="18" charset="0"/>
                      </a:rPr>
                      <m:t>true</m:t>
                    </m:r>
                  </m:oMath>
                </a14:m>
                <a:endParaRPr lang="en-US" sz="2300" b="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Then prove both are true for </a:t>
                </a:r>
                <a14:m>
                  <m:oMath xmlns:m="http://schemas.openxmlformats.org/officeDocument/2006/math">
                    <m:r>
                      <a:rPr lang="en-US" sz="2300" i="1"/>
                      <m:t>𝑛</m:t>
                    </m:r>
                    <m:r>
                      <a:rPr lang="en-US" sz="2300"/>
                      <m:t>=</m:t>
                    </m:r>
                    <m:r>
                      <a:rPr lang="en-US" sz="2300" i="1"/>
                      <m:t>𝑘</m:t>
                    </m:r>
                    <m:r>
                      <a:rPr lang="en-US" sz="2300"/>
                      <m:t>+</m:t>
                    </m:r>
                    <m:r>
                      <a:rPr lang="en-US" sz="2300"/>
                      <m:t>1</m:t>
                    </m:r>
                  </m:oMath>
                </a14:m>
                <a:r>
                  <a:rPr lang="en-US" sz="2300" dirty="0">
                    <a:latin typeface="Times New Roman" panose="02020603050405020304" pitchFamily="18" charset="0"/>
                    <a:cs typeface="Times New Roman" panose="02020603050405020304" pitchFamily="18" charset="0"/>
                  </a:rPr>
                  <a:t>:</a:t>
                </a:r>
              </a:p>
              <a:p>
                <a14:m>
                  <m:oMath xmlns:m="http://schemas.openxmlformats.org/officeDocument/2006/math">
                    <m:r>
                      <a:rPr lang="en-US" sz="2300" i="1"/>
                      <m:t>𝑃</m:t>
                    </m:r>
                    <m:d>
                      <m:dPr>
                        <m:ctrlPr>
                          <a:rPr lang="ar-AE" sz="2300" i="1"/>
                        </m:ctrlPr>
                      </m:dPr>
                      <m:e>
                        <m:r>
                          <a:rPr lang="ar-AE" sz="2300" i="1"/>
                          <m:t>𝑘</m:t>
                        </m:r>
                        <m:r>
                          <a:rPr lang="ar-AE" sz="2300"/>
                          <m:t>+</m:t>
                        </m:r>
                        <m:r>
                          <a:rPr lang="ar-AE" sz="2300"/>
                          <m:t>1</m:t>
                        </m:r>
                      </m:e>
                    </m:d>
                    <m:r>
                      <m:rPr>
                        <m:nor/>
                      </m:rPr>
                      <a:rPr lang="ar-AE" sz="2300" i="1">
                        <a:latin typeface="Times New Roman" panose="02020603050405020304" pitchFamily="18" charset="0"/>
                        <a:cs typeface="Times New Roman" panose="02020603050405020304" pitchFamily="18" charset="0"/>
                      </a:rPr>
                      <m:t> </m:t>
                    </m:r>
                    <m:r>
                      <m:rPr>
                        <m:nor/>
                      </m:rPr>
                      <a:rPr lang="en-US" sz="2300" i="1">
                        <a:latin typeface="Times New Roman" panose="02020603050405020304" pitchFamily="18" charset="0"/>
                        <a:cs typeface="Times New Roman" panose="02020603050405020304" pitchFamily="18" charset="0"/>
                      </a:rPr>
                      <m:t>true</m:t>
                    </m:r>
                    <m:r>
                      <a:rPr lang="en-US" sz="2300"/>
                      <m:t>, </m:t>
                    </m:r>
                    <m:r>
                      <a:rPr lang="en-US" sz="2300" i="1"/>
                      <m:t>𝑄</m:t>
                    </m:r>
                    <m:d>
                      <m:dPr>
                        <m:ctrlPr>
                          <a:rPr lang="ar-AE" sz="2300" i="1"/>
                        </m:ctrlPr>
                      </m:dPr>
                      <m:e>
                        <m:r>
                          <a:rPr lang="ar-AE" sz="2300" i="1"/>
                          <m:t>𝑘</m:t>
                        </m:r>
                        <m:r>
                          <a:rPr lang="ar-AE" sz="2300"/>
                          <m:t>+</m:t>
                        </m:r>
                        <m:r>
                          <a:rPr lang="ar-AE" sz="2300"/>
                          <m:t>1</m:t>
                        </m:r>
                      </m:e>
                    </m:d>
                    <m:r>
                      <m:rPr>
                        <m:nor/>
                      </m:rPr>
                      <a:rPr lang="ar-AE" sz="2300" i="1">
                        <a:latin typeface="Times New Roman" panose="02020603050405020304" pitchFamily="18" charset="0"/>
                        <a:cs typeface="Times New Roman" panose="02020603050405020304" pitchFamily="18" charset="0"/>
                      </a:rPr>
                      <m:t> </m:t>
                    </m:r>
                    <m:r>
                      <m:rPr>
                        <m:nor/>
                      </m:rPr>
                      <a:rPr lang="en-US" sz="2300" i="1">
                        <a:latin typeface="Times New Roman" panose="02020603050405020304" pitchFamily="18" charset="0"/>
                        <a:cs typeface="Times New Roman" panose="02020603050405020304" pitchFamily="18" charset="0"/>
                      </a:rPr>
                      <m:t>true</m:t>
                    </m:r>
                  </m:oMath>
                </a14:m>
                <a:endParaRPr lang="en-US" sz="2300" b="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Both proofs may use each other’s inductive assumptions.</a:t>
                </a:r>
              </a:p>
              <a:p>
                <a:endParaRPr lang="en-US" sz="23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8389D7E9-FD37-0B43-71DB-6D79C64B5386}"/>
                  </a:ext>
                </a:extLst>
              </p:cNvPr>
              <p:cNvSpPr>
                <a:spLocks noGrp="1" noRot="1" noChangeAspect="1" noMove="1" noResize="1" noEditPoints="1" noAdjustHandles="1" noChangeArrowheads="1" noChangeShapeType="1" noTextEdit="1"/>
              </p:cNvSpPr>
              <p:nvPr>
                <p:ph sz="quarter" idx="1"/>
              </p:nvPr>
            </p:nvSpPr>
            <p:spPr>
              <a:xfrm>
                <a:off x="914400" y="1447800"/>
                <a:ext cx="7978080" cy="4572000"/>
              </a:xfrm>
              <a:blipFill>
                <a:blip r:embed="rId2"/>
                <a:stretch>
                  <a:fillRect l="-1070" t="-1200" b="-13467"/>
                </a:stretch>
              </a:blipFill>
            </p:spPr>
            <p:txBody>
              <a:bodyPr/>
              <a:lstStyle/>
              <a:p>
                <a:r>
                  <a:rPr lang="en-US">
                    <a:noFill/>
                  </a:rPr>
                  <a:t> </a:t>
                </a:r>
              </a:p>
            </p:txBody>
          </p:sp>
        </mc:Fallback>
      </mc:AlternateContent>
    </p:spTree>
    <p:extLst>
      <p:ext uri="{BB962C8B-B14F-4D97-AF65-F5344CB8AC3E}">
        <p14:creationId xmlns:p14="http://schemas.microsoft.com/office/powerpoint/2010/main" val="316404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475D3-73A2-AE56-CB43-BEB8C0C88A54}"/>
              </a:ext>
            </a:extLst>
          </p:cNvPr>
          <p:cNvSpPr>
            <a:spLocks noGrp="1"/>
          </p:cNvSpPr>
          <p:nvPr>
            <p:ph type="title"/>
          </p:nvPr>
        </p:nvSpPr>
        <p:spPr>
          <a:xfrm>
            <a:off x="251520" y="188640"/>
            <a:ext cx="8640960" cy="796950"/>
          </a:xfrm>
        </p:spPr>
        <p:txBody>
          <a:bodyPr>
            <a:normAutofit/>
          </a:bodyPr>
          <a:lstStyle/>
          <a:p>
            <a:r>
              <a:rPr lang="en-US" sz="3000" b="1" dirty="0"/>
              <a:t>Example of Mutual Induction (Even &amp; Odd Functions)</a:t>
            </a:r>
            <a:endParaRPr lang="en-US" sz="3000"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57C6826-BD0C-9E92-F6F9-F7F88269963B}"/>
                  </a:ext>
                </a:extLst>
              </p:cNvPr>
              <p:cNvSpPr>
                <a:spLocks noGrp="1"/>
              </p:cNvSpPr>
              <p:nvPr>
                <p:ph sz="quarter" idx="1"/>
              </p:nvPr>
            </p:nvSpPr>
            <p:spPr>
              <a:xfrm>
                <a:off x="914400" y="985590"/>
                <a:ext cx="7772400" cy="5971802"/>
              </a:xfrm>
            </p:spPr>
            <p:txBody>
              <a:bodyPr>
                <a:noAutofit/>
              </a:bodyPr>
              <a:lstStyle/>
              <a:p>
                <a:r>
                  <a:rPr lang="en-US" sz="2300" b="1" dirty="0">
                    <a:latin typeface="Times New Roman" panose="02020603050405020304" pitchFamily="18" charset="0"/>
                    <a:cs typeface="Times New Roman" panose="02020603050405020304" pitchFamily="18" charset="0"/>
                  </a:rPr>
                  <a:t>Definitions</a:t>
                </a:r>
              </a:p>
              <a:p>
                <a:r>
                  <a:rPr lang="en-US" sz="2300" dirty="0">
                    <a:latin typeface="Times New Roman" panose="02020603050405020304" pitchFamily="18" charset="0"/>
                    <a:cs typeface="Times New Roman" panose="02020603050405020304" pitchFamily="18" charset="0"/>
                  </a:rPr>
                  <a:t>Let two predicates be defined on natural numbers:</a:t>
                </a:r>
              </a:p>
              <a:p>
                <a14:m>
                  <m:oMath xmlns:m="http://schemas.openxmlformats.org/officeDocument/2006/math">
                    <m:r>
                      <a:rPr lang="en-US" sz="2300" i="1"/>
                      <m:t>𝐸</m:t>
                    </m:r>
                    <m:d>
                      <m:dPr>
                        <m:ctrlPr>
                          <a:rPr lang="ar-AE" sz="2300" i="1" smtClean="0"/>
                        </m:ctrlPr>
                      </m:dPr>
                      <m:e>
                        <m:r>
                          <a:rPr lang="ar-AE" sz="2300" i="1"/>
                          <m:t>𝑛</m:t>
                        </m:r>
                      </m:e>
                    </m:d>
                    <m:r>
                      <a:rPr lang="en-US" sz="2300" b="0" i="0" smtClean="0">
                        <a:latin typeface="Cambria Math" panose="02040503050406030204" pitchFamily="18" charset="0"/>
                      </a:rPr>
                      <m:t>:</m:t>
                    </m:r>
                    <m:r>
                      <m:rPr>
                        <m:sty m:val="p"/>
                      </m:rPr>
                      <a:rPr lang="en-US" sz="2300" b="0" i="0" smtClean="0">
                        <a:latin typeface="Cambria Math" panose="02040503050406030204" pitchFamily="18" charset="0"/>
                      </a:rPr>
                      <m:t>n</m:t>
                    </m:r>
                    <m:r>
                      <a:rPr lang="en-US" sz="2300" b="0" i="0" smtClean="0">
                        <a:latin typeface="Cambria Math" panose="02040503050406030204" pitchFamily="18" charset="0"/>
                      </a:rPr>
                      <m:t> </m:t>
                    </m:r>
                  </m:oMath>
                </a14:m>
                <a:r>
                  <a:rPr lang="en-US" sz="2300" dirty="0">
                    <a:latin typeface="Times New Roman" panose="02020603050405020304" pitchFamily="18" charset="0"/>
                    <a:cs typeface="Times New Roman" panose="02020603050405020304" pitchFamily="18" charset="0"/>
                  </a:rPr>
                  <a:t>is even” </a:t>
                </a:r>
                <a14:m>
                  <m:oMath xmlns:m="http://schemas.openxmlformats.org/officeDocument/2006/math">
                    <m:r>
                      <a:rPr lang="en-US" sz="2300" b="0" i="0" smtClean="0">
                        <a:latin typeface="Cambria Math" panose="02040503050406030204" pitchFamily="18" charset="0"/>
                      </a:rPr>
                      <m:t>    </m:t>
                    </m:r>
                    <m:r>
                      <a:rPr lang="en-US" sz="2300" i="1"/>
                      <m:t>𝑂</m:t>
                    </m:r>
                    <m:d>
                      <m:dPr>
                        <m:ctrlPr>
                          <a:rPr lang="ar-AE" sz="2300" i="1"/>
                        </m:ctrlPr>
                      </m:dPr>
                      <m:e>
                        <m:r>
                          <a:rPr lang="ar-AE" sz="2300" i="1"/>
                          <m:t>𝑛</m:t>
                        </m:r>
                      </m:e>
                    </m:d>
                    <m:r>
                      <a:rPr lang="en-US" sz="2300" b="0" i="1" smtClean="0">
                        <a:latin typeface="Cambria Math" panose="02040503050406030204" pitchFamily="18" charset="0"/>
                      </a:rPr>
                      <m:t> : </m:t>
                    </m:r>
                    <m:r>
                      <a:rPr lang="ar-AE" sz="2300" i="1" smtClean="0"/>
                      <m:t>𝑛</m:t>
                    </m:r>
                  </m:oMath>
                </a14:m>
                <a:r>
                  <a:rPr lang="ar-AE"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is odd</a:t>
                </a:r>
              </a:p>
              <a:p>
                <a:r>
                  <a:rPr lang="en-US" sz="2300" dirty="0">
                    <a:latin typeface="Times New Roman" panose="02020603050405020304" pitchFamily="18" charset="0"/>
                    <a:cs typeface="Times New Roman" panose="02020603050405020304" pitchFamily="18" charset="0"/>
                  </a:rPr>
                  <a:t>Define them recursively:</a:t>
                </a:r>
              </a:p>
              <a:p>
                <a:r>
                  <a:rPr lang="en-US" sz="2300" b="1" dirty="0">
                    <a:latin typeface="Times New Roman" panose="02020603050405020304" pitchFamily="18" charset="0"/>
                    <a:cs typeface="Times New Roman" panose="02020603050405020304" pitchFamily="18" charset="0"/>
                  </a:rPr>
                  <a:t>Base rule:</a:t>
                </a:r>
                <a:endParaRPr lang="en-US" sz="2300" dirty="0">
                  <a:latin typeface="Times New Roman" panose="02020603050405020304" pitchFamily="18" charset="0"/>
                  <a:cs typeface="Times New Roman" panose="02020603050405020304" pitchFamily="18" charset="0"/>
                </a:endParaRPr>
              </a:p>
              <a:p>
                <a:pPr lvl="1"/>
                <a14:m>
                  <m:oMath xmlns:m="http://schemas.openxmlformats.org/officeDocument/2006/math">
                    <m:r>
                      <a:rPr lang="en-US" sz="2300" i="1"/>
                      <m:t>𝐸</m:t>
                    </m:r>
                    <m:d>
                      <m:dPr>
                        <m:ctrlPr>
                          <a:rPr lang="ar-AE" sz="2300" i="1"/>
                        </m:ctrlPr>
                      </m:dPr>
                      <m:e>
                        <m:r>
                          <a:rPr lang="ar-AE" sz="2300"/>
                          <m:t>0</m:t>
                        </m:r>
                      </m:e>
                    </m:d>
                  </m:oMath>
                </a14:m>
                <a:r>
                  <a:rPr lang="en-US" sz="2300" dirty="0">
                    <a:latin typeface="Times New Roman" panose="02020603050405020304" pitchFamily="18" charset="0"/>
                    <a:cs typeface="Times New Roman" panose="02020603050405020304" pitchFamily="18" charset="0"/>
                  </a:rPr>
                  <a:t>is true.</a:t>
                </a:r>
              </a:p>
              <a:p>
                <a:r>
                  <a:rPr lang="en-US" sz="2300" b="1" dirty="0">
                    <a:latin typeface="Times New Roman" panose="02020603050405020304" pitchFamily="18" charset="0"/>
                    <a:cs typeface="Times New Roman" panose="02020603050405020304" pitchFamily="18" charset="0"/>
                  </a:rPr>
                  <a:t>Recursive rules:</a:t>
                </a:r>
                <a:endParaRPr lang="en-US" sz="2300" dirty="0">
                  <a:latin typeface="Times New Roman" panose="02020603050405020304" pitchFamily="18" charset="0"/>
                  <a:cs typeface="Times New Roman" panose="02020603050405020304" pitchFamily="18" charset="0"/>
                </a:endParaRPr>
              </a:p>
              <a:p>
                <a:pPr lvl="1"/>
                <a:r>
                  <a:rPr lang="en-US" sz="2300" dirty="0">
                    <a:latin typeface="Times New Roman" panose="02020603050405020304" pitchFamily="18" charset="0"/>
                    <a:cs typeface="Times New Roman" panose="02020603050405020304" pitchFamily="18" charset="0"/>
                  </a:rPr>
                  <a:t>If </a:t>
                </a:r>
                <a14:m>
                  <m:oMath xmlns:m="http://schemas.openxmlformats.org/officeDocument/2006/math">
                    <m:r>
                      <a:rPr lang="en-US" sz="2300" i="1"/>
                      <m:t>𝐸</m:t>
                    </m:r>
                    <m:d>
                      <m:dPr>
                        <m:ctrlPr>
                          <a:rPr lang="ar-AE" sz="2300" i="1"/>
                        </m:ctrlPr>
                      </m:dPr>
                      <m:e>
                        <m:r>
                          <a:rPr lang="ar-AE" sz="2300" i="1"/>
                          <m:t>𝑛</m:t>
                        </m:r>
                      </m:e>
                    </m:d>
                  </m:oMath>
                </a14:m>
                <a:r>
                  <a:rPr lang="en-US" sz="2300" dirty="0">
                    <a:latin typeface="Times New Roman" panose="02020603050405020304" pitchFamily="18" charset="0"/>
                    <a:cs typeface="Times New Roman" panose="02020603050405020304" pitchFamily="18" charset="0"/>
                  </a:rPr>
                  <a:t> is true, then </a:t>
                </a:r>
                <a14:m>
                  <m:oMath xmlns:m="http://schemas.openxmlformats.org/officeDocument/2006/math">
                    <m:r>
                      <a:rPr lang="en-US" sz="2300" i="1"/>
                      <m:t>𝑂</m:t>
                    </m:r>
                    <m:d>
                      <m:dPr>
                        <m:ctrlPr>
                          <a:rPr lang="ar-AE" sz="2300" i="1"/>
                        </m:ctrlPr>
                      </m:dPr>
                      <m:e>
                        <m:r>
                          <a:rPr lang="ar-AE" sz="2300" i="1"/>
                          <m:t>𝑛</m:t>
                        </m:r>
                        <m:r>
                          <a:rPr lang="ar-AE" sz="2300"/>
                          <m:t>+</m:t>
                        </m:r>
                        <m:r>
                          <a:rPr lang="ar-AE" sz="2300"/>
                          <m:t>1</m:t>
                        </m:r>
                      </m:e>
                    </m:d>
                  </m:oMath>
                </a14:m>
                <a:r>
                  <a:rPr lang="en-US" sz="2300" dirty="0">
                    <a:latin typeface="Times New Roman" panose="02020603050405020304" pitchFamily="18" charset="0"/>
                    <a:cs typeface="Times New Roman" panose="02020603050405020304" pitchFamily="18" charset="0"/>
                  </a:rPr>
                  <a:t> is true.</a:t>
                </a:r>
              </a:p>
              <a:p>
                <a:pPr lvl="1"/>
                <a:r>
                  <a:rPr lang="en-US" sz="2300" dirty="0">
                    <a:latin typeface="Times New Roman" panose="02020603050405020304" pitchFamily="18" charset="0"/>
                    <a:cs typeface="Times New Roman" panose="02020603050405020304" pitchFamily="18" charset="0"/>
                  </a:rPr>
                  <a:t>If </a:t>
                </a:r>
                <a14:m>
                  <m:oMath xmlns:m="http://schemas.openxmlformats.org/officeDocument/2006/math">
                    <m:r>
                      <a:rPr lang="en-US" sz="2300" i="1"/>
                      <m:t>𝑂</m:t>
                    </m:r>
                    <m:d>
                      <m:dPr>
                        <m:ctrlPr>
                          <a:rPr lang="ar-AE" sz="2300" i="1"/>
                        </m:ctrlPr>
                      </m:dPr>
                      <m:e>
                        <m:r>
                          <a:rPr lang="ar-AE" sz="2300" i="1"/>
                          <m:t>𝑛</m:t>
                        </m:r>
                      </m:e>
                    </m:d>
                  </m:oMath>
                </a14:m>
                <a:r>
                  <a:rPr lang="en-US" sz="2300" dirty="0">
                    <a:latin typeface="Times New Roman" panose="02020603050405020304" pitchFamily="18" charset="0"/>
                    <a:cs typeface="Times New Roman" panose="02020603050405020304" pitchFamily="18" charset="0"/>
                  </a:rPr>
                  <a:t> is true, then </a:t>
                </a:r>
                <a14:m>
                  <m:oMath xmlns:m="http://schemas.openxmlformats.org/officeDocument/2006/math">
                    <m:r>
                      <a:rPr lang="en-US" sz="2300" i="1"/>
                      <m:t>𝐸</m:t>
                    </m:r>
                    <m:d>
                      <m:dPr>
                        <m:ctrlPr>
                          <a:rPr lang="ar-AE" sz="2300" i="1"/>
                        </m:ctrlPr>
                      </m:dPr>
                      <m:e>
                        <m:r>
                          <a:rPr lang="ar-AE" sz="2300" i="1"/>
                          <m:t>𝑛</m:t>
                        </m:r>
                        <m:r>
                          <a:rPr lang="ar-AE" sz="2300"/>
                          <m:t>+</m:t>
                        </m:r>
                        <m:r>
                          <a:rPr lang="ar-AE" sz="2300"/>
                          <m:t>1</m:t>
                        </m:r>
                      </m:e>
                    </m:d>
                  </m:oMath>
                </a14:m>
                <a:r>
                  <a:rPr lang="en-US" sz="2300" dirty="0">
                    <a:latin typeface="Times New Roman" panose="02020603050405020304" pitchFamily="18" charset="0"/>
                    <a:cs typeface="Times New Roman" panose="02020603050405020304" pitchFamily="18" charset="0"/>
                  </a:rPr>
                  <a:t> is true.</a:t>
                </a:r>
                <a:r>
                  <a:rPr lang="en-US" sz="2300" b="1" dirty="0">
                    <a:latin typeface="Times New Roman" panose="02020603050405020304" pitchFamily="18" charset="0"/>
                    <a:cs typeface="Times New Roman" panose="02020603050405020304" pitchFamily="18" charset="0"/>
                  </a:rPr>
                  <a:t> </a:t>
                </a:r>
              </a:p>
              <a:p>
                <a:r>
                  <a:rPr lang="en-US" sz="2300" b="1" dirty="0">
                    <a:latin typeface="Times New Roman" panose="02020603050405020304" pitchFamily="18" charset="0"/>
                    <a:cs typeface="Times New Roman" panose="02020603050405020304" pitchFamily="18" charset="0"/>
                  </a:rPr>
                  <a:t>Goal</a:t>
                </a:r>
              </a:p>
              <a:p>
                <a:pPr lvl="1"/>
                <a:r>
                  <a:rPr lang="en-US" sz="2300" dirty="0">
                    <a:latin typeface="Times New Roman" panose="02020603050405020304" pitchFamily="18" charset="0"/>
                    <a:cs typeface="Times New Roman" panose="02020603050405020304" pitchFamily="18" charset="0"/>
                  </a:rPr>
                  <a:t>Prove using </a:t>
                </a:r>
                <a:r>
                  <a:rPr lang="en-US" sz="2300" b="1" dirty="0">
                    <a:latin typeface="Times New Roman" panose="02020603050405020304" pitchFamily="18" charset="0"/>
                    <a:cs typeface="Times New Roman" panose="02020603050405020304" pitchFamily="18" charset="0"/>
                  </a:rPr>
                  <a:t>mutual induction</a:t>
                </a:r>
                <a:r>
                  <a:rPr lang="en-US" sz="2300" dirty="0">
                    <a:latin typeface="Times New Roman" panose="02020603050405020304" pitchFamily="18" charset="0"/>
                    <a:cs typeface="Times New Roman" panose="02020603050405020304" pitchFamily="18" charset="0"/>
                  </a:rPr>
                  <a:t> that:</a:t>
                </a:r>
              </a:p>
              <a:p>
                <a:pPr lvl="1"/>
                <a:r>
                  <a:rPr lang="en-US" sz="2300" dirty="0">
                    <a:latin typeface="Times New Roman" panose="02020603050405020304" pitchFamily="18" charset="0"/>
                    <a:cs typeface="Times New Roman" panose="02020603050405020304" pitchFamily="18" charset="0"/>
                  </a:rPr>
                  <a:t>If </a:t>
                </a:r>
                <a14:m>
                  <m:oMath xmlns:m="http://schemas.openxmlformats.org/officeDocument/2006/math">
                    <m:r>
                      <a:rPr lang="en-US" sz="2300" i="1"/>
                      <m:t>𝑛</m:t>
                    </m:r>
                    <m:r>
                      <a:rPr lang="en-US" sz="2300" b="0" i="1" smtClean="0">
                        <a:latin typeface="Cambria Math" panose="02040503050406030204" pitchFamily="18" charset="0"/>
                      </a:rPr>
                      <m:t> </m:t>
                    </m:r>
                  </m:oMath>
                </a14:m>
                <a:r>
                  <a:rPr lang="en-US" sz="2300" dirty="0">
                    <a:latin typeface="Times New Roman" panose="02020603050405020304" pitchFamily="18" charset="0"/>
                    <a:cs typeface="Times New Roman" panose="02020603050405020304" pitchFamily="18" charset="0"/>
                  </a:rPr>
                  <a:t>is even, then </a:t>
                </a:r>
                <a14:m>
                  <m:oMath xmlns:m="http://schemas.openxmlformats.org/officeDocument/2006/math">
                    <m:r>
                      <a:rPr lang="en-US" sz="2300" i="1"/>
                      <m:t>𝑛</m:t>
                    </m:r>
                    <m:r>
                      <a:rPr lang="en-US" sz="2300"/>
                      <m:t>=</m:t>
                    </m:r>
                    <m:r>
                      <a:rPr lang="en-US" sz="2300"/>
                      <m:t>2</m:t>
                    </m:r>
                    <m:r>
                      <a:rPr lang="en-US" sz="2300" i="1"/>
                      <m:t>𝑘</m:t>
                    </m:r>
                  </m:oMath>
                </a14:m>
                <a:r>
                  <a:rPr lang="en-US" sz="2300" dirty="0">
                    <a:latin typeface="Times New Roman" panose="02020603050405020304" pitchFamily="18" charset="0"/>
                    <a:cs typeface="Times New Roman" panose="02020603050405020304" pitchFamily="18" charset="0"/>
                  </a:rPr>
                  <a:t> for some integer </a:t>
                </a:r>
                <a14:m>
                  <m:oMath xmlns:m="http://schemas.openxmlformats.org/officeDocument/2006/math">
                    <m:r>
                      <a:rPr lang="en-US" sz="2300" i="1"/>
                      <m:t>𝑘</m:t>
                    </m:r>
                  </m:oMath>
                </a14:m>
                <a:r>
                  <a:rPr lang="en-US" sz="2300" dirty="0">
                    <a:latin typeface="Times New Roman" panose="02020603050405020304" pitchFamily="18" charset="0"/>
                    <a:cs typeface="Times New Roman" panose="02020603050405020304" pitchFamily="18" charset="0"/>
                  </a:rPr>
                  <a:t>.</a:t>
                </a:r>
              </a:p>
              <a:p>
                <a:pPr lvl="1"/>
                <a:r>
                  <a:rPr lang="en-US" sz="2300" dirty="0">
                    <a:latin typeface="Times New Roman" panose="02020603050405020304" pitchFamily="18" charset="0"/>
                    <a:cs typeface="Times New Roman" panose="02020603050405020304" pitchFamily="18" charset="0"/>
                  </a:rPr>
                  <a:t>If </a:t>
                </a:r>
                <a14:m>
                  <m:oMath xmlns:m="http://schemas.openxmlformats.org/officeDocument/2006/math">
                    <m:r>
                      <a:rPr lang="en-US" sz="2300" i="1"/>
                      <m:t>𝑛</m:t>
                    </m:r>
                    <m:r>
                      <a:rPr lang="en-US" sz="2300" b="0" i="1" smtClean="0">
                        <a:latin typeface="Cambria Math" panose="02040503050406030204" pitchFamily="18" charset="0"/>
                      </a:rPr>
                      <m:t> </m:t>
                    </m:r>
                  </m:oMath>
                </a14:m>
                <a:r>
                  <a:rPr lang="en-US" sz="2300" dirty="0">
                    <a:latin typeface="Times New Roman" panose="02020603050405020304" pitchFamily="18" charset="0"/>
                    <a:cs typeface="Times New Roman" panose="02020603050405020304" pitchFamily="18" charset="0"/>
                  </a:rPr>
                  <a:t>is odd, then </a:t>
                </a:r>
                <a14:m>
                  <m:oMath xmlns:m="http://schemas.openxmlformats.org/officeDocument/2006/math">
                    <m:r>
                      <a:rPr lang="en-US" sz="2300" i="1"/>
                      <m:t>𝑛</m:t>
                    </m:r>
                    <m:r>
                      <a:rPr lang="en-US" sz="2300"/>
                      <m:t>=</m:t>
                    </m:r>
                    <m:r>
                      <a:rPr lang="en-US" sz="2300"/>
                      <m:t>2</m:t>
                    </m:r>
                    <m:r>
                      <a:rPr lang="en-US" sz="2300" i="1"/>
                      <m:t>𝑘</m:t>
                    </m:r>
                    <m:r>
                      <a:rPr lang="en-US" sz="2300"/>
                      <m:t>+</m:t>
                    </m:r>
                    <m:r>
                      <a:rPr lang="en-US" sz="2300"/>
                      <m:t>1</m:t>
                    </m:r>
                  </m:oMath>
                </a14:m>
                <a:r>
                  <a:rPr lang="en-US" sz="2300" dirty="0">
                    <a:latin typeface="Times New Roman" panose="02020603050405020304" pitchFamily="18" charset="0"/>
                    <a:cs typeface="Times New Roman" panose="02020603050405020304" pitchFamily="18" charset="0"/>
                  </a:rPr>
                  <a:t>for some integer </a:t>
                </a:r>
                <a14:m>
                  <m:oMath xmlns:m="http://schemas.openxmlformats.org/officeDocument/2006/math">
                    <m:r>
                      <a:rPr lang="en-US" sz="2300" i="1"/>
                      <m:t>𝑘</m:t>
                    </m:r>
                  </m:oMath>
                </a14:m>
                <a:r>
                  <a:rPr lang="en-US" sz="2300" dirty="0">
                    <a:latin typeface="Times New Roman" panose="02020603050405020304" pitchFamily="18" charset="0"/>
                    <a:cs typeface="Times New Roman" panose="02020603050405020304" pitchFamily="18" charset="0"/>
                  </a:rPr>
                  <a:t>.</a:t>
                </a:r>
              </a:p>
              <a:p>
                <a:pPr lvl="1"/>
                <a:endParaRPr lang="en-US" sz="2300" dirty="0">
                  <a:latin typeface="Times New Roman" panose="02020603050405020304" pitchFamily="18" charset="0"/>
                  <a:cs typeface="Times New Roman" panose="02020603050405020304" pitchFamily="18" charset="0"/>
                </a:endParaRPr>
              </a:p>
              <a:p>
                <a:endParaRPr lang="en-US" sz="23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557C6826-BD0C-9E92-F6F9-F7F88269963B}"/>
                  </a:ext>
                </a:extLst>
              </p:cNvPr>
              <p:cNvSpPr>
                <a:spLocks noGrp="1" noRot="1" noChangeAspect="1" noMove="1" noResize="1" noEditPoints="1" noAdjustHandles="1" noChangeArrowheads="1" noChangeShapeType="1" noTextEdit="1"/>
              </p:cNvSpPr>
              <p:nvPr>
                <p:ph sz="quarter" idx="1"/>
              </p:nvPr>
            </p:nvSpPr>
            <p:spPr>
              <a:xfrm>
                <a:off x="914400" y="985590"/>
                <a:ext cx="7772400" cy="5971802"/>
              </a:xfrm>
              <a:blipFill>
                <a:blip r:embed="rId2"/>
                <a:stretch>
                  <a:fillRect l="-549" t="-919"/>
                </a:stretch>
              </a:blipFill>
            </p:spPr>
            <p:txBody>
              <a:bodyPr/>
              <a:lstStyle/>
              <a:p>
                <a:r>
                  <a:rPr lang="en-US">
                    <a:noFill/>
                  </a:rPr>
                  <a:t> </a:t>
                </a:r>
              </a:p>
            </p:txBody>
          </p:sp>
        </mc:Fallback>
      </mc:AlternateContent>
    </p:spTree>
    <p:extLst>
      <p:ext uri="{BB962C8B-B14F-4D97-AF65-F5344CB8AC3E}">
        <p14:creationId xmlns:p14="http://schemas.microsoft.com/office/powerpoint/2010/main" val="4030823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77CFD4A-3F72-CB61-AF8A-0FA243668175}"/>
                  </a:ext>
                </a:extLst>
              </p:cNvPr>
              <p:cNvSpPr>
                <a:spLocks noGrp="1"/>
              </p:cNvSpPr>
              <p:nvPr>
                <p:ph sz="quarter" idx="1"/>
              </p:nvPr>
            </p:nvSpPr>
            <p:spPr>
              <a:xfrm>
                <a:off x="827584" y="764704"/>
                <a:ext cx="7772400" cy="5759152"/>
              </a:xfrm>
            </p:spPr>
            <p:txBody>
              <a:bodyPr>
                <a:normAutofit/>
              </a:bodyPr>
              <a:lstStyle/>
              <a:p>
                <a:r>
                  <a:rPr lang="en-US" sz="2300" b="1" dirty="0">
                    <a:latin typeface="Times New Roman" panose="02020603050405020304" pitchFamily="18" charset="0"/>
                    <a:cs typeface="Times New Roman" panose="02020603050405020304" pitchFamily="18" charset="0"/>
                  </a:rPr>
                  <a:t>Proof by Mutual Induction</a:t>
                </a:r>
              </a:p>
              <a:p>
                <a:r>
                  <a:rPr lang="en-US" sz="2300" b="1" dirty="0">
                    <a:latin typeface="Times New Roman" panose="02020603050405020304" pitchFamily="18" charset="0"/>
                    <a:cs typeface="Times New Roman" panose="02020603050405020304" pitchFamily="18" charset="0"/>
                  </a:rPr>
                  <a:t>1. Base Case</a:t>
                </a:r>
              </a:p>
              <a:p>
                <a:r>
                  <a:rPr lang="en-US" sz="2300" dirty="0">
                    <a:latin typeface="Times New Roman" panose="02020603050405020304" pitchFamily="18" charset="0"/>
                    <a:cs typeface="Times New Roman" panose="02020603050405020304" pitchFamily="18" charset="0"/>
                  </a:rPr>
                  <a:t>Check at </a:t>
                </a:r>
                <a14:m>
                  <m:oMath xmlns:m="http://schemas.openxmlformats.org/officeDocument/2006/math">
                    <m:r>
                      <a:rPr lang="en-US" sz="2300" i="1"/>
                      <m:t>𝑛</m:t>
                    </m:r>
                    <m:r>
                      <a:rPr lang="en-US" sz="2300"/>
                      <m:t>=</m:t>
                    </m:r>
                    <m:r>
                      <a:rPr lang="en-US" sz="2300"/>
                      <m:t>0</m:t>
                    </m:r>
                  </m:oMath>
                </a14:m>
                <a:r>
                  <a:rPr lang="en-US" sz="2300" dirty="0">
                    <a:latin typeface="Times New Roman" panose="02020603050405020304" pitchFamily="18" charset="0"/>
                    <a:cs typeface="Times New Roman" panose="02020603050405020304" pitchFamily="18" charset="0"/>
                  </a:rPr>
                  <a:t>:</a:t>
                </a:r>
              </a:p>
              <a:p>
                <a14:m>
                  <m:oMath xmlns:m="http://schemas.openxmlformats.org/officeDocument/2006/math">
                    <m:r>
                      <a:rPr lang="en-US" sz="2300" i="1"/>
                      <m:t>𝐸</m:t>
                    </m:r>
                    <m:d>
                      <m:dPr>
                        <m:ctrlPr>
                          <a:rPr lang="ar-AE" sz="2300" i="1"/>
                        </m:ctrlPr>
                      </m:dPr>
                      <m:e>
                        <m:r>
                          <a:rPr lang="ar-AE" sz="2300"/>
                          <m:t>0</m:t>
                        </m:r>
                      </m:e>
                    </m:d>
                  </m:oMath>
                </a14:m>
                <a:r>
                  <a:rPr lang="en-US" sz="2300" dirty="0">
                    <a:latin typeface="Times New Roman" panose="02020603050405020304" pitchFamily="18" charset="0"/>
                    <a:cs typeface="Times New Roman" panose="02020603050405020304" pitchFamily="18" charset="0"/>
                  </a:rPr>
                  <a:t>is true.</a:t>
                </a:r>
              </a:p>
              <a:p>
                <a14:m>
                  <m:oMath xmlns:m="http://schemas.openxmlformats.org/officeDocument/2006/math">
                    <m:r>
                      <a:rPr lang="en-US" sz="2300"/>
                      <m:t>0</m:t>
                    </m:r>
                    <m:r>
                      <a:rPr lang="en-US" sz="2300"/>
                      <m:t>=</m:t>
                    </m:r>
                    <m:r>
                      <a:rPr lang="en-US" sz="2300"/>
                      <m:t>2</m:t>
                    </m:r>
                    <m:d>
                      <m:dPr>
                        <m:ctrlPr>
                          <a:rPr lang="ar-AE" sz="2300" i="1"/>
                        </m:ctrlPr>
                      </m:dPr>
                      <m:e>
                        <m:r>
                          <a:rPr lang="ar-AE" sz="2300"/>
                          <m:t>0</m:t>
                        </m:r>
                      </m:e>
                    </m:d>
                  </m:oMath>
                </a14:m>
                <a:r>
                  <a:rPr lang="ar-AE"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matches the form of an even number.</a:t>
                </a:r>
              </a:p>
              <a:p>
                <a:r>
                  <a:rPr lang="en-US" sz="2300" dirty="0">
                    <a:latin typeface="Times New Roman" panose="02020603050405020304" pitchFamily="18" charset="0"/>
                    <a:cs typeface="Times New Roman" panose="02020603050405020304" pitchFamily="18" charset="0"/>
                  </a:rPr>
                  <a:t>So base case holds.</a:t>
                </a:r>
              </a:p>
              <a:p>
                <a:r>
                  <a:rPr lang="en-US" sz="2300" b="1" dirty="0">
                    <a:latin typeface="Times New Roman" panose="02020603050405020304" pitchFamily="18" charset="0"/>
                    <a:cs typeface="Times New Roman" panose="02020603050405020304" pitchFamily="18" charset="0"/>
                  </a:rPr>
                  <a:t>2. Inductive Hypothesis</a:t>
                </a:r>
              </a:p>
              <a:p>
                <a:r>
                  <a:rPr lang="en-US" sz="2300" dirty="0">
                    <a:latin typeface="Times New Roman" panose="02020603050405020304" pitchFamily="18" charset="0"/>
                    <a:cs typeface="Times New Roman" panose="02020603050405020304" pitchFamily="18" charset="0"/>
                  </a:rPr>
                  <a:t>Assume for some </a:t>
                </a:r>
                <a14:m>
                  <m:oMath xmlns:m="http://schemas.openxmlformats.org/officeDocument/2006/math">
                    <m:r>
                      <a:rPr lang="en-US" sz="2300" i="1"/>
                      <m:t>𝑛</m:t>
                    </m:r>
                    <m:r>
                      <a:rPr lang="en-US" sz="2300"/>
                      <m:t>=</m:t>
                    </m:r>
                    <m:r>
                      <a:rPr lang="en-US" sz="2300" i="1"/>
                      <m:t>𝑘</m:t>
                    </m:r>
                  </m:oMath>
                </a14:m>
                <a:r>
                  <a:rPr lang="en-US" sz="2300" dirty="0">
                    <a:latin typeface="Times New Roman" panose="02020603050405020304" pitchFamily="18" charset="0"/>
                    <a:cs typeface="Times New Roman" panose="02020603050405020304" pitchFamily="18" charset="0"/>
                  </a:rPr>
                  <a:t>:</a:t>
                </a:r>
              </a:p>
              <a:p>
                <a:r>
                  <a:rPr lang="en-US" sz="2300" dirty="0">
                    <a:latin typeface="Times New Roman" panose="02020603050405020304" pitchFamily="18" charset="0"/>
                    <a:cs typeface="Times New Roman" panose="02020603050405020304" pitchFamily="18" charset="0"/>
                  </a:rPr>
                  <a:t>If </a:t>
                </a:r>
                <a14:m>
                  <m:oMath xmlns:m="http://schemas.openxmlformats.org/officeDocument/2006/math">
                    <m:r>
                      <a:rPr lang="en-US" sz="2300" i="1"/>
                      <m:t>𝐸</m:t>
                    </m:r>
                    <m:d>
                      <m:dPr>
                        <m:ctrlPr>
                          <a:rPr lang="ar-AE" sz="2300" i="1"/>
                        </m:ctrlPr>
                      </m:dPr>
                      <m:e>
                        <m:r>
                          <a:rPr lang="ar-AE" sz="2300" i="1"/>
                          <m:t>𝑘</m:t>
                        </m:r>
                      </m:e>
                    </m:d>
                  </m:oMath>
                </a14:m>
                <a:r>
                  <a:rPr lang="en-US" sz="2300" dirty="0">
                    <a:latin typeface="Times New Roman" panose="02020603050405020304" pitchFamily="18" charset="0"/>
                    <a:cs typeface="Times New Roman" panose="02020603050405020304" pitchFamily="18" charset="0"/>
                  </a:rPr>
                  <a:t>is true → </a:t>
                </a:r>
                <a14:m>
                  <m:oMath xmlns:m="http://schemas.openxmlformats.org/officeDocument/2006/math">
                    <m:r>
                      <a:rPr lang="en-US" sz="2300" i="1"/>
                      <m:t>𝑘</m:t>
                    </m:r>
                    <m:r>
                      <a:rPr lang="en-US" sz="2300"/>
                      <m:t>=</m:t>
                    </m:r>
                    <m:r>
                      <a:rPr lang="en-US" sz="2300"/>
                      <m:t>2</m:t>
                    </m:r>
                    <m:r>
                      <a:rPr lang="en-US" sz="2300" i="1"/>
                      <m:t>𝑎</m:t>
                    </m:r>
                  </m:oMath>
                </a14:m>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If </a:t>
                </a:r>
                <a14:m>
                  <m:oMath xmlns:m="http://schemas.openxmlformats.org/officeDocument/2006/math">
                    <m:r>
                      <a:rPr lang="en-US" sz="2300" i="1"/>
                      <m:t>𝑂</m:t>
                    </m:r>
                    <m:d>
                      <m:dPr>
                        <m:ctrlPr>
                          <a:rPr lang="ar-AE" sz="2300" i="1"/>
                        </m:ctrlPr>
                      </m:dPr>
                      <m:e>
                        <m:r>
                          <a:rPr lang="ar-AE" sz="2300" i="1"/>
                          <m:t>𝑘</m:t>
                        </m:r>
                      </m:e>
                    </m:d>
                  </m:oMath>
                </a14:m>
                <a:r>
                  <a:rPr lang="en-US" sz="2300" dirty="0">
                    <a:latin typeface="Times New Roman" panose="02020603050405020304" pitchFamily="18" charset="0"/>
                    <a:cs typeface="Times New Roman" panose="02020603050405020304" pitchFamily="18" charset="0"/>
                  </a:rPr>
                  <a:t>is true → </a:t>
                </a:r>
                <a14:m>
                  <m:oMath xmlns:m="http://schemas.openxmlformats.org/officeDocument/2006/math">
                    <m:r>
                      <a:rPr lang="en-US" sz="2300" i="1"/>
                      <m:t>𝑘</m:t>
                    </m:r>
                    <m:r>
                      <a:rPr lang="en-US" sz="2300"/>
                      <m:t>=</m:t>
                    </m:r>
                    <m:r>
                      <a:rPr lang="en-US" sz="2300"/>
                      <m:t>2</m:t>
                    </m:r>
                    <m:r>
                      <a:rPr lang="en-US" sz="2300" i="1"/>
                      <m:t>𝑏</m:t>
                    </m:r>
                    <m:r>
                      <a:rPr lang="en-US" sz="2300"/>
                      <m:t>+</m:t>
                    </m:r>
                    <m:r>
                      <a:rPr lang="en-US" sz="2300"/>
                      <m:t>1</m:t>
                    </m:r>
                  </m:oMath>
                </a14:m>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Both statements are assumed true simultaneously.</a:t>
                </a:r>
              </a:p>
              <a:p>
                <a:endParaRPr lang="en-US" sz="23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E77CFD4A-3F72-CB61-AF8A-0FA243668175}"/>
                  </a:ext>
                </a:extLst>
              </p:cNvPr>
              <p:cNvSpPr>
                <a:spLocks noGrp="1" noRot="1" noChangeAspect="1" noMove="1" noResize="1" noEditPoints="1" noAdjustHandles="1" noChangeArrowheads="1" noChangeShapeType="1" noTextEdit="1"/>
              </p:cNvSpPr>
              <p:nvPr>
                <p:ph sz="quarter" idx="1"/>
              </p:nvPr>
            </p:nvSpPr>
            <p:spPr>
              <a:xfrm>
                <a:off x="827584" y="764704"/>
                <a:ext cx="7772400" cy="5759152"/>
              </a:xfrm>
              <a:blipFill>
                <a:blip r:embed="rId2"/>
                <a:stretch>
                  <a:fillRect l="-627" t="-847"/>
                </a:stretch>
              </a:blipFill>
            </p:spPr>
            <p:txBody>
              <a:bodyPr/>
              <a:lstStyle/>
              <a:p>
                <a:r>
                  <a:rPr lang="en-US">
                    <a:noFill/>
                  </a:rPr>
                  <a:t> </a:t>
                </a:r>
              </a:p>
            </p:txBody>
          </p:sp>
        </mc:Fallback>
      </mc:AlternateContent>
    </p:spTree>
    <p:extLst>
      <p:ext uri="{BB962C8B-B14F-4D97-AF65-F5344CB8AC3E}">
        <p14:creationId xmlns:p14="http://schemas.microsoft.com/office/powerpoint/2010/main" val="3126338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07B33-B3CE-E7AF-0883-E437BF77A2D7}"/>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84FDB65-5B2B-73F9-6EB3-00D37D9C95FD}"/>
                  </a:ext>
                </a:extLst>
              </p:cNvPr>
              <p:cNvSpPr>
                <a:spLocks noGrp="1"/>
              </p:cNvSpPr>
              <p:nvPr>
                <p:ph sz="quarter" idx="1"/>
              </p:nvPr>
            </p:nvSpPr>
            <p:spPr/>
            <p:txBody>
              <a:bodyPr>
                <a:normAutofit/>
              </a:bodyPr>
              <a:lstStyle/>
              <a:p>
                <a:r>
                  <a:rPr lang="en-US" sz="2300" b="1" dirty="0">
                    <a:latin typeface="Times New Roman" panose="02020603050405020304" pitchFamily="18" charset="0"/>
                    <a:cs typeface="Times New Roman" panose="02020603050405020304" pitchFamily="18" charset="0"/>
                  </a:rPr>
                  <a:t>3. Inductive Step</a:t>
                </a:r>
              </a:p>
              <a:p>
                <a:r>
                  <a:rPr lang="en-US" sz="2300" b="1" dirty="0">
                    <a:latin typeface="Times New Roman" panose="02020603050405020304" pitchFamily="18" charset="0"/>
                    <a:cs typeface="Times New Roman" panose="02020603050405020304" pitchFamily="18" charset="0"/>
                  </a:rPr>
                  <a:t>Case 1: Prove for </a:t>
                </a:r>
                <a14:m>
                  <m:oMath xmlns:m="http://schemas.openxmlformats.org/officeDocument/2006/math">
                    <m:r>
                      <a:rPr lang="en-US" sz="2300" i="1"/>
                      <m:t>𝑂</m:t>
                    </m:r>
                    <m:d>
                      <m:dPr>
                        <m:ctrlPr>
                          <a:rPr lang="ar-AE" sz="2300" i="1"/>
                        </m:ctrlPr>
                      </m:dPr>
                      <m:e>
                        <m:r>
                          <a:rPr lang="ar-AE" sz="2300" i="1"/>
                          <m:t>𝑘</m:t>
                        </m:r>
                        <m:r>
                          <a:rPr lang="ar-AE" sz="2300"/>
                          <m:t>+</m:t>
                        </m:r>
                        <m:r>
                          <a:rPr lang="ar-AE" sz="2300"/>
                          <m:t>1</m:t>
                        </m:r>
                      </m:e>
                    </m:d>
                  </m:oMath>
                </a14:m>
                <a:endParaRPr lang="ar-AE" sz="2300" b="1"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If </a:t>
                </a:r>
                <a14:m>
                  <m:oMath xmlns:m="http://schemas.openxmlformats.org/officeDocument/2006/math">
                    <m:r>
                      <a:rPr lang="en-US" sz="2300" i="1"/>
                      <m:t>𝐸</m:t>
                    </m:r>
                    <m:d>
                      <m:dPr>
                        <m:ctrlPr>
                          <a:rPr lang="ar-AE" sz="2300" i="1"/>
                        </m:ctrlPr>
                      </m:dPr>
                      <m:e>
                        <m:r>
                          <a:rPr lang="ar-AE" sz="2300" i="1"/>
                          <m:t>𝑘</m:t>
                        </m:r>
                      </m:e>
                    </m:d>
                  </m:oMath>
                </a14:m>
                <a:r>
                  <a:rPr lang="en-US" sz="2300" dirty="0">
                    <a:latin typeface="Times New Roman" panose="02020603050405020304" pitchFamily="18" charset="0"/>
                    <a:cs typeface="Times New Roman" panose="02020603050405020304" pitchFamily="18" charset="0"/>
                  </a:rPr>
                  <a:t>is true, then:</a:t>
                </a:r>
              </a:p>
              <a:p>
                <a14:m>
                  <m:oMath xmlns:m="http://schemas.openxmlformats.org/officeDocument/2006/math">
                    <m:r>
                      <a:rPr lang="en-US" sz="2300" i="1"/>
                      <m:t>𝑘</m:t>
                    </m:r>
                    <m:r>
                      <a:rPr lang="en-US" sz="2300"/>
                      <m:t>=</m:t>
                    </m:r>
                    <m:r>
                      <a:rPr lang="en-US" sz="2300"/>
                      <m:t>2</m:t>
                    </m:r>
                    <m:r>
                      <a:rPr lang="en-US" sz="2300" i="1"/>
                      <m:t>𝑎</m:t>
                    </m:r>
                    <m:r>
                      <a:rPr lang="en-US" sz="2300"/>
                      <m:t> </m:t>
                    </m:r>
                    <m:r>
                      <m:rPr>
                        <m:nor/>
                      </m:rPr>
                      <a:rPr lang="en-US" sz="2300" i="1">
                        <a:latin typeface="Times New Roman" panose="02020603050405020304" pitchFamily="18" charset="0"/>
                        <a:cs typeface="Times New Roman" panose="02020603050405020304" pitchFamily="18" charset="0"/>
                      </a:rPr>
                      <m:t>(</m:t>
                    </m:r>
                    <m:r>
                      <m:rPr>
                        <m:nor/>
                      </m:rPr>
                      <a:rPr lang="en-US" sz="2300" i="1">
                        <a:latin typeface="Times New Roman" panose="02020603050405020304" pitchFamily="18" charset="0"/>
                        <a:cs typeface="Times New Roman" panose="02020603050405020304" pitchFamily="18" charset="0"/>
                      </a:rPr>
                      <m:t>by</m:t>
                    </m:r>
                    <m:r>
                      <m:rPr>
                        <m:nor/>
                      </m:rPr>
                      <a:rPr lang="en-US" sz="2300" i="1">
                        <a:latin typeface="Times New Roman" panose="02020603050405020304" pitchFamily="18" charset="0"/>
                        <a:cs typeface="Times New Roman" panose="02020603050405020304" pitchFamily="18" charset="0"/>
                      </a:rPr>
                      <m:t> </m:t>
                    </m:r>
                    <m:r>
                      <m:rPr>
                        <m:nor/>
                      </m:rPr>
                      <a:rPr lang="en-US" sz="2300" i="1">
                        <a:latin typeface="Times New Roman" panose="02020603050405020304" pitchFamily="18" charset="0"/>
                        <a:cs typeface="Times New Roman" panose="02020603050405020304" pitchFamily="18" charset="0"/>
                      </a:rPr>
                      <m:t>hypothesis</m:t>
                    </m:r>
                    <m:r>
                      <m:rPr>
                        <m:nor/>
                      </m:rPr>
                      <a:rPr lang="en-US" sz="2300" i="1">
                        <a:latin typeface="Times New Roman" panose="02020603050405020304" pitchFamily="18" charset="0"/>
                        <a:cs typeface="Times New Roman" panose="02020603050405020304" pitchFamily="18" charset="0"/>
                      </a:rPr>
                      <m:t>)</m:t>
                    </m:r>
                  </m:oMath>
                </a14:m>
                <a:endParaRPr lang="en-US" sz="2300" b="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Using the recursive rule:</a:t>
                </a:r>
                <a:br>
                  <a:rPr lang="en-US" sz="2300" dirty="0">
                    <a:latin typeface="Times New Roman" panose="02020603050405020304" pitchFamily="18" charset="0"/>
                    <a:cs typeface="Times New Roman" panose="02020603050405020304" pitchFamily="18" charset="0"/>
                  </a:rPr>
                </a:br>
                <a14:m>
                  <m:oMath xmlns:m="http://schemas.openxmlformats.org/officeDocument/2006/math">
                    <m:r>
                      <a:rPr lang="en-US" sz="2300" i="1"/>
                      <m:t>𝐸</m:t>
                    </m:r>
                    <m:d>
                      <m:dPr>
                        <m:ctrlPr>
                          <a:rPr lang="ar-AE" sz="2300" i="1"/>
                        </m:ctrlPr>
                      </m:dPr>
                      <m:e>
                        <m:r>
                          <a:rPr lang="ar-AE" sz="2300" i="1"/>
                          <m:t>𝑘</m:t>
                        </m:r>
                      </m:e>
                    </m:d>
                    <m:r>
                      <a:rPr lang="ar-AE" sz="2300"/>
                      <m:t>⇒</m:t>
                    </m:r>
                    <m:r>
                      <a:rPr lang="ar-AE" sz="2300" i="1"/>
                      <m:t>𝑂</m:t>
                    </m:r>
                    <m:d>
                      <m:dPr>
                        <m:ctrlPr>
                          <a:rPr lang="ar-AE" sz="2300" i="1"/>
                        </m:ctrlPr>
                      </m:dPr>
                      <m:e>
                        <m:r>
                          <a:rPr lang="ar-AE" sz="2300" i="1"/>
                          <m:t>𝑘</m:t>
                        </m:r>
                        <m:r>
                          <a:rPr lang="ar-AE" sz="2300"/>
                          <m:t>+</m:t>
                        </m:r>
                        <m:r>
                          <a:rPr lang="ar-AE" sz="2300"/>
                          <m:t>1</m:t>
                        </m:r>
                      </m:e>
                    </m:d>
                  </m:oMath>
                </a14:m>
                <a:endParaRPr lang="ar-AE" sz="2300" dirty="0">
                  <a:latin typeface="Times New Roman" panose="02020603050405020304" pitchFamily="18" charset="0"/>
                  <a:cs typeface="Times New Roman" panose="02020603050405020304" pitchFamily="18" charset="0"/>
                </a:endParaRPr>
              </a:p>
              <a:p>
                <a14:m>
                  <m:oMath xmlns:m="http://schemas.openxmlformats.org/officeDocument/2006/math">
                    <m:r>
                      <a:rPr lang="ar-AE" sz="2300" i="1"/>
                      <m:t>𝑘</m:t>
                    </m:r>
                    <m:r>
                      <a:rPr lang="ar-AE" sz="2300"/>
                      <m:t>+</m:t>
                    </m:r>
                    <m:r>
                      <a:rPr lang="ar-AE" sz="2300"/>
                      <m:t>1</m:t>
                    </m:r>
                    <m:r>
                      <a:rPr lang="ar-AE" sz="2300"/>
                      <m:t>=</m:t>
                    </m:r>
                    <m:r>
                      <a:rPr lang="ar-AE" sz="2300"/>
                      <m:t>2</m:t>
                    </m:r>
                    <m:r>
                      <a:rPr lang="ar-AE" sz="2300" i="1"/>
                      <m:t>𝑎</m:t>
                    </m:r>
                    <m:r>
                      <a:rPr lang="ar-AE" sz="2300"/>
                      <m:t>+</m:t>
                    </m:r>
                    <m:r>
                      <a:rPr lang="ar-AE" sz="2300"/>
                      <m:t>1</m:t>
                    </m:r>
                  </m:oMath>
                </a14:m>
                <a:endParaRPr lang="ar-AE"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Thus </a:t>
                </a:r>
                <a14:m>
                  <m:oMath xmlns:m="http://schemas.openxmlformats.org/officeDocument/2006/math">
                    <m:r>
                      <a:rPr lang="en-US" sz="2300" i="1"/>
                      <m:t>𝑘</m:t>
                    </m:r>
                    <m:r>
                      <a:rPr lang="en-US" sz="2300"/>
                      <m:t>+</m:t>
                    </m:r>
                    <m:r>
                      <a:rPr lang="en-US" sz="2300"/>
                      <m:t>1</m:t>
                    </m:r>
                  </m:oMath>
                </a14:m>
                <a:r>
                  <a:rPr lang="en-US" sz="2300" dirty="0">
                    <a:latin typeface="Times New Roman" panose="02020603050405020304" pitchFamily="18" charset="0"/>
                    <a:cs typeface="Times New Roman" panose="02020603050405020304" pitchFamily="18" charset="0"/>
                  </a:rPr>
                  <a:t> is of the form </a:t>
                </a:r>
                <a14:m>
                  <m:oMath xmlns:m="http://schemas.openxmlformats.org/officeDocument/2006/math">
                    <m:r>
                      <a:rPr lang="en-US" sz="2300"/>
                      <m:t>2</m:t>
                    </m:r>
                    <m:r>
                      <a:rPr lang="en-US" sz="2300" i="1"/>
                      <m:t>𝑎</m:t>
                    </m:r>
                    <m:r>
                      <a:rPr lang="en-US" sz="2300"/>
                      <m:t>+</m:t>
                    </m:r>
                    <m:r>
                      <a:rPr lang="en-US" sz="2300"/>
                      <m:t>1</m:t>
                    </m:r>
                  </m:oMath>
                </a14:m>
                <a:r>
                  <a:rPr lang="en-US" sz="2300" dirty="0">
                    <a:latin typeface="Times New Roman" panose="02020603050405020304" pitchFamily="18" charset="0"/>
                    <a:cs typeface="Times New Roman" panose="02020603050405020304" pitchFamily="18" charset="0"/>
                  </a:rPr>
                  <a:t>→ </a:t>
                </a:r>
                <a:r>
                  <a:rPr lang="en-US" sz="2300" b="1" dirty="0">
                    <a:latin typeface="Times New Roman" panose="02020603050405020304" pitchFamily="18" charset="0"/>
                    <a:cs typeface="Times New Roman" panose="02020603050405020304" pitchFamily="18" charset="0"/>
                  </a:rPr>
                  <a:t>odd</a:t>
                </a:r>
                <a:r>
                  <a:rPr lang="en-US" sz="2300" dirty="0">
                    <a:latin typeface="Times New Roman" panose="02020603050405020304" pitchFamily="18" charset="0"/>
                    <a:cs typeface="Times New Roman" panose="02020603050405020304" pitchFamily="18" charset="0"/>
                  </a:rPr>
                  <a:t>.</a:t>
                </a:r>
              </a:p>
              <a:p>
                <a:endParaRPr lang="en-US" sz="23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F84FDB65-5B2B-73F9-6EB3-00D37D9C95FD}"/>
                  </a:ext>
                </a:extLst>
              </p:cNvPr>
              <p:cNvSpPr>
                <a:spLocks noGrp="1" noRot="1" noChangeAspect="1" noMove="1" noResize="1" noEditPoints="1" noAdjustHandles="1" noChangeArrowheads="1" noChangeShapeType="1" noTextEdit="1"/>
              </p:cNvSpPr>
              <p:nvPr>
                <p:ph sz="quarter" idx="1"/>
              </p:nvPr>
            </p:nvSpPr>
            <p:spPr>
              <a:blipFill>
                <a:blip r:embed="rId2"/>
                <a:stretch>
                  <a:fillRect l="-549" t="-1200"/>
                </a:stretch>
              </a:blipFill>
            </p:spPr>
            <p:txBody>
              <a:bodyPr/>
              <a:lstStyle/>
              <a:p>
                <a:r>
                  <a:rPr lang="en-US">
                    <a:noFill/>
                  </a:rPr>
                  <a:t> </a:t>
                </a:r>
              </a:p>
            </p:txBody>
          </p:sp>
        </mc:Fallback>
      </mc:AlternateContent>
    </p:spTree>
    <p:extLst>
      <p:ext uri="{BB962C8B-B14F-4D97-AF65-F5344CB8AC3E}">
        <p14:creationId xmlns:p14="http://schemas.microsoft.com/office/powerpoint/2010/main" val="17126644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0C818-1B14-AB8F-DE19-CBFFCA87D728}"/>
              </a:ext>
            </a:extLst>
          </p:cNvPr>
          <p:cNvSpPr>
            <a:spLocks noGrp="1"/>
          </p:cNvSpPr>
          <p:nvPr>
            <p:ph type="title"/>
          </p:nvPr>
        </p:nvSpPr>
        <p:spPr/>
        <p:txBody>
          <a:bodyPr/>
          <a:lstStyle/>
          <a:p>
            <a:endParaRPr lang="en-US"/>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B94AC05-76CE-E75B-0854-080634C76AAE}"/>
                  </a:ext>
                </a:extLst>
              </p:cNvPr>
              <p:cNvSpPr>
                <a:spLocks noGrp="1"/>
              </p:cNvSpPr>
              <p:nvPr>
                <p:ph sz="quarter" idx="1"/>
              </p:nvPr>
            </p:nvSpPr>
            <p:spPr/>
            <p:txBody>
              <a:bodyPr>
                <a:normAutofit/>
              </a:bodyPr>
              <a:lstStyle/>
              <a:p>
                <a:r>
                  <a:rPr lang="en-US" sz="2300" b="1" dirty="0">
                    <a:latin typeface="Times New Roman" panose="02020603050405020304" pitchFamily="18" charset="0"/>
                    <a:cs typeface="Times New Roman" panose="02020603050405020304" pitchFamily="18" charset="0"/>
                  </a:rPr>
                  <a:t>Case 2: Prove for </a:t>
                </a:r>
                <a14:m>
                  <m:oMath xmlns:m="http://schemas.openxmlformats.org/officeDocument/2006/math">
                    <m:r>
                      <a:rPr lang="en-US" sz="2300" i="1"/>
                      <m:t>𝐸</m:t>
                    </m:r>
                    <m:d>
                      <m:dPr>
                        <m:ctrlPr>
                          <a:rPr lang="ar-AE" sz="2300" i="1"/>
                        </m:ctrlPr>
                      </m:dPr>
                      <m:e>
                        <m:r>
                          <a:rPr lang="ar-AE" sz="2300" i="1"/>
                          <m:t>𝑘</m:t>
                        </m:r>
                        <m:r>
                          <a:rPr lang="ar-AE" sz="2300"/>
                          <m:t>+</m:t>
                        </m:r>
                        <m:r>
                          <a:rPr lang="ar-AE" sz="2300"/>
                          <m:t>1</m:t>
                        </m:r>
                      </m:e>
                    </m:d>
                  </m:oMath>
                </a14:m>
                <a:endParaRPr lang="ar-AE" sz="2300" b="1"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If </a:t>
                </a:r>
                <a14:m>
                  <m:oMath xmlns:m="http://schemas.openxmlformats.org/officeDocument/2006/math">
                    <m:r>
                      <a:rPr lang="en-US" sz="2300" i="1"/>
                      <m:t>𝑂</m:t>
                    </m:r>
                    <m:d>
                      <m:dPr>
                        <m:ctrlPr>
                          <a:rPr lang="ar-AE" sz="2300" i="1"/>
                        </m:ctrlPr>
                      </m:dPr>
                      <m:e>
                        <m:r>
                          <a:rPr lang="ar-AE" sz="2300" i="1"/>
                          <m:t>𝑘</m:t>
                        </m:r>
                      </m:e>
                    </m:d>
                  </m:oMath>
                </a14:m>
                <a:r>
                  <a:rPr lang="en-US" sz="2300" dirty="0">
                    <a:latin typeface="Times New Roman" panose="02020603050405020304" pitchFamily="18" charset="0"/>
                    <a:cs typeface="Times New Roman" panose="02020603050405020304" pitchFamily="18" charset="0"/>
                  </a:rPr>
                  <a:t>is true, then:</a:t>
                </a:r>
              </a:p>
              <a:p>
                <a14:m>
                  <m:oMath xmlns:m="http://schemas.openxmlformats.org/officeDocument/2006/math">
                    <m:r>
                      <a:rPr lang="en-US" sz="2300" i="1"/>
                      <m:t>𝑘</m:t>
                    </m:r>
                    <m:r>
                      <a:rPr lang="en-US" sz="2300"/>
                      <m:t>=</m:t>
                    </m:r>
                    <m:r>
                      <a:rPr lang="en-US" sz="2300"/>
                      <m:t>2</m:t>
                    </m:r>
                    <m:r>
                      <a:rPr lang="en-US" sz="2300" i="1"/>
                      <m:t>𝑏</m:t>
                    </m:r>
                    <m:r>
                      <a:rPr lang="en-US" sz="2300"/>
                      <m:t>+</m:t>
                    </m:r>
                    <m:r>
                      <a:rPr lang="en-US" sz="2300"/>
                      <m:t>1</m:t>
                    </m:r>
                  </m:oMath>
                </a14:m>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Using the recursive rule:</a:t>
                </a:r>
                <a:br>
                  <a:rPr lang="en-US" sz="2300" dirty="0">
                    <a:latin typeface="Times New Roman" panose="02020603050405020304" pitchFamily="18" charset="0"/>
                    <a:cs typeface="Times New Roman" panose="02020603050405020304" pitchFamily="18" charset="0"/>
                  </a:rPr>
                </a:br>
                <a14:m>
                  <m:oMath xmlns:m="http://schemas.openxmlformats.org/officeDocument/2006/math">
                    <m:r>
                      <a:rPr lang="en-US" sz="2300" i="1"/>
                      <m:t>𝑂</m:t>
                    </m:r>
                    <m:d>
                      <m:dPr>
                        <m:ctrlPr>
                          <a:rPr lang="ar-AE" sz="2300" i="1"/>
                        </m:ctrlPr>
                      </m:dPr>
                      <m:e>
                        <m:r>
                          <a:rPr lang="ar-AE" sz="2300" i="1"/>
                          <m:t>𝑘</m:t>
                        </m:r>
                      </m:e>
                    </m:d>
                    <m:r>
                      <a:rPr lang="ar-AE" sz="2300"/>
                      <m:t>⇒</m:t>
                    </m:r>
                    <m:r>
                      <a:rPr lang="ar-AE" sz="2300" i="1"/>
                      <m:t>𝐸</m:t>
                    </m:r>
                    <m:d>
                      <m:dPr>
                        <m:ctrlPr>
                          <a:rPr lang="ar-AE" sz="2300" i="1"/>
                        </m:ctrlPr>
                      </m:dPr>
                      <m:e>
                        <m:r>
                          <a:rPr lang="ar-AE" sz="2300" i="1"/>
                          <m:t>𝑘</m:t>
                        </m:r>
                        <m:r>
                          <a:rPr lang="ar-AE" sz="2300"/>
                          <m:t>+</m:t>
                        </m:r>
                        <m:r>
                          <a:rPr lang="ar-AE" sz="2300"/>
                          <m:t>1</m:t>
                        </m:r>
                      </m:e>
                    </m:d>
                  </m:oMath>
                </a14:m>
                <a:endParaRPr lang="ar-AE" sz="2300" dirty="0">
                  <a:latin typeface="Times New Roman" panose="02020603050405020304" pitchFamily="18" charset="0"/>
                  <a:cs typeface="Times New Roman" panose="02020603050405020304" pitchFamily="18" charset="0"/>
                </a:endParaRPr>
              </a:p>
              <a:p>
                <a14:m>
                  <m:oMath xmlns:m="http://schemas.openxmlformats.org/officeDocument/2006/math">
                    <m:r>
                      <a:rPr lang="ar-AE" sz="2300" i="1"/>
                      <m:t>𝑘</m:t>
                    </m:r>
                    <m:r>
                      <a:rPr lang="ar-AE" sz="2300"/>
                      <m:t>+</m:t>
                    </m:r>
                    <m:r>
                      <a:rPr lang="ar-AE" sz="2300"/>
                      <m:t>1</m:t>
                    </m:r>
                    <m:r>
                      <a:rPr lang="ar-AE" sz="2300"/>
                      <m:t>=</m:t>
                    </m:r>
                    <m:r>
                      <a:rPr lang="ar-AE" sz="2300"/>
                      <m:t>2</m:t>
                    </m:r>
                    <m:r>
                      <a:rPr lang="ar-AE" sz="2300" i="1"/>
                      <m:t>𝑏</m:t>
                    </m:r>
                    <m:r>
                      <a:rPr lang="ar-AE" sz="2300"/>
                      <m:t>+</m:t>
                    </m:r>
                    <m:r>
                      <a:rPr lang="ar-AE" sz="2300"/>
                      <m:t>2</m:t>
                    </m:r>
                    <m:r>
                      <a:rPr lang="ar-AE" sz="2300"/>
                      <m:t>=</m:t>
                    </m:r>
                    <m:r>
                      <a:rPr lang="ar-AE" sz="2300"/>
                      <m:t>2</m:t>
                    </m:r>
                    <m:d>
                      <m:dPr>
                        <m:ctrlPr>
                          <a:rPr lang="ar-AE" sz="2300" i="1"/>
                        </m:ctrlPr>
                      </m:dPr>
                      <m:e>
                        <m:r>
                          <a:rPr lang="ar-AE" sz="2300" i="1"/>
                          <m:t>𝑏</m:t>
                        </m:r>
                        <m:r>
                          <a:rPr lang="ar-AE" sz="2300"/>
                          <m:t>+</m:t>
                        </m:r>
                        <m:r>
                          <a:rPr lang="ar-AE" sz="2300"/>
                          <m:t>1</m:t>
                        </m:r>
                      </m:e>
                    </m:d>
                  </m:oMath>
                </a14:m>
                <a:endParaRPr lang="ar-AE"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Thus </a:t>
                </a:r>
                <a14:m>
                  <m:oMath xmlns:m="http://schemas.openxmlformats.org/officeDocument/2006/math">
                    <m:r>
                      <a:rPr lang="en-US" sz="2300" i="1"/>
                      <m:t>𝑘</m:t>
                    </m:r>
                    <m:r>
                      <a:rPr lang="en-US" sz="2300"/>
                      <m:t>+</m:t>
                    </m:r>
                    <m:r>
                      <a:rPr lang="en-US" sz="2300"/>
                      <m:t>1</m:t>
                    </m:r>
                    <m:r>
                      <a:rPr lang="en-US" sz="2300" b="0" i="0" smtClean="0">
                        <a:latin typeface="Cambria Math" panose="02040503050406030204" pitchFamily="18" charset="0"/>
                      </a:rPr>
                      <m:t> </m:t>
                    </m:r>
                  </m:oMath>
                </a14:m>
                <a:r>
                  <a:rPr lang="en-US" sz="2300" dirty="0">
                    <a:latin typeface="Times New Roman" panose="02020603050405020304" pitchFamily="18" charset="0"/>
                    <a:cs typeface="Times New Roman" panose="02020603050405020304" pitchFamily="18" charset="0"/>
                  </a:rPr>
                  <a:t>is of the form </a:t>
                </a:r>
                <a14:m>
                  <m:oMath xmlns:m="http://schemas.openxmlformats.org/officeDocument/2006/math">
                    <m:r>
                      <a:rPr lang="en-US" sz="2300"/>
                      <m:t>2</m:t>
                    </m:r>
                    <m:d>
                      <m:dPr>
                        <m:ctrlPr>
                          <a:rPr lang="ar-AE" sz="2300" i="1"/>
                        </m:ctrlPr>
                      </m:dPr>
                      <m:e>
                        <m:r>
                          <a:rPr lang="ar-AE" sz="2300" i="1"/>
                          <m:t>𝑏</m:t>
                        </m:r>
                        <m:r>
                          <a:rPr lang="ar-AE" sz="2300"/>
                          <m:t>+</m:t>
                        </m:r>
                        <m:r>
                          <a:rPr lang="ar-AE" sz="2300"/>
                          <m:t>1</m:t>
                        </m:r>
                      </m:e>
                    </m:d>
                  </m:oMath>
                </a14:m>
                <a:r>
                  <a:rPr lang="ar-AE" sz="2300" dirty="0">
                    <a:latin typeface="Times New Roman" panose="02020603050405020304" pitchFamily="18" charset="0"/>
                    <a:cs typeface="Times New Roman" panose="02020603050405020304" pitchFamily="18" charset="0"/>
                  </a:rPr>
                  <a:t>→ </a:t>
                </a:r>
                <a:r>
                  <a:rPr lang="en-US" sz="2300" b="1" dirty="0">
                    <a:latin typeface="Times New Roman" panose="02020603050405020304" pitchFamily="18" charset="0"/>
                    <a:cs typeface="Times New Roman" panose="02020603050405020304" pitchFamily="18" charset="0"/>
                  </a:rPr>
                  <a:t>even</a:t>
                </a:r>
                <a:r>
                  <a:rPr lang="en-US" sz="2300" dirty="0">
                    <a:latin typeface="Times New Roman" panose="02020603050405020304" pitchFamily="18" charset="0"/>
                    <a:cs typeface="Times New Roman" panose="02020603050405020304" pitchFamily="18" charset="0"/>
                  </a:rPr>
                  <a:t>.</a:t>
                </a:r>
              </a:p>
              <a:p>
                <a:endParaRPr lang="en-US" sz="23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DB94AC05-76CE-E75B-0854-080634C76AAE}"/>
                  </a:ext>
                </a:extLst>
              </p:cNvPr>
              <p:cNvSpPr>
                <a:spLocks noGrp="1" noRot="1" noChangeAspect="1" noMove="1" noResize="1" noEditPoints="1" noAdjustHandles="1" noChangeArrowheads="1" noChangeShapeType="1" noTextEdit="1"/>
              </p:cNvSpPr>
              <p:nvPr>
                <p:ph sz="quarter" idx="1"/>
              </p:nvPr>
            </p:nvSpPr>
            <p:spPr>
              <a:blipFill>
                <a:blip r:embed="rId2"/>
                <a:stretch>
                  <a:fillRect l="-549" t="-1200"/>
                </a:stretch>
              </a:blipFill>
            </p:spPr>
            <p:txBody>
              <a:bodyPr/>
              <a:lstStyle/>
              <a:p>
                <a:r>
                  <a:rPr lang="en-US">
                    <a:noFill/>
                  </a:rPr>
                  <a:t> </a:t>
                </a:r>
              </a:p>
            </p:txBody>
          </p:sp>
        </mc:Fallback>
      </mc:AlternateContent>
    </p:spTree>
    <p:extLst>
      <p:ext uri="{BB962C8B-B14F-4D97-AF65-F5344CB8AC3E}">
        <p14:creationId xmlns:p14="http://schemas.microsoft.com/office/powerpoint/2010/main" val="3401000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1394</TotalTime>
  <Words>3177</Words>
  <Application>Microsoft Office PowerPoint</Application>
  <PresentationFormat>On-screen Show (4:3)</PresentationFormat>
  <Paragraphs>269</Paragraphs>
  <Slides>34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Calibri</vt:lpstr>
      <vt:lpstr>Cambria Math</vt:lpstr>
      <vt:lpstr>Franklin Gothic Book</vt:lpstr>
      <vt:lpstr>Palatino Linotype</vt:lpstr>
      <vt:lpstr>Perpetua</vt:lpstr>
      <vt:lpstr>Times New Roman</vt:lpstr>
      <vt:lpstr>Wingdings 2</vt:lpstr>
      <vt:lpstr>Equity</vt:lpstr>
      <vt:lpstr>Overview of a Computational Models</vt:lpstr>
      <vt:lpstr>TOC</vt:lpstr>
      <vt:lpstr>PowerPoint Presentation</vt:lpstr>
      <vt:lpstr>PowerPoint Presentation</vt:lpstr>
      <vt:lpstr>PowerPoint Presentation</vt:lpstr>
      <vt:lpstr>Introduction to formal proof:</vt:lpstr>
      <vt:lpstr>PowerPoint Presentation</vt:lpstr>
      <vt:lpstr>PowerPoint Presentation</vt:lpstr>
      <vt:lpstr>Example</vt:lpstr>
      <vt:lpstr>PowerPoint Presentation</vt:lpstr>
      <vt:lpstr>Introduction to Formal Proof</vt:lpstr>
      <vt:lpstr>Deductive proof</vt:lpstr>
      <vt:lpstr>PowerPoint Presentation</vt:lpstr>
      <vt:lpstr>Additional Forms of Proof</vt:lpstr>
      <vt:lpstr>Proofs about sets</vt:lpstr>
      <vt:lpstr>Proof by contrapositive:</vt:lpstr>
      <vt:lpstr>Proofs by contradiction</vt:lpstr>
      <vt:lpstr>PowerPoint Presentation</vt:lpstr>
      <vt:lpstr>PowerPoint Presentation</vt:lpstr>
      <vt:lpstr>Counter Example</vt:lpstr>
      <vt:lpstr>PowerPoint Presentation</vt:lpstr>
      <vt:lpstr>Inductive Proofs</vt:lpstr>
      <vt:lpstr>a) Induction on Integers</vt:lpstr>
      <vt:lpstr>Prove the induction</vt:lpstr>
      <vt:lpstr>PowerPoint Presentation</vt:lpstr>
      <vt:lpstr>PowerPoint Presentation</vt:lpstr>
      <vt:lpstr>b) Structural Induction</vt:lpstr>
      <vt:lpstr>PowerPoint Presentation</vt:lpstr>
      <vt:lpstr>c) Mutual Inductions</vt:lpstr>
      <vt:lpstr>Structure of Mutual Induction</vt:lpstr>
      <vt:lpstr>Example of Mutual Induction (Even &amp; Odd Functions)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dc:title>
  <dc:creator>Admin</dc:creator>
  <cp:lastModifiedBy>Anand Bihari</cp:lastModifiedBy>
  <cp:revision>123</cp:revision>
  <dcterms:created xsi:type="dcterms:W3CDTF">2019-05-30T15:49:42Z</dcterms:created>
  <dcterms:modified xsi:type="dcterms:W3CDTF">2025-12-11T05:15:19Z</dcterms:modified>
</cp:coreProperties>
</file>